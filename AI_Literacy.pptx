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3"/>
  </p:notesMasterIdLst>
  <p:sldIdLst>
    <p:sldId id="256" r:id="rId2"/>
    <p:sldId id="406" r:id="rId3"/>
    <p:sldId id="404" r:id="rId4"/>
    <p:sldId id="405" r:id="rId5"/>
    <p:sldId id="426" r:id="rId6"/>
    <p:sldId id="380" r:id="rId7"/>
    <p:sldId id="381" r:id="rId8"/>
    <p:sldId id="382" r:id="rId9"/>
    <p:sldId id="399" r:id="rId10"/>
    <p:sldId id="388" r:id="rId11"/>
    <p:sldId id="389" r:id="rId12"/>
    <p:sldId id="390" r:id="rId13"/>
    <p:sldId id="385" r:id="rId14"/>
    <p:sldId id="396" r:id="rId15"/>
    <p:sldId id="434" r:id="rId16"/>
    <p:sldId id="394" r:id="rId17"/>
    <p:sldId id="392" r:id="rId18"/>
    <p:sldId id="430" r:id="rId19"/>
    <p:sldId id="431" r:id="rId20"/>
    <p:sldId id="427" r:id="rId21"/>
    <p:sldId id="401" r:id="rId22"/>
    <p:sldId id="433" r:id="rId23"/>
    <p:sldId id="432" r:id="rId24"/>
    <p:sldId id="407" r:id="rId25"/>
    <p:sldId id="400" r:id="rId26"/>
    <p:sldId id="379" r:id="rId27"/>
    <p:sldId id="412" r:id="rId28"/>
    <p:sldId id="397" r:id="rId29"/>
    <p:sldId id="428" r:id="rId30"/>
    <p:sldId id="421" r:id="rId31"/>
    <p:sldId id="410" r:id="rId32"/>
    <p:sldId id="422" r:id="rId33"/>
    <p:sldId id="429" r:id="rId34"/>
    <p:sldId id="411" r:id="rId35"/>
    <p:sldId id="362" r:id="rId36"/>
    <p:sldId id="307" r:id="rId37"/>
    <p:sldId id="425" r:id="rId38"/>
    <p:sldId id="424" r:id="rId39"/>
    <p:sldId id="423" r:id="rId40"/>
    <p:sldId id="413" r:id="rId41"/>
    <p:sldId id="414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017EF-B0C5-4F2B-99F2-8DD7659ECF32}" type="datetimeFigureOut">
              <a:rPr lang="ko-KR" altLang="en-US" smtClean="0"/>
              <a:t>2026-06-17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33B1C-0D5F-42ED-944D-ADB4310BB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732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1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AI_literacy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hyperlink" Target="https://en.wikipedia.org/wiki/AI_literacy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hyperlink" Target="https://cs231n.stanford.edu/" TargetMode="Externa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2vec.kr/search/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playground.tensorflow.org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rojector.tensorflow.org/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learn/nlp-course/chapter1/4?fw=pt" TargetMode="Externa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tokenizer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penai.com/api/pricing/" TargetMode="External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8.jpeg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E07EC-FAE3-CD22-0A12-F95D0F9FD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447800"/>
            <a:ext cx="10465545" cy="1362075"/>
          </a:xfrm>
        </p:spPr>
        <p:txBody>
          <a:bodyPr/>
          <a:lstStyle/>
          <a:p>
            <a:r>
              <a:rPr lang="en-US" altLang="ko-KR" sz="6600" dirty="0"/>
              <a:t>AI</a:t>
            </a:r>
            <a:r>
              <a:rPr lang="ko-KR" altLang="en-US" sz="6600" dirty="0"/>
              <a:t> </a:t>
            </a:r>
            <a:r>
              <a:rPr lang="en-US" altLang="ko-KR" sz="6600" dirty="0"/>
              <a:t>literacy</a:t>
            </a:r>
            <a:endParaRPr lang="ko-KR" altLang="en-US" sz="6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22A912-C269-5DE4-418A-0B0B11B2D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179265"/>
            <a:ext cx="8825658" cy="861420"/>
          </a:xfrm>
        </p:spPr>
        <p:txBody>
          <a:bodyPr>
            <a:normAutofit/>
          </a:bodyPr>
          <a:lstStyle/>
          <a:p>
            <a:r>
              <a:rPr lang="en-US" altLang="ko-KR" sz="2800" cap="none" dirty="0">
                <a:solidFill>
                  <a:schemeClr val="tx1"/>
                </a:solidFill>
              </a:rPr>
              <a:t>Artificial Intelligence Literacy</a:t>
            </a:r>
            <a:endParaRPr lang="ko-KR" altLang="en-US" cap="none" dirty="0">
              <a:solidFill>
                <a:schemeClr val="tx1"/>
              </a:solidFill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4126B61E-1F39-452D-5C3B-A004CC62B8A8}"/>
              </a:ext>
            </a:extLst>
          </p:cNvPr>
          <p:cNvSpPr txBox="1">
            <a:spLocks/>
          </p:cNvSpPr>
          <p:nvPr/>
        </p:nvSpPr>
        <p:spPr>
          <a:xfrm>
            <a:off x="1183530" y="4446090"/>
            <a:ext cx="8825658" cy="96411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0" indent="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sz="2800" cap="none" dirty="0"/>
              <a:t>2026 Summer</a:t>
            </a:r>
          </a:p>
          <a:p>
            <a:r>
              <a:rPr lang="ko-KR" altLang="en-US" sz="2200" cap="none" dirty="0"/>
              <a:t>조 상구 교수</a:t>
            </a:r>
            <a:endParaRPr lang="en-US" altLang="ko-KR" sz="2200" cap="none" dirty="0"/>
          </a:p>
          <a:p>
            <a:r>
              <a:rPr lang="ko-KR" altLang="en-US" sz="2200" cap="none" dirty="0"/>
              <a:t>소프트웨어융합과 </a:t>
            </a:r>
            <a:r>
              <a:rPr lang="en-US" altLang="ko-KR" sz="2200" cap="none" dirty="0"/>
              <a:t>AI</a:t>
            </a:r>
            <a:r>
              <a:rPr lang="ko-KR" altLang="en-US" sz="2200" cap="none" dirty="0"/>
              <a:t> 빅데이터 전공 경복대학교</a:t>
            </a:r>
            <a:endParaRPr lang="ko-KR" altLang="en-US" sz="2800" cap="none" dirty="0"/>
          </a:p>
        </p:txBody>
      </p:sp>
    </p:spTree>
    <p:extLst>
      <p:ext uri="{BB962C8B-B14F-4D97-AF65-F5344CB8AC3E}">
        <p14:creationId xmlns:p14="http://schemas.microsoft.com/office/powerpoint/2010/main" val="289830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1FB41-06FC-9181-5078-05724ECB9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CE8A01A-7C16-0823-BD66-EF0BB49EB3B2}"/>
              </a:ext>
            </a:extLst>
          </p:cNvPr>
          <p:cNvSpPr/>
          <p:nvPr/>
        </p:nvSpPr>
        <p:spPr>
          <a:xfrm>
            <a:off x="1104901" y="1498696"/>
            <a:ext cx="5124450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BA69E2-8AAF-A49F-F79C-BDA203A1D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E3E4F3-43B6-2654-049F-E9E5A3615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Literacy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직업의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교육의 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0049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2B19C-A0CB-1C03-E942-FDEE22652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D59C107-F17B-9522-C972-A56F19675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9994572" cy="4439262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Clr>
                <a:srgbClr val="FFC000"/>
              </a:buClr>
              <a:buNone/>
            </a:pPr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Literacy</a:t>
            </a:r>
            <a:r>
              <a:rPr lang="ko-KR" altLang="en-US" sz="2800" dirty="0"/>
              <a:t>는</a:t>
            </a:r>
            <a:r>
              <a:rPr lang="en-US" altLang="ko-KR" sz="2800" dirty="0"/>
              <a:t> </a:t>
            </a:r>
            <a:r>
              <a:rPr lang="ko-KR" altLang="en-US" sz="2800" dirty="0"/>
              <a:t>개인</a:t>
            </a:r>
            <a:r>
              <a:rPr lang="en-US" altLang="ko-KR" sz="2800" dirty="0"/>
              <a:t> </a:t>
            </a:r>
            <a:r>
              <a:rPr lang="ko-KR" altLang="en-US" sz="2800" dirty="0"/>
              <a:t>역량</a:t>
            </a:r>
            <a:r>
              <a:rPr lang="en-US" altLang="ko-KR" sz="2800" dirty="0"/>
              <a:t>(competencies ) :</a:t>
            </a:r>
          </a:p>
          <a:p>
            <a:pPr marL="914400" lvl="1" indent="-457200">
              <a:lnSpc>
                <a:spcPct val="200000"/>
              </a:lnSpc>
              <a:buClr>
                <a:srgbClr val="FFC000"/>
              </a:buClr>
              <a:buFont typeface="+mj-lt"/>
              <a:buAutoNum type="arabicParenR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기술을 비판적으로 평가하고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endParaRPr lang="en-US" altLang="ko-KR" sz="2400" dirty="0"/>
          </a:p>
          <a:p>
            <a:pPr marL="914400" lvl="1" indent="-457200">
              <a:lnSpc>
                <a:spcPct val="200000"/>
              </a:lnSpc>
              <a:buClr>
                <a:srgbClr val="FFC000"/>
              </a:buClr>
              <a:buFont typeface="+mj-lt"/>
              <a:buAutoNum type="arabicParenR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와 효과적으로 소통하고 협업하며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endParaRPr lang="en-US" altLang="ko-KR" sz="2400" dirty="0"/>
          </a:p>
          <a:p>
            <a:pPr marL="914400" lvl="1" indent="-457200">
              <a:lnSpc>
                <a:spcPct val="200000"/>
              </a:lnSpc>
              <a:buClr>
                <a:srgbClr val="FFC000"/>
              </a:buClr>
              <a:buFont typeface="+mj-lt"/>
              <a:buAutoNum type="arabicParenR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가정 및 직장에서 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를 도구로 사용할 수 있는</a:t>
            </a: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619B255-3DEB-799D-160F-BF51B59D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876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1DE87-18C1-4A10-0DE4-7C7455CCC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AB387351-8197-8E76-6BD6-4BEFA7A74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Literacy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C9A12E8-488F-3C2C-F0A7-31AB22F75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  <p:pic>
        <p:nvPicPr>
          <p:cNvPr id="10" name="그래픽 9" descr="실행">
            <a:extLst>
              <a:ext uri="{FF2B5EF4-FFF2-40B4-BE49-F238E27FC236}">
                <a16:creationId xmlns:a16="http://schemas.microsoft.com/office/drawing/2014/main" id="{D9816C35-8601-DC34-18BB-C496603BB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2823" y="1740039"/>
            <a:ext cx="1688960" cy="1688960"/>
          </a:xfrm>
          <a:prstGeom prst="rect">
            <a:avLst/>
          </a:prstGeom>
        </p:spPr>
      </p:pic>
      <p:pic>
        <p:nvPicPr>
          <p:cNvPr id="1026" name="Picture 2" descr="▲Chatgpt , Gemini 외의 대화형 생성 AI는 생소하다. &quot;한국형 AI&quot;  네이버 Clova X,  카카오 AskUp, 뤼튼 Wrtn도 애정을 가지고 활용해보자..">
            <a:extLst>
              <a:ext uri="{FF2B5EF4-FFF2-40B4-BE49-F238E27FC236}">
                <a16:creationId xmlns:a16="http://schemas.microsoft.com/office/drawing/2014/main" id="{F5E219D3-0BC1-AEB4-C1AD-A518CC4F0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40457"/>
            <a:ext cx="4977170" cy="2885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십자형 10">
            <a:extLst>
              <a:ext uri="{FF2B5EF4-FFF2-40B4-BE49-F238E27FC236}">
                <a16:creationId xmlns:a16="http://schemas.microsoft.com/office/drawing/2014/main" id="{00F4E7D9-7E53-71CA-3BF0-42FC1849E503}"/>
              </a:ext>
            </a:extLst>
          </p:cNvPr>
          <p:cNvSpPr/>
          <p:nvPr/>
        </p:nvSpPr>
        <p:spPr>
          <a:xfrm rot="2797774">
            <a:off x="4301866" y="2927253"/>
            <a:ext cx="964781" cy="964496"/>
          </a:xfrm>
          <a:prstGeom prst="plus">
            <a:avLst>
              <a:gd name="adj" fmla="val 3948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기는 아기">
            <a:extLst>
              <a:ext uri="{FF2B5EF4-FFF2-40B4-BE49-F238E27FC236}">
                <a16:creationId xmlns:a16="http://schemas.microsoft.com/office/drawing/2014/main" id="{FBF4451E-6A2F-DCC4-B4A2-F6BFBFBF48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57703" y="4150961"/>
            <a:ext cx="1301680" cy="130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3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B38E0-4110-9335-0CB9-176680F54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243338E-ED99-782B-C78D-902F4ED0AE7A}"/>
              </a:ext>
            </a:extLst>
          </p:cNvPr>
          <p:cNvSpPr/>
          <p:nvPr/>
        </p:nvSpPr>
        <p:spPr>
          <a:xfrm>
            <a:off x="1104901" y="2165446"/>
            <a:ext cx="5124450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FFC94F9-DCCD-3205-EF53-71245E369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9AE134-8D63-2DA1-EE06-FBB255B7BF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Literacy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직업의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교육의 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5516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B39CB-29A8-D30A-CCE8-BFC53D81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DC10F64-F249-B0BF-30B8-1D6290B0A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909" y="679572"/>
            <a:ext cx="9781212" cy="1078842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buClr>
                <a:srgbClr val="FFC000"/>
              </a:buClr>
              <a:buFont typeface="Wingdings" panose="05000000000000000000" pitchFamily="2" charset="2"/>
              <a:buChar char="v"/>
            </a:pP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머신러닝이전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시대에는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관측된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데이터에 존재하는 규칙성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(Regularities,  Patterns)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사람이 직접 궁리하고 발견하여 새로운 데이터를 예측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귀납법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FE32C0B-E627-1492-21C2-F2E2E347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A43203B-3F4D-82D3-E6A0-3CFC22A8D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217" y="2261017"/>
            <a:ext cx="3420004" cy="37159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9046B17-37E0-4F85-CF1F-E2D0D2435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998" y="2261017"/>
            <a:ext cx="4582787" cy="221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2664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89F7D-60F0-C169-8829-01C8F6C7A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482F125-32B2-400E-E458-E0980BA02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278" y="723232"/>
            <a:ext cx="9299247" cy="10951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v"/>
            </a:pP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과거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데이터에 존재하는 규칙성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(Regularities,  Patterns)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을 컴퓨터가 발견하게 하여 새로운 데이터를 예측하는 것이 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Machine Learning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(New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Paradigm)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8757285-31DC-BA9E-AB21-460B69252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8E86B95-670E-D3FF-A272-083E38C1053E}"/>
              </a:ext>
            </a:extLst>
          </p:cNvPr>
          <p:cNvSpPr/>
          <p:nvPr/>
        </p:nvSpPr>
        <p:spPr>
          <a:xfrm>
            <a:off x="4683760" y="2305685"/>
            <a:ext cx="2641600" cy="11887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Classical 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Programming</a:t>
            </a:r>
            <a:endParaRPr lang="ko-KR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460C2E-420B-007D-0A66-5D8980373754}"/>
              </a:ext>
            </a:extLst>
          </p:cNvPr>
          <p:cNvSpPr/>
          <p:nvPr/>
        </p:nvSpPr>
        <p:spPr>
          <a:xfrm>
            <a:off x="4683760" y="4551680"/>
            <a:ext cx="2641600" cy="11887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Machine 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ea"/>
                <a:ea typeface="+mj-ea"/>
              </a:rPr>
              <a:t>Learning</a:t>
            </a:r>
            <a:endParaRPr lang="ko-KR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1" name="그래픽 10" descr="줄 화살표: 일자형">
            <a:extLst>
              <a:ext uri="{FF2B5EF4-FFF2-40B4-BE49-F238E27FC236}">
                <a16:creationId xmlns:a16="http://schemas.microsoft.com/office/drawing/2014/main" id="{09056CBC-03F5-03D5-ED50-D6ADD7E6D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664901" y="2285365"/>
            <a:ext cx="701040" cy="701040"/>
          </a:xfrm>
          <a:prstGeom prst="rect">
            <a:avLst/>
          </a:prstGeom>
        </p:spPr>
      </p:pic>
      <p:pic>
        <p:nvPicPr>
          <p:cNvPr id="12" name="그래픽 11" descr="줄 화살표: 일자형">
            <a:extLst>
              <a:ext uri="{FF2B5EF4-FFF2-40B4-BE49-F238E27FC236}">
                <a16:creationId xmlns:a16="http://schemas.microsoft.com/office/drawing/2014/main" id="{88FF5411-4130-3777-7D53-1E224D37C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664901" y="2854326"/>
            <a:ext cx="701040" cy="701040"/>
          </a:xfrm>
          <a:prstGeom prst="rect">
            <a:avLst/>
          </a:prstGeom>
        </p:spPr>
      </p:pic>
      <p:pic>
        <p:nvPicPr>
          <p:cNvPr id="13" name="그래픽 12" descr="줄 화살표: 일자형">
            <a:extLst>
              <a:ext uri="{FF2B5EF4-FFF2-40B4-BE49-F238E27FC236}">
                <a16:creationId xmlns:a16="http://schemas.microsoft.com/office/drawing/2014/main" id="{87088843-587D-1401-6690-C72E0ED6C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643179" y="2515975"/>
            <a:ext cx="701040" cy="7010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9BE911-9A4F-E3BA-8E49-B09C896D3772}"/>
              </a:ext>
            </a:extLst>
          </p:cNvPr>
          <p:cNvSpPr txBox="1"/>
          <p:nvPr/>
        </p:nvSpPr>
        <p:spPr>
          <a:xfrm>
            <a:off x="2466983" y="2385180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+mj-ea"/>
                <a:ea typeface="+mj-ea"/>
              </a:rPr>
              <a:t>Rules</a:t>
            </a:r>
            <a:endParaRPr lang="ko-KR" altLang="en-US" sz="2000" dirty="0"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150AB2-2227-53AF-DD6D-436584B1B6E1}"/>
              </a:ext>
            </a:extLst>
          </p:cNvPr>
          <p:cNvSpPr txBox="1"/>
          <p:nvPr/>
        </p:nvSpPr>
        <p:spPr>
          <a:xfrm>
            <a:off x="2466983" y="3023474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+mj-ea"/>
                <a:ea typeface="+mj-ea"/>
              </a:rPr>
              <a:t>Data</a:t>
            </a:r>
            <a:endParaRPr lang="ko-KR" altLang="en-US" sz="2000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C3B341-3B7F-88C1-9D36-F37088448565}"/>
              </a:ext>
            </a:extLst>
          </p:cNvPr>
          <p:cNvSpPr txBox="1"/>
          <p:nvPr/>
        </p:nvSpPr>
        <p:spPr>
          <a:xfrm>
            <a:off x="8649500" y="2640968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+mj-ea"/>
                <a:ea typeface="+mj-ea"/>
              </a:rPr>
              <a:t>Answer</a:t>
            </a:r>
            <a:endParaRPr lang="ko-KR" altLang="en-US" sz="2000" dirty="0">
              <a:latin typeface="+mj-ea"/>
              <a:ea typeface="+mj-ea"/>
            </a:endParaRPr>
          </a:p>
        </p:txBody>
      </p:sp>
      <p:pic>
        <p:nvPicPr>
          <p:cNvPr id="21" name="그래픽 20" descr="줄 화살표: 일자형">
            <a:extLst>
              <a:ext uri="{FF2B5EF4-FFF2-40B4-BE49-F238E27FC236}">
                <a16:creationId xmlns:a16="http://schemas.microsoft.com/office/drawing/2014/main" id="{C8335104-6DF7-9D56-5664-2071F7A99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664901" y="4521200"/>
            <a:ext cx="701040" cy="701040"/>
          </a:xfrm>
          <a:prstGeom prst="rect">
            <a:avLst/>
          </a:prstGeom>
        </p:spPr>
      </p:pic>
      <p:pic>
        <p:nvPicPr>
          <p:cNvPr id="22" name="그래픽 21" descr="줄 화살표: 일자형">
            <a:extLst>
              <a:ext uri="{FF2B5EF4-FFF2-40B4-BE49-F238E27FC236}">
                <a16:creationId xmlns:a16="http://schemas.microsoft.com/office/drawing/2014/main" id="{BE0C5C2E-828A-9865-FF5F-8C6ABFF95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664901" y="5090161"/>
            <a:ext cx="701040" cy="701040"/>
          </a:xfrm>
          <a:prstGeom prst="rect">
            <a:avLst/>
          </a:prstGeom>
        </p:spPr>
      </p:pic>
      <p:pic>
        <p:nvPicPr>
          <p:cNvPr id="23" name="그래픽 22" descr="줄 화살표: 일자형">
            <a:extLst>
              <a:ext uri="{FF2B5EF4-FFF2-40B4-BE49-F238E27FC236}">
                <a16:creationId xmlns:a16="http://schemas.microsoft.com/office/drawing/2014/main" id="{9FC00F16-A2DA-3008-8AAE-8B25695D1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643179" y="4751810"/>
            <a:ext cx="701040" cy="70104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0011B80-7168-1EB9-CD9E-A16AC80B4122}"/>
              </a:ext>
            </a:extLst>
          </p:cNvPr>
          <p:cNvSpPr txBox="1"/>
          <p:nvPr/>
        </p:nvSpPr>
        <p:spPr>
          <a:xfrm>
            <a:off x="2466983" y="4621015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+mj-ea"/>
                <a:ea typeface="+mj-ea"/>
              </a:rPr>
              <a:t>Rules</a:t>
            </a:r>
            <a:endParaRPr lang="ko-KR" altLang="en-US" sz="2000" dirty="0"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8209D8-FE31-F600-8EDD-F6DD758FA4B8}"/>
              </a:ext>
            </a:extLst>
          </p:cNvPr>
          <p:cNvSpPr txBox="1"/>
          <p:nvPr/>
        </p:nvSpPr>
        <p:spPr>
          <a:xfrm>
            <a:off x="2466983" y="5259309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+mj-ea"/>
                <a:ea typeface="+mj-ea"/>
              </a:rPr>
              <a:t>Answer</a:t>
            </a:r>
            <a:endParaRPr lang="ko-KR" altLang="en-US" sz="2000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BA574E-16F2-5E7D-6791-9DF613B23231}"/>
              </a:ext>
            </a:extLst>
          </p:cNvPr>
          <p:cNvSpPr txBox="1"/>
          <p:nvPr/>
        </p:nvSpPr>
        <p:spPr>
          <a:xfrm>
            <a:off x="8649500" y="4876803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+mj-ea"/>
                <a:ea typeface="+mj-ea"/>
              </a:rPr>
              <a:t>Rules</a:t>
            </a:r>
            <a:endParaRPr lang="ko-KR" altLang="en-US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4634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4" grpId="0"/>
      <p:bldP spid="25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AEAFC-BE00-BAFE-D0FA-D525C3477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A11FA24-C803-43CA-B36C-F6BBFD78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 dirty="0"/>
          </a:p>
        </p:txBody>
      </p:sp>
      <p:pic>
        <p:nvPicPr>
          <p:cNvPr id="19" name="Picture 2" descr="코드에서 대화로: LLM은 어떻게 작동하나요?">
            <a:extLst>
              <a:ext uri="{FF2B5EF4-FFF2-40B4-BE49-F238E27FC236}">
                <a16:creationId xmlns:a16="http://schemas.microsoft.com/office/drawing/2014/main" id="{1FD4B2C6-0335-9409-DB54-C0E55819C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997" y="679572"/>
            <a:ext cx="9542377" cy="5054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360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C482E-F37B-B678-C5D1-F9772C34B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030FC98-3D23-ED2E-9EC4-CB3098C3A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9</a:t>
            </a:fld>
            <a:endParaRPr lang="en-US" dirty="0"/>
          </a:p>
        </p:txBody>
      </p:sp>
      <p:pic>
        <p:nvPicPr>
          <p:cNvPr id="2" name="Picture 2" descr="아기가 부모를 알아보는 시기는 언제일까?">
            <a:extLst>
              <a:ext uri="{FF2B5EF4-FFF2-40B4-BE49-F238E27FC236}">
                <a16:creationId xmlns:a16="http://schemas.microsoft.com/office/drawing/2014/main" id="{3AC7B627-77E3-1217-FF4B-1F06205BF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83" y="2490937"/>
            <a:ext cx="4607639" cy="3068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DC40886-4069-981E-A8D7-A1350274B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980" y="2490937"/>
            <a:ext cx="4743582" cy="30686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237E07-93B0-6B8B-E648-59C25C7967F5}"/>
              </a:ext>
            </a:extLst>
          </p:cNvPr>
          <p:cNvSpPr txBox="1"/>
          <p:nvPr/>
        </p:nvSpPr>
        <p:spPr>
          <a:xfrm>
            <a:off x="1910080" y="1963712"/>
            <a:ext cx="110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Human</a:t>
            </a:r>
            <a:endParaRPr lang="ko-KR" alt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20B54C-2C31-787C-E855-B061F83F6C39}"/>
              </a:ext>
            </a:extLst>
          </p:cNvPr>
          <p:cNvSpPr txBox="1"/>
          <p:nvPr/>
        </p:nvSpPr>
        <p:spPr>
          <a:xfrm>
            <a:off x="8004451" y="1963712"/>
            <a:ext cx="2072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Deep</a:t>
            </a:r>
            <a:r>
              <a:rPr lang="ko-KR" altLang="en-US" sz="2000" dirty="0"/>
              <a:t> </a:t>
            </a:r>
            <a:r>
              <a:rPr lang="en-US" altLang="ko-KR" sz="2000" dirty="0"/>
              <a:t>Learning</a:t>
            </a:r>
            <a:endParaRPr lang="ko-KR" altLang="en-US" sz="2000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9398C86-972C-45A1-5439-DD236129E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classify ?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963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8379-B0F0-E75F-55B5-46A9B2033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1BF6F47-E1D7-3404-6D26-B63F40AA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1CAE8AD-8B03-DB93-B617-909AAC92E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10</a:t>
            </a:fld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10CAA31-8D8A-5DC1-2D9F-A0DABDC7E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623" y="1461700"/>
            <a:ext cx="6169702" cy="4975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7DCCF53D-4218-0676-F2D7-8EE3EC269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653" y="2274888"/>
            <a:ext cx="6590347" cy="246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52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322E1-8746-1FA5-3263-79DB08BE5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826FB85-6160-EEBB-0430-C6E64E5D7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8A78BED-627D-BA03-659E-24AB85F20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11</a:t>
            </a:fld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716E59A-2168-065A-1BF4-6C98A7F8E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177290"/>
            <a:ext cx="6878657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8379BF96-2686-6187-65D2-FFD8B245F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41830"/>
            <a:ext cx="5613400" cy="4490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132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05E14-CC56-B88E-B010-450D58066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AF0F385-BE82-C73C-32C1-365E243E6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12</a:t>
            </a:fld>
            <a:endParaRPr lang="en-US" dirty="0"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292F91D7-9EE7-8726-2305-2F3D27037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399" y="1371602"/>
            <a:ext cx="4870705" cy="476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8393605-71AD-7B2D-E5AD-DB344F5DC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375" y="1371601"/>
            <a:ext cx="4374836" cy="3792071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A45A62F6-F762-33B2-D59F-E14C3F1F2413}"/>
              </a:ext>
            </a:extLst>
          </p:cNvPr>
          <p:cNvSpPr/>
          <p:nvPr/>
        </p:nvSpPr>
        <p:spPr>
          <a:xfrm>
            <a:off x="3677920" y="1966559"/>
            <a:ext cx="2153582" cy="19316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F034FF7-9DD3-083A-6E92-C275174FC8A2}"/>
              </a:ext>
            </a:extLst>
          </p:cNvPr>
          <p:cNvCxnSpPr>
            <a:cxnSpLocks/>
          </p:cNvCxnSpPr>
          <p:nvPr/>
        </p:nvCxnSpPr>
        <p:spPr>
          <a:xfrm flipV="1">
            <a:off x="5810419" y="1371601"/>
            <a:ext cx="1102956" cy="59495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42E0BE5-702E-7ADD-9786-5F0D7169E10A}"/>
              </a:ext>
            </a:extLst>
          </p:cNvPr>
          <p:cNvCxnSpPr>
            <a:cxnSpLocks/>
          </p:cNvCxnSpPr>
          <p:nvPr/>
        </p:nvCxnSpPr>
        <p:spPr>
          <a:xfrm>
            <a:off x="5831502" y="3898253"/>
            <a:ext cx="1081873" cy="126541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48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F5E29-3325-DDA9-94E0-C37DAE8A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A6B3467-9A3A-1146-0E36-B8C6FF89A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13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6B0A45F-78D4-5488-697F-BCBCAA9D7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66" y="1287277"/>
            <a:ext cx="8937812" cy="3385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37EF5665-33F9-B25F-D9CB-DFD2F5A2F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63" y="1560538"/>
            <a:ext cx="8937812" cy="3790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20E0872F-FDAF-76DB-22F8-7B195997A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324" y="1744912"/>
            <a:ext cx="8861348" cy="4434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2826CD-001A-7C9F-4E5F-11E33E7B8FFE}"/>
              </a:ext>
            </a:extLst>
          </p:cNvPr>
          <p:cNvSpPr txBox="1"/>
          <p:nvPr/>
        </p:nvSpPr>
        <p:spPr>
          <a:xfrm>
            <a:off x="461669" y="638629"/>
            <a:ext cx="9890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컴퓨터가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를 분류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(Classification)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https://cs231n.stanford.edu/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F7E6080-2E7A-6B80-8E81-9576C0DCF3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8004" y="2060314"/>
            <a:ext cx="10051055" cy="415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221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DD944-819A-99A2-0021-8DFCD7A76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A5631C7-C44C-1826-3DE3-E976FA254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14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39A759-A092-CFD2-0D84-CA7A9F224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00" y="1348885"/>
            <a:ext cx="10104502" cy="189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4CF98E-FB07-1F35-A45B-77E818B32C87}"/>
              </a:ext>
            </a:extLst>
          </p:cNvPr>
          <p:cNvSpPr txBox="1"/>
          <p:nvPr/>
        </p:nvSpPr>
        <p:spPr>
          <a:xfrm>
            <a:off x="491325" y="679572"/>
            <a:ext cx="10699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컴퓨터가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를 처리하는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mechanism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https://word2vec.kr/search/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21E80A2-DCA4-8DBF-8859-4701C2AF7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8663" y="3346352"/>
            <a:ext cx="6911939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8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9C713-3A9E-1EB0-ABAE-019CE15E7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503A4E1-378C-8C12-39F8-05F0DD5B1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15</a:t>
            </a:fld>
            <a:endParaRPr lang="en-US" dirty="0"/>
          </a:p>
        </p:txBody>
      </p:sp>
      <p:pic>
        <p:nvPicPr>
          <p:cNvPr id="8194" name="Picture 2" descr="Examples of Photorealistic GAN Generated Faces">
            <a:extLst>
              <a:ext uri="{FF2B5EF4-FFF2-40B4-BE49-F238E27FC236}">
                <a16:creationId xmlns:a16="http://schemas.microsoft.com/office/drawing/2014/main" id="{A04F284F-E9EB-A504-DA3A-9FA6D3FE7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1045815"/>
            <a:ext cx="6381750" cy="476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8C1D3A-0F11-1BE3-E1AE-2FFBFE242FAC}"/>
              </a:ext>
            </a:extLst>
          </p:cNvPr>
          <p:cNvSpPr txBox="1"/>
          <p:nvPr/>
        </p:nvSpPr>
        <p:spPr>
          <a:xfrm>
            <a:off x="1428750" y="6010275"/>
            <a:ext cx="6477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dirty="0">
                <a:effectLst/>
                <a:latin typeface="Helvetica Neue"/>
              </a:rPr>
              <a:t>Examples of Photorealistic GAN-Generated </a:t>
            </a:r>
            <a:r>
              <a:rPr lang="en-US" altLang="ko-KR" sz="1100" b="0" i="0" dirty="0" err="1">
                <a:effectLst/>
                <a:latin typeface="Helvetica Neue"/>
              </a:rPr>
              <a:t>Faces.Taken</a:t>
            </a:r>
            <a:r>
              <a:rPr lang="en-US" altLang="ko-KR" sz="1100" b="0" i="0" dirty="0">
                <a:effectLst/>
                <a:latin typeface="Helvetica Neue"/>
              </a:rPr>
              <a:t> from Progressive Growing of GANs for Improved Quality, Stability, and Variation, 2017.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378242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2A556-12FC-B47C-57F4-DA64FC9BA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16F84281-A037-9942-F4B2-1263ADFD2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4E7F620-AD75-AAA1-DED6-49E88C2DF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16</a:t>
            </a:fld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DBEC5CC-5B97-781D-9915-358B33D653F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20000" contrast="-40000"/>
          </a:blip>
          <a:stretch>
            <a:fillRect/>
          </a:stretch>
        </p:blipFill>
        <p:spPr>
          <a:xfrm>
            <a:off x="3492850" y="1531451"/>
            <a:ext cx="5965184" cy="345287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60B8E57-114C-C066-04F2-A80D98CA3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447" y="1776801"/>
            <a:ext cx="1954809" cy="26345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D441AB-2D52-368E-A8E0-6242973C2476}"/>
              </a:ext>
            </a:extLst>
          </p:cNvPr>
          <p:cNvSpPr txBox="1"/>
          <p:nvPr/>
        </p:nvSpPr>
        <p:spPr>
          <a:xfrm>
            <a:off x="9722943" y="272472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It’s a face.</a:t>
            </a:r>
            <a:endParaRPr lang="ko-KR" alt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A718C95-3428-38E9-674B-35BC3F86E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152" y="4822754"/>
            <a:ext cx="2013440" cy="163725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0B49ECA-953C-193B-7F4F-ABF6230D0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335" y="5263582"/>
            <a:ext cx="1306844" cy="106267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5AA8A42-8AFB-F7D7-3A92-71E8E31AF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5929" y="5294856"/>
            <a:ext cx="689513" cy="142406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0C8A361-90BF-7950-443B-4D0A81BA1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7743" y="5326516"/>
            <a:ext cx="1566852" cy="4032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A2600AB-043F-3161-C125-746DE66E28DD}"/>
              </a:ext>
            </a:extLst>
          </p:cNvPr>
          <p:cNvSpPr txBox="1"/>
          <p:nvPr/>
        </p:nvSpPr>
        <p:spPr>
          <a:xfrm>
            <a:off x="3492850" y="51723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lang="ko-KR" altLang="en-US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he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Matrix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everywhere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~~~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273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F45B2-2470-F96E-8CFA-A25606F67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A81E497-CF21-883F-9E8E-E1C9CD05E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Transformation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F5E3FC2-FD93-08CF-973A-79A95D6A4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0CF9B-0509-1092-0E75-6D7C6C8354D8}"/>
              </a:ext>
            </a:extLst>
          </p:cNvPr>
          <p:cNvSpPr txBox="1"/>
          <p:nvPr/>
        </p:nvSpPr>
        <p:spPr>
          <a:xfrm>
            <a:off x="4679616" y="1764734"/>
            <a:ext cx="7055184" cy="167513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Matrix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everywhere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all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around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Even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very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room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can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when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look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window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when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turn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television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can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when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work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when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church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when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taxes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world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that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been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pulled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over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eyes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blind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you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truth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."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Morpheus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10242" name="Picture 2" descr="The Matrix | 1999 Film, Cast, Plot, &amp; Facts | Britannica">
            <a:extLst>
              <a:ext uri="{FF2B5EF4-FFF2-40B4-BE49-F238E27FC236}">
                <a16:creationId xmlns:a16="http://schemas.microsoft.com/office/drawing/2014/main" id="{542A8FA6-A204-8375-4BFB-5DB28C8A5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436" y="2164783"/>
            <a:ext cx="4411860" cy="3350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642E819C-F1FB-4BF0-DE6A-FEDB467BE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925" y="3430348"/>
            <a:ext cx="6981825" cy="232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096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015CE-0035-C630-BCA3-56856808C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A16571A-1C4B-98FC-96FE-DBCAD165D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Playground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1BC6AA3-E597-F081-D51B-7FC257F9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821CF2-F155-3043-1C83-36FF75B504D2}"/>
              </a:ext>
            </a:extLst>
          </p:cNvPr>
          <p:cNvSpPr txBox="1"/>
          <p:nvPr/>
        </p:nvSpPr>
        <p:spPr>
          <a:xfrm>
            <a:off x="839183" y="1467359"/>
            <a:ext cx="4041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https://playground.tensorflow.org/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75D5050-96FE-7CF3-3FD7-1096F2D71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383" y="1836691"/>
            <a:ext cx="8837811" cy="476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87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475D3-CFD5-DEA1-6A94-65C13F033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F87A786-A996-31D2-B4FE-E59262BA2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Vector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6E39E0A-ECA0-D57F-47A1-2C7C95B0D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19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BB1A34-8397-0408-604E-E86B363EF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83" y="1836691"/>
            <a:ext cx="9610725" cy="42222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EC06EA-46CA-4140-2519-6859E9303106}"/>
              </a:ext>
            </a:extLst>
          </p:cNvPr>
          <p:cNvSpPr txBox="1"/>
          <p:nvPr/>
        </p:nvSpPr>
        <p:spPr>
          <a:xfrm>
            <a:off x="839183" y="1467359"/>
            <a:ext cx="376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https://projector.tensorflow.org/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0183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86E93-C7D7-C886-2DFA-370D5866A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55A0AEE-CB3E-2510-7A2B-1DB5D6F53187}"/>
              </a:ext>
            </a:extLst>
          </p:cNvPr>
          <p:cNvSpPr/>
          <p:nvPr/>
        </p:nvSpPr>
        <p:spPr>
          <a:xfrm>
            <a:off x="1104901" y="2851246"/>
            <a:ext cx="5124450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919636B-85D0-009A-2C80-2B1047114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214D31-BE01-BEDF-B91E-66EC83857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Literacy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직업의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교육의 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6506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FA7E8-3898-1642-FC37-F3EC28839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F7D7E62-88C0-2899-7D53-45B1AA80C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21</a:t>
            </a:fld>
            <a:endParaRPr 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7DE6F0E-CC28-6D91-BE1E-0137F11B9842}"/>
              </a:ext>
            </a:extLst>
          </p:cNvPr>
          <p:cNvSpPr txBox="1">
            <a:spLocks/>
          </p:cNvSpPr>
          <p:nvPr/>
        </p:nvSpPr>
        <p:spPr>
          <a:xfrm>
            <a:off x="718606" y="2056645"/>
            <a:ext cx="6482087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블랙       </a:t>
            </a:r>
            <a:r>
              <a:rPr lang="en-US" altLang="ko-KR" sz="28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          ?  </a:t>
            </a:r>
            <a:endParaRPr lang="ko-KR" altLang="en-US" sz="2800" dirty="0">
              <a:solidFill>
                <a:srgbClr val="FFFFFF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7" name="화살표: 위로 구부러짐 6">
            <a:extLst>
              <a:ext uri="{FF2B5EF4-FFF2-40B4-BE49-F238E27FC236}">
                <a16:creationId xmlns:a16="http://schemas.microsoft.com/office/drawing/2014/main" id="{046724D1-DF42-06F1-FAF0-29BB8535327B}"/>
              </a:ext>
            </a:extLst>
          </p:cNvPr>
          <p:cNvSpPr/>
          <p:nvPr/>
        </p:nvSpPr>
        <p:spPr>
          <a:xfrm>
            <a:off x="1241773" y="2760525"/>
            <a:ext cx="1901477" cy="400337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5F735-0A6C-0262-ABC4-C7650839ABEA}"/>
              </a:ext>
            </a:extLst>
          </p:cNvPr>
          <p:cNvSpPr txBox="1"/>
          <p:nvPr/>
        </p:nvSpPr>
        <p:spPr>
          <a:xfrm>
            <a:off x="572955" y="697875"/>
            <a:ext cx="9694995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학습한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이전 단어들을 기반으로 다음 단어를 확률적으로 예측하여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텍스트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음악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 등 새로운 콘텐츠를 생성하는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LLM(Large Language Model)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E723F44-9B2E-5BDF-A6E4-FC6EB276D266}"/>
              </a:ext>
            </a:extLst>
          </p:cNvPr>
          <p:cNvGrpSpPr/>
          <p:nvPr/>
        </p:nvGrpSpPr>
        <p:grpSpPr>
          <a:xfrm>
            <a:off x="2938879" y="1883378"/>
            <a:ext cx="5734688" cy="3866290"/>
            <a:chOff x="2938879" y="1883378"/>
            <a:chExt cx="5734688" cy="3866290"/>
          </a:xfrm>
        </p:grpSpPr>
        <p:sp>
          <p:nvSpPr>
            <p:cNvPr id="5" name="제목 1">
              <a:extLst>
                <a:ext uri="{FF2B5EF4-FFF2-40B4-BE49-F238E27FC236}">
                  <a16:creationId xmlns:a16="http://schemas.microsoft.com/office/drawing/2014/main" id="{611FA2E5-14CD-9CE6-B4C3-AB709E921D99}"/>
                </a:ext>
              </a:extLst>
            </p:cNvPr>
            <p:cNvSpPr txBox="1">
              <a:spLocks/>
            </p:cNvSpPr>
            <p:nvPr/>
          </p:nvSpPr>
          <p:spPr>
            <a:xfrm>
              <a:off x="2938879" y="2978137"/>
              <a:ext cx="217731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800" dirty="0">
                  <a:solidFill>
                    <a:srgbClr val="FFC000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핑크</a:t>
              </a:r>
              <a:r>
                <a:rPr lang="en-US" altLang="ko-KR" sz="2800" dirty="0"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</a:t>
              </a:r>
              <a:endParaRPr lang="ko-KR" altLang="en-US" sz="28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1669C79-6E12-C653-721F-8A8D0705C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03671" y="1883378"/>
              <a:ext cx="3569896" cy="3866290"/>
            </a:xfrm>
            <a:prstGeom prst="rect">
              <a:avLst/>
            </a:prstGeom>
          </p:spPr>
        </p:pic>
      </p:grpSp>
      <p:sp>
        <p:nvSpPr>
          <p:cNvPr id="9" name="제목 1">
            <a:extLst>
              <a:ext uri="{FF2B5EF4-FFF2-40B4-BE49-F238E27FC236}">
                <a16:creationId xmlns:a16="http://schemas.microsoft.com/office/drawing/2014/main" id="{990F8DB8-DDC4-EDCB-893F-F3EABAE4EA45}"/>
              </a:ext>
            </a:extLst>
          </p:cNvPr>
          <p:cNvSpPr txBox="1">
            <a:spLocks/>
          </p:cNvSpPr>
          <p:nvPr/>
        </p:nvSpPr>
        <p:spPr>
          <a:xfrm>
            <a:off x="2941695" y="4026310"/>
            <a:ext cx="2177317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dirty="0">
                <a:solidFill>
                  <a:srgbClr val="FFFF00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커피</a:t>
            </a:r>
            <a:r>
              <a:rPr lang="en-US" altLang="ko-KR" sz="28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ko-KR" altLang="en-US" sz="28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6150" name="Picture 6" descr="커피가 담긴 화이트 세라믹 머그잔">
            <a:extLst>
              <a:ext uri="{FF2B5EF4-FFF2-40B4-BE49-F238E27FC236}">
                <a16:creationId xmlns:a16="http://schemas.microsoft.com/office/drawing/2014/main" id="{A505F6CD-DFF6-B16F-93A7-AEA63D574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2352675"/>
            <a:ext cx="2870160" cy="430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A2BCF9E2-ED44-0CF7-2A28-6C73929297AE}"/>
              </a:ext>
            </a:extLst>
          </p:cNvPr>
          <p:cNvGrpSpPr/>
          <p:nvPr/>
        </p:nvGrpSpPr>
        <p:grpSpPr>
          <a:xfrm>
            <a:off x="2928225" y="3200636"/>
            <a:ext cx="8852915" cy="3104914"/>
            <a:chOff x="2928225" y="3200636"/>
            <a:chExt cx="8852915" cy="3104914"/>
          </a:xfrm>
        </p:grpSpPr>
        <p:sp>
          <p:nvSpPr>
            <p:cNvPr id="11" name="제목 1">
              <a:extLst>
                <a:ext uri="{FF2B5EF4-FFF2-40B4-BE49-F238E27FC236}">
                  <a16:creationId xmlns:a16="http://schemas.microsoft.com/office/drawing/2014/main" id="{C5B4E57A-7758-2A62-A476-E7A95EB53D66}"/>
                </a:ext>
              </a:extLst>
            </p:cNvPr>
            <p:cNvSpPr txBox="1">
              <a:spLocks/>
            </p:cNvSpPr>
            <p:nvPr/>
          </p:nvSpPr>
          <p:spPr>
            <a:xfrm>
              <a:off x="2928225" y="4983229"/>
              <a:ext cx="217731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800" dirty="0">
                  <a:solidFill>
                    <a:srgbClr val="FF0000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홀</a:t>
              </a:r>
              <a:r>
                <a:rPr lang="en-US" altLang="ko-KR" sz="28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</a:t>
              </a:r>
              <a:endParaRPr lang="ko-KR" altLang="en-US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6148" name="Picture 4" descr="어둠 속에서 불의 고리가 보인다">
              <a:extLst>
                <a:ext uri="{FF2B5EF4-FFF2-40B4-BE49-F238E27FC236}">
                  <a16:creationId xmlns:a16="http://schemas.microsoft.com/office/drawing/2014/main" id="{E6DD4576-D0D2-F798-B847-A0C25AD5CE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62730" y="3200636"/>
              <a:ext cx="5518410" cy="31049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2278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4049-3842-3F62-B21A-BD6507D0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02BC5E3-224A-24E3-5CD4-6E5BAB6E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D99B4-8E4E-4BDD-3CB8-D12EAE2B6F32}"/>
              </a:ext>
            </a:extLst>
          </p:cNvPr>
          <p:cNvSpPr txBox="1"/>
          <p:nvPr/>
        </p:nvSpPr>
        <p:spPr>
          <a:xfrm>
            <a:off x="572955" y="697875"/>
            <a:ext cx="9694995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학습한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이전 픽셀들을 기반으로 다음 </a:t>
            </a:r>
            <a:r>
              <a:rPr lang="ko-KR" altLang="en-US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픽셀를</a:t>
            </a:r>
            <a:r>
              <a:rPr lang="ko-KR" altLang="en-US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확률적으로 예측하여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텍스트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음악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 등 새로운 콘텐츠를 생성하는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LLM(Large Language Model)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74DC582-07A1-80C0-0395-B53ED416E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17" y="2011520"/>
            <a:ext cx="10541521" cy="433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520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891C0-09A2-FBF5-D85B-F929E86B1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15BFE62-C839-E465-CB29-E8EBA793E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23</a:t>
            </a:fld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56C09C6-03B6-40D8-D9BC-0F3D13A8D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049" y="2177415"/>
            <a:ext cx="8660543" cy="36899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C9CC29-9AC0-FBD1-0372-3EB6CA3853CC}"/>
              </a:ext>
            </a:extLst>
          </p:cNvPr>
          <p:cNvSpPr txBox="1"/>
          <p:nvPr/>
        </p:nvSpPr>
        <p:spPr>
          <a:xfrm>
            <a:off x="1774242" y="6072238"/>
            <a:ext cx="5127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https://huggingface.co/learn/nlp-course/chapter1/4?fw=pt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ko-KR" altLang="en-US" sz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3E67596-69B8-4403-43A2-4280CEA07E5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074422" y="2229161"/>
            <a:ext cx="1950208" cy="22524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62149A-A199-CCC2-90FE-DA283B99BD0E}"/>
              </a:ext>
            </a:extLst>
          </p:cNvPr>
          <p:cNvSpPr txBox="1"/>
          <p:nvPr/>
        </p:nvSpPr>
        <p:spPr>
          <a:xfrm>
            <a:off x="572955" y="697875"/>
            <a:ext cx="9694995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학습한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이전 단어들을 기반으로 다음 단어를 확률적으로 예측하여 텍스트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음악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 등 새로운 콘텐츠를 생성하는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LLM(Large Language Model)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170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C0553-22BD-A141-661E-CFFF82AE7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227804C-449C-463A-C5BE-8C503ABF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969A97-C2BE-D9A0-A387-843BB3B69242}"/>
              </a:ext>
            </a:extLst>
          </p:cNvPr>
          <p:cNvSpPr txBox="1"/>
          <p:nvPr/>
        </p:nvSpPr>
        <p:spPr>
          <a:xfrm>
            <a:off x="572955" y="697875"/>
            <a:ext cx="9694995" cy="589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확률적 언어모델을 가진 앵무새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(Generative AI, LLM)</a:t>
            </a:r>
            <a:endParaRPr lang="ko-KR" alt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050" name="Picture 2" descr="나뭇가지에 주홍색 잉꼬 현관">
            <a:extLst>
              <a:ext uri="{FF2B5EF4-FFF2-40B4-BE49-F238E27FC236}">
                <a16:creationId xmlns:a16="http://schemas.microsoft.com/office/drawing/2014/main" id="{2E033474-6E41-5E4F-66B7-54A1F585C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836451"/>
            <a:ext cx="36576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110A9A-7874-8257-1B97-39876E538845}"/>
              </a:ext>
            </a:extLst>
          </p:cNvPr>
          <p:cNvSpPr txBox="1"/>
          <p:nvPr/>
        </p:nvSpPr>
        <p:spPr>
          <a:xfrm>
            <a:off x="6673214" y="1851958"/>
            <a:ext cx="5290186" cy="227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대규모 언어 모델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(Large Language Model, LLM)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수십억 개의 단어를 학습하여 사람처럼 자연스럽게 언어를 생성하는 인공지능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신경망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(Neural Network)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기반으로 문맥을 이해하고 논리적 답변 생성 가능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대표 모델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GPT-4, Claude, Gemini,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LLaMA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1816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1CDB9-B228-26B1-05E9-AFD1E9EBB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20A9F7D-4906-19DE-ABD2-69C1BFF54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25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DBB8F91-D057-BB34-D956-F3585F2AA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878" y="1308748"/>
            <a:ext cx="5487921" cy="45465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D0E21D-C517-7ABD-4916-DF574A466BF0}"/>
              </a:ext>
            </a:extLst>
          </p:cNvPr>
          <p:cNvSpPr txBox="1"/>
          <p:nvPr/>
        </p:nvSpPr>
        <p:spPr>
          <a:xfrm>
            <a:off x="5600982" y="5897647"/>
            <a:ext cx="37892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https://platform.openai.com/tokenizer</a:t>
            </a:r>
            <a:r>
              <a:rPr lang="ko-KR" altLang="en-US" sz="1600" dirty="0"/>
              <a:t>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2BC0319-B5FC-CF10-3FF4-68B4DAAB2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558" y="4285029"/>
            <a:ext cx="2510380" cy="14720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27FB08-62B2-A644-7266-EBF10ED026F9}"/>
              </a:ext>
            </a:extLst>
          </p:cNvPr>
          <p:cNvSpPr txBox="1"/>
          <p:nvPr/>
        </p:nvSpPr>
        <p:spPr>
          <a:xfrm>
            <a:off x="5605046" y="6145594"/>
            <a:ext cx="347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https://openai.com/api/pricing/</a:t>
            </a:r>
            <a:r>
              <a:rPr lang="ko-KR" altLang="en-US" sz="1600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61CBD4-29BE-2FA6-6DDC-98F2467A901A}"/>
              </a:ext>
            </a:extLst>
          </p:cNvPr>
          <p:cNvSpPr txBox="1"/>
          <p:nvPr/>
        </p:nvSpPr>
        <p:spPr>
          <a:xfrm>
            <a:off x="337521" y="1375423"/>
            <a:ext cx="5014259" cy="4286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+mn-ea"/>
              </a:rPr>
              <a:t>LLM(Large Language Model)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</a:t>
            </a:r>
            <a:endParaRPr lang="en-US" altLang="ko-KR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+mn-ea"/>
              </a:rPr>
              <a:t>텍스트를 토큰화</a:t>
            </a:r>
            <a:r>
              <a:rPr lang="en-US" altLang="ko-KR" dirty="0">
                <a:latin typeface="+mn-ea"/>
              </a:rPr>
              <a:t>(Tokenization)</a:t>
            </a:r>
            <a:r>
              <a:rPr lang="ko-KR" altLang="en-US" dirty="0">
                <a:latin typeface="+mn-ea"/>
              </a:rPr>
              <a:t>하여 수자로 처리한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후 </a:t>
            </a:r>
            <a:endParaRPr lang="en-US" altLang="ko-KR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+mn-ea"/>
              </a:rPr>
              <a:t>토큰 간의 통계적 관계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확률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를 학습하여 일련의 토큰에서 다음 토큰을 생성하는 방식으로 </a:t>
            </a:r>
            <a:endParaRPr lang="en-US" altLang="ko-KR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+mn-ea"/>
              </a:rPr>
              <a:t>인간 언어를 생성</a:t>
            </a:r>
            <a:r>
              <a:rPr lang="en-US" altLang="ko-KR" dirty="0">
                <a:latin typeface="+mn-ea"/>
              </a:rPr>
              <a:t>(Generation)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6342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405B-AF14-B2C8-689A-F6492F268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E79183E-E6F4-4214-DD0E-8C1A51209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26</a:t>
            </a:fld>
            <a:endParaRPr 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5A2CB2E-8468-AEE1-580A-8B67C6616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68" y="472685"/>
            <a:ext cx="10629571" cy="1181462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컴퓨터의 학습은 </a:t>
            </a:r>
            <a:r>
              <a:rPr lang="en-US" altLang="ko-KR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Pattern Recognition(</a:t>
            </a:r>
            <a:r>
              <a:rPr lang="ko-KR" altLang="en-US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패턴 인식</a:t>
            </a:r>
            <a:r>
              <a:rPr lang="en-US" altLang="ko-KR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으로 </a:t>
            </a:r>
            <a:r>
              <a:rPr lang="en-US" altLang="ko-KR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r>
              <a:rPr lang="ko-KR" altLang="en-US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복잡한 함수를 찾는 과정</a:t>
            </a:r>
            <a:r>
              <a:rPr lang="en-US" altLang="ko-KR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”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입력</a:t>
            </a:r>
            <a:r>
              <a:rPr lang="en-US" altLang="ko-KR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(Input)</a:t>
            </a:r>
            <a:r>
              <a:rPr lang="ko-KR" altLang="en-US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을 출력</a:t>
            </a:r>
            <a:r>
              <a:rPr lang="en-US" altLang="ko-KR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(Output)</a:t>
            </a:r>
            <a:r>
              <a:rPr lang="ko-KR" altLang="en-US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에 </a:t>
            </a:r>
            <a:r>
              <a:rPr lang="ko-KR" altLang="en-US" sz="2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점대점</a:t>
            </a:r>
            <a:r>
              <a:rPr lang="en-US" altLang="ko-KR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(point by point)</a:t>
            </a:r>
            <a:r>
              <a:rPr lang="ko-KR" altLang="en-US" sz="2100" dirty="0">
                <a:latin typeface="D2Coding" panose="020B0609020101020101" pitchFamily="49" charset="-127"/>
                <a:ea typeface="D2Coding" panose="020B0609020101020101" pitchFamily="49" charset="-127"/>
              </a:rPr>
              <a:t>으로 매핑하는 작업만을 학습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FE2DA27-6599-B042-D667-9FEEEADD3271}"/>
              </a:ext>
            </a:extLst>
          </p:cNvPr>
          <p:cNvGrpSpPr/>
          <p:nvPr/>
        </p:nvGrpSpPr>
        <p:grpSpPr>
          <a:xfrm>
            <a:off x="1043685" y="2774418"/>
            <a:ext cx="3509265" cy="2656715"/>
            <a:chOff x="1611231" y="3054515"/>
            <a:chExt cx="2905125" cy="2082470"/>
          </a:xfrm>
        </p:grpSpPr>
        <p:sp>
          <p:nvSpPr>
            <p:cNvPr id="16" name="이등변 삼각형 15">
              <a:extLst>
                <a:ext uri="{FF2B5EF4-FFF2-40B4-BE49-F238E27FC236}">
                  <a16:creationId xmlns:a16="http://schemas.microsoft.com/office/drawing/2014/main" id="{012E2A5C-B7F7-E780-9A16-A12FFD94EF3A}"/>
                </a:ext>
              </a:extLst>
            </p:cNvPr>
            <p:cNvSpPr/>
            <p:nvPr/>
          </p:nvSpPr>
          <p:spPr>
            <a:xfrm rot="10800000">
              <a:off x="1835069" y="3054515"/>
              <a:ext cx="914400" cy="69182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이등변 삼각형 16">
              <a:extLst>
                <a:ext uri="{FF2B5EF4-FFF2-40B4-BE49-F238E27FC236}">
                  <a16:creationId xmlns:a16="http://schemas.microsoft.com/office/drawing/2014/main" id="{E51B1900-13D2-F7A2-C1F6-7FDE07AD0377}"/>
                </a:ext>
              </a:extLst>
            </p:cNvPr>
            <p:cNvSpPr/>
            <p:nvPr/>
          </p:nvSpPr>
          <p:spPr>
            <a:xfrm>
              <a:off x="3497179" y="4445165"/>
              <a:ext cx="914400" cy="69182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289895E-86ED-62DF-6A92-6F97D35A61A2}"/>
                </a:ext>
              </a:extLst>
            </p:cNvPr>
            <p:cNvSpPr/>
            <p:nvPr/>
          </p:nvSpPr>
          <p:spPr>
            <a:xfrm>
              <a:off x="1611231" y="3429000"/>
              <a:ext cx="2905125" cy="132397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E47953-F99A-8AD9-CEC2-D58732A98A45}"/>
                  </a:ext>
                </a:extLst>
              </p:cNvPr>
              <p:cNvSpPr txBox="1"/>
              <p:nvPr/>
            </p:nvSpPr>
            <p:spPr>
              <a:xfrm>
                <a:off x="688177" y="2242920"/>
                <a:ext cx="198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2000" dirty="0">
                    <a:solidFill>
                      <a:schemeClr val="tx1"/>
                    </a:solidFill>
                  </a:rPr>
                  <a:t>Input (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2000" dirty="0">
                    <a:solidFill>
                      <a:schemeClr val="tx1"/>
                    </a:solidFill>
                  </a:rPr>
                  <a:t>)</a:t>
                </a:r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E47953-F99A-8AD9-CEC2-D58732A98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77" y="2242920"/>
                <a:ext cx="1987365" cy="400110"/>
              </a:xfrm>
              <a:prstGeom prst="rect">
                <a:avLst/>
              </a:prstGeom>
              <a:blipFill>
                <a:blip r:embed="rId2"/>
                <a:stretch>
                  <a:fillRect l="-3374" t="-9091" b="-25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C9AC3F-49D5-D340-C129-5C6FEBAEA67D}"/>
                  </a:ext>
                </a:extLst>
              </p:cNvPr>
              <p:cNvSpPr txBox="1"/>
              <p:nvPr/>
            </p:nvSpPr>
            <p:spPr>
              <a:xfrm>
                <a:off x="3749204" y="5585095"/>
                <a:ext cx="19162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2000" dirty="0">
                    <a:solidFill>
                      <a:schemeClr val="tx1"/>
                    </a:solidFill>
                  </a:rPr>
                  <a:t>Output : 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2000" dirty="0">
                    <a:solidFill>
                      <a:schemeClr val="tx1"/>
                    </a:solidFill>
                  </a:rPr>
                  <a:t> </a:t>
                </a:r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C9AC3F-49D5-D340-C129-5C6FEBAEA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204" y="5585095"/>
                <a:ext cx="1916266" cy="400110"/>
              </a:xfrm>
              <a:prstGeom prst="rect">
                <a:avLst/>
              </a:prstGeom>
              <a:blipFill>
                <a:blip r:embed="rId3"/>
                <a:stretch>
                  <a:fillRect l="-3185" t="-7576" b="-25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5A5AF3B-51AA-AB25-7F34-2B64B350963D}"/>
                  </a:ext>
                </a:extLst>
              </p:cNvPr>
              <p:cNvSpPr txBox="1"/>
              <p:nvPr/>
            </p:nvSpPr>
            <p:spPr>
              <a:xfrm>
                <a:off x="1574577" y="3714345"/>
                <a:ext cx="92558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sz="3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ko-KR" alt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5A5AF3B-51AA-AB25-7F34-2B64B3509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577" y="3714345"/>
                <a:ext cx="925580" cy="584775"/>
              </a:xfrm>
              <a:prstGeom prst="rect">
                <a:avLst/>
              </a:prstGeom>
              <a:blipFill>
                <a:blip r:embed="rId4"/>
                <a:stretch>
                  <a:fillRect r="-98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▲Chatgpt , Gemini 외의 대화형 생성 AI는 생소하다. &quot;한국형 AI&quot;  네이버 Clova X,  카카오 AskUp, 뤼튼 Wrtn도 애정을 가지고 활용해보자..">
            <a:extLst>
              <a:ext uri="{FF2B5EF4-FFF2-40B4-BE49-F238E27FC236}">
                <a16:creationId xmlns:a16="http://schemas.microsoft.com/office/drawing/2014/main" id="{D4A5A6DF-637F-9EB9-0208-7DA17FB41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5470" y="2703842"/>
            <a:ext cx="3509264" cy="2605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EE8FA4-FC86-A298-E904-0492EF29D9E5}"/>
                  </a:ext>
                </a:extLst>
              </p:cNvPr>
              <p:cNvSpPr txBox="1"/>
              <p:nvPr/>
            </p:nvSpPr>
            <p:spPr>
              <a:xfrm>
                <a:off x="9460999" y="5453688"/>
                <a:ext cx="26212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EE8FA4-FC86-A298-E904-0492EF29D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0999" y="5453688"/>
                <a:ext cx="2621280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function">
            <a:extLst>
              <a:ext uri="{FF2B5EF4-FFF2-40B4-BE49-F238E27FC236}">
                <a16:creationId xmlns:a16="http://schemas.microsoft.com/office/drawing/2014/main" id="{BB6A124A-B08C-1255-891E-9860AECD5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8320" y="2703841"/>
            <a:ext cx="2605778" cy="260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8698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FDB22-BE62-128A-24F2-1E1E33160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72EF758-E1A4-AAF6-BA0F-5DCBE3A8B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27</a:t>
            </a:fld>
            <a:endParaRPr 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B9B3F9B-932B-005B-730E-62E0F4262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68" y="773539"/>
            <a:ext cx="10106832" cy="186488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할루시네이션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(Hallucination, 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인공지능 환각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모델이 정보를 처리하거나 답변을 생성할 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그럴듯하지만 사실 관계가 틀렸거나 문맥에 전혀 맞지 않는 허위 정보를 진짜인 것처럼 생성해내는 현상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C5BB14-40E8-B2DB-620F-6E41BA77C524}"/>
              </a:ext>
            </a:extLst>
          </p:cNvPr>
          <p:cNvSpPr txBox="1"/>
          <p:nvPr/>
        </p:nvSpPr>
        <p:spPr>
          <a:xfrm>
            <a:off x="2121414" y="3013029"/>
            <a:ext cx="93466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확률적 단어 짜맞추기: 끝말 이어가기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끝판왕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학습 데이터의 한계: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AI가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배운 데이터 자체에 잘못된 정보나 편향이 섞여 있었거나, 정보가 부족할 때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최신 정보의 공백: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가 학습을 마친 시점 이후에 일어난 일에 대해 질문하면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모른다고 답하는 대신 아는 지식을 조합해 지어냄</a:t>
            </a:r>
          </a:p>
        </p:txBody>
      </p:sp>
    </p:spTree>
    <p:extLst>
      <p:ext uri="{BB962C8B-B14F-4D97-AF65-F5344CB8AC3E}">
        <p14:creationId xmlns:p14="http://schemas.microsoft.com/office/powerpoint/2010/main" val="893557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8C289-FB36-0F26-D9B4-AE7777DE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94798AA-0B60-9394-D1EE-42D1F0EE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25A948-FA2A-62F4-707C-F357C4E527CF}"/>
              </a:ext>
            </a:extLst>
          </p:cNvPr>
          <p:cNvSpPr txBox="1"/>
          <p:nvPr/>
        </p:nvSpPr>
        <p:spPr>
          <a:xfrm>
            <a:off x="218291" y="247650"/>
            <a:ext cx="10354460" cy="1254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+mj-cs"/>
              </a:rPr>
              <a:t>LLM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  <a:cs typeface="+mj-cs"/>
              </a:rPr>
              <a:t>의 한계는 정보 검색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+mj-cs"/>
              </a:rPr>
              <a:t>(Information Retrieval)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  <a:cs typeface="+mj-cs"/>
              </a:rPr>
              <a:t>만 잘함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cs typeface="+mj-cs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+mj-cs"/>
              </a:rPr>
              <a:t>학습 중에 접했던 패턴과 매우 유사한 패턴을 인식하거나 생성해 내며 본질적으로 새로운 상황에 적응하는 능력이 떨어짐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+mj-cs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+mj-cs"/>
              </a:rPr>
              <a:t>아래 그림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+mj-cs"/>
              </a:rPr>
              <a:t>An easy yet novel puzzle)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  <a:cs typeface="+mj-cs"/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27CDEEFE-CC04-501A-16E8-419D49941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59" y="1742079"/>
            <a:ext cx="8340091" cy="4602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123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5A420-5775-B560-04DC-E3E19FCA4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35C5994-2A27-C355-E41B-FEDA3F423875}"/>
              </a:ext>
            </a:extLst>
          </p:cNvPr>
          <p:cNvSpPr/>
          <p:nvPr/>
        </p:nvSpPr>
        <p:spPr>
          <a:xfrm>
            <a:off x="1104901" y="3517996"/>
            <a:ext cx="5124450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18F43-49F7-B874-1753-31B84F70E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BA85C9-4D33-7542-FB03-CB5D592DB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Literacy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직업의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교육의 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74971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8D171-A75B-1896-3A05-AD961E168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E4C5A8F-53E3-1448-6255-D083B9307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0E1D21-59E5-2096-DB0E-0448E7F788F1}"/>
              </a:ext>
            </a:extLst>
          </p:cNvPr>
          <p:cNvSpPr txBox="1"/>
          <p:nvPr/>
        </p:nvSpPr>
        <p:spPr>
          <a:xfrm>
            <a:off x="600802" y="1393200"/>
            <a:ext cx="10990395" cy="4200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는 일자리를 없애기도 하고 업무 내용과 직업 구조를 바꾸고 새로운 직업도 만들 가능성이 증가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v"/>
            </a:pP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반복적이고 규칙적인 업무는 자동화될 가능성이 높아짐 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v"/>
            </a:pP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같은 직업 안에서도 일부 과업은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가 맡고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인간은 판단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소통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책임이 필요한 일에 더 집중하는 방식으로 변경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v"/>
            </a:pP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를 다루는 능력이 중요한 역량이 되면서 재교육과 숙련 고도화가 더 중요해질 전망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34154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13697-43DB-9F4F-38B4-DBFF0586A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C470CCA-3A31-E4DC-E8FA-9BB3541C2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31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7944D9-0762-7B01-45A8-54D01357E74B}"/>
              </a:ext>
            </a:extLst>
          </p:cNvPr>
          <p:cNvSpPr txBox="1"/>
          <p:nvPr/>
        </p:nvSpPr>
        <p:spPr>
          <a:xfrm>
            <a:off x="683529" y="679572"/>
            <a:ext cx="9669011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 기반의 지식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육체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노동이 중심이고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사람의 손길이 많이 필요한 분야로 정형화된 업무 패턴이 반복되어 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 학습하기에 적합 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AI</a:t>
            </a:r>
            <a:r>
              <a:rPr lang="ko-KR" altLang="en-US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역할이 커질 것으로 예상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B7F9C79-AA65-D203-C85B-C3FFFE9EB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1766888"/>
            <a:ext cx="8401050" cy="4715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58CC8A-03F7-B968-1CB5-4317AAAD65A6}"/>
              </a:ext>
            </a:extLst>
          </p:cNvPr>
          <p:cNvSpPr txBox="1"/>
          <p:nvPr/>
        </p:nvSpPr>
        <p:spPr>
          <a:xfrm>
            <a:off x="1400175" y="648267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https://www.nanalyze.com/2017/05/artificial-intelligence-service-core-ai/</a:t>
            </a:r>
          </a:p>
        </p:txBody>
      </p:sp>
    </p:spTree>
    <p:extLst>
      <p:ext uri="{BB962C8B-B14F-4D97-AF65-F5344CB8AC3E}">
        <p14:creationId xmlns:p14="http://schemas.microsoft.com/office/powerpoint/2010/main" val="12794176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C30D0-C999-BD54-636A-85A0C63C2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0D8D1AA-910B-F359-7D57-B8AF4988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32</a:t>
            </a:fld>
            <a:endParaRPr 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0CE38CD-DCDF-D222-2214-8A5D1283A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922864"/>
              </p:ext>
            </p:extLst>
          </p:nvPr>
        </p:nvGraphicFramePr>
        <p:xfrm>
          <a:off x="712803" y="1504808"/>
          <a:ext cx="10450497" cy="4781691"/>
        </p:xfrm>
        <a:graphic>
          <a:graphicData uri="http://schemas.openxmlformats.org/drawingml/2006/table">
            <a:tbl>
              <a:tblPr/>
              <a:tblGrid>
                <a:gridCol w="2592809">
                  <a:extLst>
                    <a:ext uri="{9D8B030D-6E8A-4147-A177-3AD203B41FA5}">
                      <a16:colId xmlns:a16="http://schemas.microsoft.com/office/drawing/2014/main" val="1493199083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497752382"/>
                    </a:ext>
                  </a:extLst>
                </a:gridCol>
                <a:gridCol w="7419538">
                  <a:extLst>
                    <a:ext uri="{9D8B030D-6E8A-4147-A177-3AD203B41FA5}">
                      <a16:colId xmlns:a16="http://schemas.microsoft.com/office/drawing/2014/main" val="696736181"/>
                    </a:ext>
                  </a:extLst>
                </a:gridCol>
              </a:tblGrid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학과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ko-KR" altLang="en-US" sz="1600" dirty="0">
                        <a:solidFill>
                          <a:schemeClr val="bg1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바뀌는 방향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723262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정보과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컴퓨터과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코딩만이 아니라 데이터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AI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활용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현장 학습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자동화 도구 사용이 중요해짐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243731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회계과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6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세무과</a:t>
                      </a: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</a:t>
                      </a: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단순 전표 입력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기초 정산은 줄고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분석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검토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예외 처리 비중이 커짐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436120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디자인과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</a:t>
                      </a: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기본 시안 제작은 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가 보조하고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창의적 기획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수정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브랜딩 역량이 중요해짐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51618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사무행정과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4</a:t>
                      </a: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문서 작성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정리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일정 관리 같은 반복 업무가 크게 자동화됨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544447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조리과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외식과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</a:t>
                      </a: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레시피 개발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위생관리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주문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재고 관리에 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활용이 늘어남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300657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기계과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6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전기과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자동화과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6</a:t>
                      </a: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설비 운영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예지보전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스마트팩토리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대응 역량이 중요해짐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876895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미용과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7</a:t>
                      </a: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예약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상담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홍보는 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가 돕고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고객 응대와 감각은 사람 역할이 남음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064368"/>
                  </a:ext>
                </a:extLst>
              </a:tr>
              <a:tr h="53129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보건간호과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8</a:t>
                      </a:r>
                      <a:endParaRPr lang="ko-KR" altLang="en-US" sz="16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기록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안내 업무는 자동화되지만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돌봄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상담</a:t>
                      </a:r>
                      <a:r>
                        <a:rPr lang="en-US" altLang="ko-KR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현장 대응은 여전히 중요함</a:t>
                      </a:r>
                    </a:p>
                  </a:txBody>
                  <a:tcPr marL="32151" marR="32151" marT="32151" marB="3215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980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3044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670A9-E559-FDA8-967B-FF6A46B9C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1AC2B20-D179-C037-99E5-37B44CFCF5BB}"/>
              </a:ext>
            </a:extLst>
          </p:cNvPr>
          <p:cNvSpPr/>
          <p:nvPr/>
        </p:nvSpPr>
        <p:spPr>
          <a:xfrm>
            <a:off x="1104901" y="4203796"/>
            <a:ext cx="5124450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16CD5E-873C-F637-476B-0E5E5574A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50D949-0CFF-A384-60B8-17289F362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Literacy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직업의</a:t>
            </a:r>
            <a:r>
              <a:rPr lang="en-US" altLang="ko-KR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교육의 변화</a:t>
            </a:r>
            <a:endParaRPr lang="en-US" altLang="ko-KR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2400" cap="none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57942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EFB76-A769-EBD0-CDC3-D96A24A61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E4CE0A7-92F0-A13E-EAB1-4A70126D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79D5AA-51D8-E627-0838-1A646DDE25AC}"/>
              </a:ext>
            </a:extLst>
          </p:cNvPr>
          <p:cNvSpPr txBox="1"/>
          <p:nvPr/>
        </p:nvSpPr>
        <p:spPr>
          <a:xfrm>
            <a:off x="1521729" y="2251197"/>
            <a:ext cx="8346172" cy="149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교사인 나는 학생들에게 무엇을 어떻게 가르쳐야 하지</a:t>
            </a:r>
            <a:r>
              <a:rPr lang="en-US" altLang="ko-KR" sz="32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sz="3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37747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BBC28-E343-3EC9-71CA-AB663FCF5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A8C696-895D-C6E6-C9DA-9817BB984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E0D118D-6E80-4688-6D49-D2D08A8D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5B11978B-6E15-7CB6-94B3-05A4B5D0B4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4608" y="1261578"/>
                <a:ext cx="10962783" cy="2386497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지름이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1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인 원이 존재하며 그 둘레를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라고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한다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피타고라스 정리를 이용한 두 점사이의 거리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(L2)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이외 어떠한 수학공식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함수는 사용하지 않고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원주율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구하는 코드를 제시하고 토론하라</a:t>
                </a:r>
                <a:endParaRPr lang="en-US" altLang="ko-KR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5B11978B-6E15-7CB6-94B3-05A4B5D0B4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4608" y="1261578"/>
                <a:ext cx="10962783" cy="2386497"/>
              </a:xfrm>
              <a:blipFill>
                <a:blip r:embed="rId2"/>
                <a:stretch>
                  <a:fillRect l="-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그룹 18">
            <a:extLst>
              <a:ext uri="{FF2B5EF4-FFF2-40B4-BE49-F238E27FC236}">
                <a16:creationId xmlns:a16="http://schemas.microsoft.com/office/drawing/2014/main" id="{09579038-E13D-D991-40D1-55EA84023D52}"/>
              </a:ext>
            </a:extLst>
          </p:cNvPr>
          <p:cNvGrpSpPr/>
          <p:nvPr/>
        </p:nvGrpSpPr>
        <p:grpSpPr>
          <a:xfrm>
            <a:off x="6362700" y="4076700"/>
            <a:ext cx="1266825" cy="1266825"/>
            <a:chOff x="7572375" y="3219450"/>
            <a:chExt cx="1266825" cy="1266825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AB6EF399-39DC-FDA3-9D9A-860347DEA39F}"/>
                </a:ext>
              </a:extLst>
            </p:cNvPr>
            <p:cNvSpPr/>
            <p:nvPr/>
          </p:nvSpPr>
          <p:spPr>
            <a:xfrm>
              <a:off x="7572375" y="3219450"/>
              <a:ext cx="1266825" cy="1266825"/>
            </a:xfrm>
            <a:prstGeom prst="ellips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C76968DB-6CB1-FCCB-4542-56E86B63398F}"/>
                </a:ext>
              </a:extLst>
            </p:cNvPr>
            <p:cNvCxnSpPr>
              <a:stCxn id="20" idx="0"/>
              <a:endCxn id="20" idx="4"/>
            </p:cNvCxnSpPr>
            <p:nvPr/>
          </p:nvCxnSpPr>
          <p:spPr>
            <a:xfrm>
              <a:off x="8205788" y="3219450"/>
              <a:ext cx="0" cy="126682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752005EC-171E-A258-B6A3-337E6C4D4009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2800350" y="5343525"/>
            <a:ext cx="4195763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0B46FFD-A1C4-3EF1-AA5F-BA30250E559F}"/>
              </a:ext>
            </a:extLst>
          </p:cNvPr>
          <p:cNvSpPr txBox="1"/>
          <p:nvPr/>
        </p:nvSpPr>
        <p:spPr>
          <a:xfrm>
            <a:off x="3486150" y="5486400"/>
            <a:ext cx="3438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3.142857…… </a:t>
            </a:r>
            <a:r>
              <a:rPr lang="ko-KR" altLang="en-US" dirty="0" err="1"/>
              <a:t>무한소수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D498B4-E8BE-C00F-62B5-AD3BC19E47AF}"/>
              </a:ext>
            </a:extLst>
          </p:cNvPr>
          <p:cNvSpPr txBox="1"/>
          <p:nvPr/>
        </p:nvSpPr>
        <p:spPr>
          <a:xfrm>
            <a:off x="7781925" y="4525446"/>
            <a:ext cx="1152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지름 </a:t>
            </a:r>
            <a:r>
              <a:rPr lang="en-US" altLang="ko-KR" dirty="0"/>
              <a:t>=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18653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FC214-9933-926A-13AA-0354966F2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7082A12-E8F3-58A3-ACF8-CED699B7F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6B4DB0A-17C7-A23E-2C07-5A3B447A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36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7242DE-AAA7-83AF-EDD0-651EF4E51900}"/>
              </a:ext>
            </a:extLst>
          </p:cNvPr>
          <p:cNvSpPr txBox="1"/>
          <p:nvPr/>
        </p:nvSpPr>
        <p:spPr>
          <a:xfrm>
            <a:off x="990599" y="1344971"/>
            <a:ext cx="6619875" cy="448648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epsilon = 0.000001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 = 0.5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total_distance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0.0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 = r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while x &gt; 0.0: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max(x - epsilon, 0.0)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y1 = (r**2 - x**2) ** 0.5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y2 = (r**2 -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**2) ** 0.5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피타고라스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두 점 사이 거리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total_distance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+= ((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- x)**2 + (y2 - y1)**2) ** 0.5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x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x_next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el-G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π ≈ {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total_distance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* 4 / (2 * r):.10f}")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6C5AAAD-1C32-4FE1-C2CC-B9A0966AE0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77150" y="1344971"/>
            <a:ext cx="4273607" cy="397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1812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7FDEB-CDDB-D0A9-2A5B-3FFD965F7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436641B-9AE8-519F-D7B0-96174191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37</a:t>
            </a:fld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94030CA-C024-2A23-DD02-E8ED5196A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723" y="2030475"/>
            <a:ext cx="6305501" cy="34845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12D4ED3-C7F5-B87F-9AA4-5D7357158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57" y="2030475"/>
            <a:ext cx="5351493" cy="41967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024A35-FAB5-9493-A5DE-13A88C9BD303}"/>
              </a:ext>
            </a:extLst>
          </p:cNvPr>
          <p:cNvSpPr txBox="1"/>
          <p:nvPr/>
        </p:nvSpPr>
        <p:spPr>
          <a:xfrm>
            <a:off x="258780" y="1501566"/>
            <a:ext cx="3008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Project</a:t>
            </a:r>
            <a:r>
              <a:rPr lang="ko-KR" altLang="en-US" sz="18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Requirement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3F3B2A-853C-F45E-E8C3-E8ED3B2ABB4E}"/>
              </a:ext>
            </a:extLst>
          </p:cNvPr>
          <p:cNvSpPr txBox="1"/>
          <p:nvPr/>
        </p:nvSpPr>
        <p:spPr>
          <a:xfrm>
            <a:off x="5781723" y="1501566"/>
            <a:ext cx="3008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Service Application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9ADA5CC5-279D-64A4-5147-45F390EE3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Portfiolio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E3B3374-0C4F-409F-8BF3-E9F74C2991EC}"/>
              </a:ext>
            </a:extLst>
          </p:cNvPr>
          <p:cNvCxnSpPr/>
          <p:nvPr/>
        </p:nvCxnSpPr>
        <p:spPr>
          <a:xfrm>
            <a:off x="3686175" y="1676400"/>
            <a:ext cx="13430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2400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B4E89-EF77-7510-7897-50C008AF3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29049AF-BF23-FF40-760F-AC7A2EE85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48F925-BA02-81C1-9AD3-DA6D6A6181E3}"/>
              </a:ext>
            </a:extLst>
          </p:cNvPr>
          <p:cNvSpPr txBox="1"/>
          <p:nvPr/>
        </p:nvSpPr>
        <p:spPr>
          <a:xfrm>
            <a:off x="781050" y="890660"/>
            <a:ext cx="106299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8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학교 교육의 변화</a:t>
            </a:r>
            <a:endParaRPr lang="en-US" altLang="ko-KR" sz="200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endParaRPr lang="en-US" altLang="ko-KR" sz="200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/>
            <a:r>
              <a:rPr lang="ko-KR" altLang="en-US" sz="20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200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sz="20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단순 실습형 수업보다 프로젝트형 수업이 증가</a:t>
            </a:r>
            <a:endParaRPr lang="en-US" altLang="ko-KR" sz="200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altLang="ko-KR" sz="200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sz="20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자격증 준비만 하는 방식에서 포트폴리오 중심으로 변환</a:t>
            </a:r>
            <a:endParaRPr lang="en-US" altLang="ko-KR" sz="200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altLang="ko-KR" sz="200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altLang="ko-KR" sz="20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AI</a:t>
            </a:r>
            <a:r>
              <a:rPr lang="ko-KR" altLang="en-US" sz="20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배우는 과목이 아니라</a:t>
            </a:r>
            <a:r>
              <a:rPr lang="en-US" altLang="ko-KR" sz="20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ko-KR" altLang="en-US" sz="20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전공 도구로 쓰는 방식이 중요</a:t>
            </a:r>
            <a:endParaRPr lang="en-US" altLang="ko-KR" sz="200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endParaRPr lang="en-US" altLang="ko-KR" sz="200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sz="20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학생들은 졸업 전에 실제 산업 문제를 다뤄보는 경험이 더 중요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화살표: 줄무늬가 있는 오른쪽 5">
            <a:extLst>
              <a:ext uri="{FF2B5EF4-FFF2-40B4-BE49-F238E27FC236}">
                <a16:creationId xmlns:a16="http://schemas.microsoft.com/office/drawing/2014/main" id="{0EB16B75-718F-9431-616D-6F7B9BF7801C}"/>
              </a:ext>
            </a:extLst>
          </p:cNvPr>
          <p:cNvSpPr/>
          <p:nvPr/>
        </p:nvSpPr>
        <p:spPr>
          <a:xfrm>
            <a:off x="1762125" y="4696790"/>
            <a:ext cx="8210550" cy="1562100"/>
          </a:xfrm>
          <a:prstGeom prst="stripedRightArrow">
            <a:avLst>
              <a:gd name="adj1" fmla="val 63415"/>
              <a:gd name="adj2" fmla="val 50000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기술을 배우는 방식에서 </a:t>
            </a:r>
            <a:endParaRPr lang="en-US" altLang="ko-KR" sz="20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기술과 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를 함께 써서 문제를 해결</a:t>
            </a:r>
          </a:p>
        </p:txBody>
      </p:sp>
    </p:spTree>
    <p:extLst>
      <p:ext uri="{BB962C8B-B14F-4D97-AF65-F5344CB8AC3E}">
        <p14:creationId xmlns:p14="http://schemas.microsoft.com/office/powerpoint/2010/main" val="6846375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A04A5-BCF3-8347-3622-2641BE161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54A4577-AF6B-332A-F645-68C86CE7F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39</a:t>
            </a:fld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8D8B4C-B4E9-CC4D-4B95-DB14FD08EF2D}"/>
              </a:ext>
            </a:extLst>
          </p:cNvPr>
          <p:cNvSpPr/>
          <p:nvPr/>
        </p:nvSpPr>
        <p:spPr>
          <a:xfrm>
            <a:off x="971550" y="1399464"/>
            <a:ext cx="3324225" cy="2476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Problem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Issue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Requirement</a:t>
            </a:r>
            <a:endParaRPr lang="ko-KR" alt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1B0CDE-22FA-198B-43A5-1B5E872296DE}"/>
              </a:ext>
            </a:extLst>
          </p:cNvPr>
          <p:cNvSpPr txBox="1"/>
          <p:nvPr/>
        </p:nvSpPr>
        <p:spPr>
          <a:xfrm>
            <a:off x="6838950" y="2465535"/>
            <a:ext cx="3600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해결하는 역량</a:t>
            </a:r>
            <a:endParaRPr lang="ko-KR" altLang="en-US" sz="280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6D3B800-91B0-519E-617A-820186D0C974}"/>
              </a:ext>
            </a:extLst>
          </p:cNvPr>
          <p:cNvCxnSpPr/>
          <p:nvPr/>
        </p:nvCxnSpPr>
        <p:spPr>
          <a:xfrm>
            <a:off x="5286375" y="2696367"/>
            <a:ext cx="80962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7E9C5CD-546F-53B1-0E0B-7C97C5E6C37E}"/>
              </a:ext>
            </a:extLst>
          </p:cNvPr>
          <p:cNvSpPr txBox="1"/>
          <p:nvPr/>
        </p:nvSpPr>
        <p:spPr>
          <a:xfrm>
            <a:off x="7177741" y="3283829"/>
            <a:ext cx="4309409" cy="1427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문제를 정의하는 능력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를 활용하는 능력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결과를 검토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수정하는 능력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068293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5213F-0970-37DE-62E2-ABBCC9939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D174E62-742B-79B5-0C35-A4B169C4C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40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8559AA-28E0-92E4-F316-01189E8E8A4A}"/>
              </a:ext>
            </a:extLst>
          </p:cNvPr>
          <p:cNvSpPr txBox="1"/>
          <p:nvPr/>
        </p:nvSpPr>
        <p:spPr>
          <a:xfrm>
            <a:off x="569228" y="812922"/>
            <a:ext cx="10621511" cy="1850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기초 이론 교육 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선형대수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통계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자료구조론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데이터베이스 구조 등 기초 교육을 강화하여 생각할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수있는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역량을 키워야 함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AFC958-BABD-B9A9-930A-B601D8F75BE5}"/>
              </a:ext>
            </a:extLst>
          </p:cNvPr>
          <p:cNvSpPr txBox="1"/>
          <p:nvPr/>
        </p:nvSpPr>
        <p:spPr>
          <a:xfrm>
            <a:off x="569227" y="3040601"/>
            <a:ext cx="10621511" cy="268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탑다운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(Top-Down)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방식으로의 전환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기존 방식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(Bottom-Up):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기초 문법이나 이론부터 차근차근 배워서 문제를 푸는 방식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새로운 방식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(Top-Down):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이제는 ‘해결해야 할 문제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전체 그림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)’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먼저 정의하고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이를 해결하기 위해 거꾸로 세부적인 내용을 파고드는 방식이 필요</a:t>
            </a:r>
          </a:p>
        </p:txBody>
      </p:sp>
    </p:spTree>
    <p:extLst>
      <p:ext uri="{BB962C8B-B14F-4D97-AF65-F5344CB8AC3E}">
        <p14:creationId xmlns:p14="http://schemas.microsoft.com/office/powerpoint/2010/main" val="34420475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0144B-11B1-5727-DE61-A49F2B51A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40F5225-70BC-C91D-B5E2-7FCF801AC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41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B21698-6850-899C-67AF-369F9BA02093}"/>
              </a:ext>
            </a:extLst>
          </p:cNvPr>
          <p:cNvSpPr txBox="1"/>
          <p:nvPr/>
        </p:nvSpPr>
        <p:spPr>
          <a:xfrm>
            <a:off x="569228" y="812922"/>
            <a:ext cx="11241772" cy="3927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LLM(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인공지능</a:t>
            </a: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의 역할 변화</a:t>
            </a: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‘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해답지’가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아닌 ‘드릴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(Drill)’-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과거처럼 교수나 강사에게 의존할 필요가 없어졌음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에게 단순히 답을 달라고 요청하는 것에 그치지 않고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질문을 끊임없이 세분화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(Drill down)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하며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질문하는 과정을 통해 전체 프로세스를 스스로 이해해 나가는 것</a:t>
            </a:r>
          </a:p>
        </p:txBody>
      </p:sp>
    </p:spTree>
    <p:extLst>
      <p:ext uri="{BB962C8B-B14F-4D97-AF65-F5344CB8AC3E}">
        <p14:creationId xmlns:p14="http://schemas.microsoft.com/office/powerpoint/2010/main" val="567569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5547</TotalTime>
  <Words>1361</Words>
  <Application>Microsoft Office PowerPoint</Application>
  <PresentationFormat>와이드스크린</PresentationFormat>
  <Paragraphs>235</Paragraphs>
  <Slides>41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53" baseType="lpstr">
      <vt:lpstr>D2Coding</vt:lpstr>
      <vt:lpstr>Helvetica Neue</vt:lpstr>
      <vt:lpstr>맑은 고딕</vt:lpstr>
      <vt:lpstr>맑은 고딕 Semilight</vt:lpstr>
      <vt:lpstr>한컴 말랑말랑 Bold</vt:lpstr>
      <vt:lpstr>Arial</vt:lpstr>
      <vt:lpstr>Cambria Math</vt:lpstr>
      <vt:lpstr>Century Gothic</vt:lpstr>
      <vt:lpstr>Times New Roman</vt:lpstr>
      <vt:lpstr>Wingdings</vt:lpstr>
      <vt:lpstr>Wingdings 3</vt:lpstr>
      <vt:lpstr>이온</vt:lpstr>
      <vt:lpstr>AI literacy</vt:lpstr>
      <vt:lpstr>Contents</vt:lpstr>
      <vt:lpstr>PowerPoint 프레젠테이션</vt:lpstr>
      <vt:lpstr>AI Literacy</vt:lpstr>
      <vt:lpstr>Contents</vt:lpstr>
      <vt:lpstr>PowerPoint 프레젠테이션</vt:lpstr>
      <vt:lpstr>PowerPoint 프레젠테이션</vt:lpstr>
      <vt:lpstr>PowerPoint 프레젠테이션</vt:lpstr>
      <vt:lpstr>How to classify ?</vt:lpstr>
      <vt:lpstr>Supervised Learning </vt:lpstr>
      <vt:lpstr>Unsupervised Learning </vt:lpstr>
      <vt:lpstr>PowerPoint 프레젠테이션</vt:lpstr>
      <vt:lpstr>PowerPoint 프레젠테이션</vt:lpstr>
      <vt:lpstr>PowerPoint 프레젠테이션</vt:lpstr>
      <vt:lpstr>PowerPoint 프레젠테이션</vt:lpstr>
      <vt:lpstr>Deep Learning </vt:lpstr>
      <vt:lpstr>Matrix Transformation </vt:lpstr>
      <vt:lpstr>Deep Learning Playground</vt:lpstr>
      <vt:lpstr>Word to Vector 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Problem</vt:lpstr>
      <vt:lpstr>Solving</vt:lpstr>
      <vt:lpstr>Portfiolio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Sanggoo Cho</cp:lastModifiedBy>
  <cp:revision>77</cp:revision>
  <dcterms:created xsi:type="dcterms:W3CDTF">2026-04-11T22:24:40Z</dcterms:created>
  <dcterms:modified xsi:type="dcterms:W3CDTF">2026-06-16T23:38:00Z</dcterms:modified>
</cp:coreProperties>
</file>