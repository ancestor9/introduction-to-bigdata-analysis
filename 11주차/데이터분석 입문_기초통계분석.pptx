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1" r:id="rId15"/>
    <p:sldId id="292" r:id="rId16"/>
    <p:sldId id="293" r:id="rId17"/>
    <p:sldId id="294" r:id="rId18"/>
    <p:sldId id="296" r:id="rId19"/>
    <p:sldId id="297" r:id="rId20"/>
    <p:sldId id="298" r:id="rId21"/>
    <p:sldId id="270" r:id="rId22"/>
    <p:sldId id="272" r:id="rId23"/>
    <p:sldId id="271" r:id="rId24"/>
    <p:sldId id="274" r:id="rId25"/>
    <p:sldId id="280" r:id="rId26"/>
    <p:sldId id="275" r:id="rId27"/>
    <p:sldId id="276" r:id="rId28"/>
    <p:sldId id="277" r:id="rId29"/>
    <p:sldId id="278" r:id="rId30"/>
    <p:sldId id="279" r:id="rId31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673" autoAdjust="0"/>
    <p:restoredTop sz="94660"/>
  </p:normalViewPr>
  <p:slideViewPr>
    <p:cSldViewPr>
      <p:cViewPr varScale="1">
        <p:scale>
          <a:sx n="85" d="100"/>
          <a:sy n="85" d="100"/>
        </p:scale>
        <p:origin x="883" y="58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2025-07-23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2025-07-23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37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2406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129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7626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669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5654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0011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882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2627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9003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2608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0326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0487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944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481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1407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94226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86491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4954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5577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82335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64318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3591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41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2025-07-23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2025-07-23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2025-07-23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2025-07-23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2025-07-23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2025-07-23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2025-07-23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2025-07-23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2025-07-23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2025-07-23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2025-07-23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2025-07-23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.autodesk.com/publications/same-stats-different-graph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9756" y="188641"/>
            <a:ext cx="5846439" cy="3168352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데이터분석입문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sz="3200" b="1" dirty="0"/>
              <a:t>- </a:t>
            </a:r>
            <a:r>
              <a:rPr lang="ko-KR" altLang="en-US" sz="3200" b="1" dirty="0"/>
              <a:t>기초 통계분석 </a:t>
            </a:r>
            <a:r>
              <a:rPr lang="en-US" altLang="ko-KR" sz="3200" b="1" dirty="0"/>
              <a:t>–</a:t>
            </a:r>
            <a:br>
              <a:rPr lang="en-US" altLang="ko-KR" sz="3200" b="1" dirty="0"/>
            </a:br>
            <a:r>
              <a:rPr lang="en-US" altLang="ko-KR" sz="3200" b="1" dirty="0"/>
              <a:t>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55C922A5-7717-0F9B-F51E-881D152F1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013" y="4293096"/>
            <a:ext cx="3962400" cy="1879104"/>
          </a:xfrm>
        </p:spPr>
        <p:txBody>
          <a:bodyPr>
            <a:normAutofit/>
          </a:bodyPr>
          <a:lstStyle/>
          <a:p>
            <a:pPr algn="ctr">
              <a:lnSpc>
                <a:spcPct val="170000"/>
              </a:lnSpc>
            </a:pPr>
            <a:r>
              <a:rPr lang="ko-KR" altLang="en-US" dirty="0"/>
              <a:t>경복대학교</a:t>
            </a:r>
            <a:endParaRPr lang="en-US" altLang="ko-KR" dirty="0"/>
          </a:p>
          <a:p>
            <a:pPr algn="ctr">
              <a:lnSpc>
                <a:spcPct val="170000"/>
              </a:lnSpc>
            </a:pPr>
            <a:r>
              <a:rPr lang="en-US" altLang="ko-KR" dirty="0"/>
              <a:t>2025.07</a:t>
            </a:r>
          </a:p>
          <a:p>
            <a:pPr algn="ctr">
              <a:lnSpc>
                <a:spcPct val="170000"/>
              </a:lnSpc>
            </a:pPr>
            <a:r>
              <a:rPr lang="ko-KR" altLang="en-US" dirty="0" err="1"/>
              <a:t>조상구</a:t>
            </a:r>
            <a:r>
              <a:rPr lang="ko-KR" altLang="en-US" dirty="0"/>
              <a:t> 교수</a:t>
            </a:r>
          </a:p>
        </p:txBody>
      </p:sp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1268760"/>
            <a:ext cx="8890594" cy="4622186"/>
          </a:xfrm>
          <a:prstGeom prst="rect">
            <a:avLst/>
          </a:prstGeom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6221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92" y="908720"/>
            <a:ext cx="8556891" cy="5104724"/>
          </a:xfrm>
          <a:prstGeom prst="rect">
            <a:avLst/>
          </a:prstGeom>
        </p:spPr>
      </p:pic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01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pic>
        <p:nvPicPr>
          <p:cNvPr id="1026" name="Picture 2" descr="빅데이터 시대 표본 추출이 필요할까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020" y="1916832"/>
            <a:ext cx="7304389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33772" y="426325"/>
            <a:ext cx="8280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전수조사</a:t>
            </a:r>
            <a:r>
              <a:rPr lang="en-US" altLang="ko-KR" sz="2000" b="1" dirty="0"/>
              <a:t>(Census)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표본조사</a:t>
            </a:r>
            <a:r>
              <a:rPr lang="en-US" altLang="ko-KR" sz="2000" b="1" dirty="0"/>
              <a:t>(Sampling)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053852" y="4581128"/>
            <a:ext cx="187262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err="1">
                <a:solidFill>
                  <a:srgbClr val="0070C0"/>
                </a:solidFill>
              </a:rPr>
              <a:t>모수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(parameter)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rgbClr val="0070C0"/>
                </a:solidFill>
              </a:rPr>
              <a:t>모집단 평균</a:t>
            </a:r>
            <a:endParaRPr lang="en-US" altLang="ko-KR" sz="1600" b="1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rgbClr val="0070C0"/>
                </a:solidFill>
              </a:rPr>
              <a:t>모집단</a:t>
            </a:r>
            <a:r>
              <a:rPr lang="en-US" altLang="ko-KR" sz="1600" b="1" dirty="0">
                <a:solidFill>
                  <a:srgbClr val="0070C0"/>
                </a:solidFill>
              </a:rPr>
              <a:t> </a:t>
            </a:r>
            <a:r>
              <a:rPr lang="ko-KR" altLang="en-US" sz="1600" b="1" dirty="0">
                <a:solidFill>
                  <a:srgbClr val="0070C0"/>
                </a:solidFill>
              </a:rPr>
              <a:t>분산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982844" y="3284984"/>
            <a:ext cx="187262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err="1">
                <a:solidFill>
                  <a:srgbClr val="0070C0"/>
                </a:solidFill>
              </a:rPr>
              <a:t>모수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(parameter)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rgbClr val="0070C0"/>
                </a:solidFill>
              </a:rPr>
              <a:t>표본 평균</a:t>
            </a:r>
            <a:endParaRPr lang="en-US" altLang="ko-KR" sz="1600" b="1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rgbClr val="0070C0"/>
                </a:solidFill>
              </a:rPr>
              <a:t>표본 분산 등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77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44" y="476672"/>
            <a:ext cx="9748245" cy="560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36" y="692696"/>
            <a:ext cx="9838746" cy="532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6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52" y="908720"/>
            <a:ext cx="9046658" cy="365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9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507050"/>
            <a:ext cx="7667569" cy="60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2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993" y="330079"/>
            <a:ext cx="8841742" cy="620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3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64" y="764704"/>
            <a:ext cx="7920880" cy="547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1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96" y="691942"/>
            <a:ext cx="7993330" cy="5664409"/>
          </a:xfrm>
          <a:prstGeom prst="rect">
            <a:avLst/>
          </a:prstGeom>
        </p:spPr>
      </p:pic>
      <p:pic>
        <p:nvPicPr>
          <p:cNvPr id="2050" name="Picture 2" descr="통계 상식] 상자 그림 (Box Plot) : 네이버 블로그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313" y="4052095"/>
            <a:ext cx="4608512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38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171" y="692696"/>
            <a:ext cx="8285378" cy="557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4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764704"/>
            <a:ext cx="9325163" cy="515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8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332656"/>
            <a:ext cx="9009202" cy="628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1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641" y="476672"/>
            <a:ext cx="8950072" cy="606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2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64" y="692696"/>
            <a:ext cx="8363603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6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4" y="404664"/>
            <a:ext cx="8656065" cy="602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65820" y="764704"/>
            <a:ext cx="78808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기술 통계분석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(Descriptive Statistics </a:t>
            </a:r>
            <a:r>
              <a:rPr lang="en-US" altLang="ko-KR" sz="2800" b="1" dirty="0" err="1">
                <a:solidFill>
                  <a:srgbClr val="313131"/>
                </a:solidFill>
                <a:latin typeface="PT Sans"/>
              </a:rPr>
              <a:t>Analyssis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)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1053852" y="1988840"/>
            <a:ext cx="1094521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solidFill>
                  <a:srgbClr val="040C28"/>
                </a:solidFill>
                <a:latin typeface="Apple SD Gothic Neo"/>
              </a:rPr>
              <a:t>모집단으로부터 수집된 데이터를 잘 요약하여 모집단에 대하여 유용한 정보를 생산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한다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>
                <a:solidFill>
                  <a:srgbClr val="202124"/>
                </a:solidFill>
                <a:latin typeface="Apple SD Gothic Neo"/>
              </a:rPr>
              <a:t>기술통계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 분석에서는 데이터를 그래프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, 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표 또는 </a:t>
            </a:r>
            <a:r>
              <a:rPr lang="ko-KR" altLang="en-US" sz="2000" dirty="0" err="1">
                <a:solidFill>
                  <a:srgbClr val="202124"/>
                </a:solidFill>
                <a:latin typeface="Apple SD Gothic Neo"/>
              </a:rPr>
              <a:t>대표값을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 나타내는 숫자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(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통계량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)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로 요약한다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우리는 실생활에서 많은 </a:t>
            </a:r>
            <a:r>
              <a:rPr lang="ko-KR" altLang="en-US" sz="2000" dirty="0" err="1">
                <a:solidFill>
                  <a:srgbClr val="202124"/>
                </a:solidFill>
                <a:latin typeface="Apple SD Gothic Neo"/>
              </a:rPr>
              <a:t>기술통계</a:t>
            </a:r>
            <a:r>
              <a:rPr lang="ko-KR" altLang="en-US" sz="2000" dirty="0">
                <a:solidFill>
                  <a:srgbClr val="202124"/>
                </a:solidFill>
                <a:latin typeface="Apple SD Gothic Neo"/>
              </a:rPr>
              <a:t> 분석 자료를 접할 수 있다</a:t>
            </a:r>
            <a:r>
              <a:rPr lang="en-US" altLang="ko-KR" sz="2000" dirty="0">
                <a:solidFill>
                  <a:srgbClr val="202124"/>
                </a:solidFill>
                <a:latin typeface="Apple SD Gothic Neo"/>
              </a:rPr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940" y="548680"/>
            <a:ext cx="8628091" cy="591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5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620688"/>
            <a:ext cx="8719541" cy="602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2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252" y="1732891"/>
            <a:ext cx="7323814" cy="1915163"/>
          </a:xfrm>
          <a:prstGeom prst="rect">
            <a:avLst/>
          </a:prstGeom>
        </p:spPr>
      </p:pic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77869"/>
              </p:ext>
            </p:extLst>
          </p:nvPr>
        </p:nvGraphicFramePr>
        <p:xfrm>
          <a:off x="1465388" y="3861048"/>
          <a:ext cx="8691966" cy="1944215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356911">
                  <a:extLst>
                    <a:ext uri="{9D8B030D-6E8A-4147-A177-3AD203B41FA5}">
                      <a16:colId xmlns:a16="http://schemas.microsoft.com/office/drawing/2014/main" val="1244400802"/>
                    </a:ext>
                  </a:extLst>
                </a:gridCol>
                <a:gridCol w="3856484">
                  <a:extLst>
                    <a:ext uri="{9D8B030D-6E8A-4147-A177-3AD203B41FA5}">
                      <a16:colId xmlns:a16="http://schemas.microsoft.com/office/drawing/2014/main" val="1653387009"/>
                    </a:ext>
                  </a:extLst>
                </a:gridCol>
                <a:gridCol w="3478571">
                  <a:extLst>
                    <a:ext uri="{9D8B030D-6E8A-4147-A177-3AD203B41FA5}">
                      <a16:colId xmlns:a16="http://schemas.microsoft.com/office/drawing/2014/main" val="1356363407"/>
                    </a:ext>
                  </a:extLst>
                </a:gridCol>
              </a:tblGrid>
              <a:tr h="388843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27816" marR="27816" marT="18544" marB="18544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막대그래프</a:t>
                      </a:r>
                    </a:p>
                  </a:txBody>
                  <a:tcPr marL="27816" marR="27816" marT="18544" marB="18544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히스토그램</a:t>
                      </a:r>
                    </a:p>
                  </a:txBody>
                  <a:tcPr marL="27816" marR="27816" marT="18544" marB="18544" anchor="b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782737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 유형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범주적 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종교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직업 등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연속적 </a:t>
                      </a:r>
                      <a:r>
                        <a:rPr lang="en-US" altLang="ko-KR" sz="1600" b="1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600" b="1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몸무게</a:t>
                      </a:r>
                      <a:r>
                        <a:rPr lang="en-US" altLang="ko-KR" sz="1600" b="1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600" b="1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성적 등</a:t>
                      </a:r>
                      <a:r>
                        <a:rPr lang="en-US" altLang="ko-KR" sz="1600" b="1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0" marR="0" marT="18544" marB="18544" anchor="b"/>
                </a:tc>
                <a:extLst>
                  <a:ext uri="{0D108BD9-81ED-4DB2-BD59-A6C34878D82A}">
                    <a16:rowId xmlns:a16="http://schemas.microsoft.com/office/drawing/2014/main" val="3062187749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막대 순서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임의적으로 변경 가능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변경 불가능</a:t>
                      </a:r>
                    </a:p>
                  </a:txBody>
                  <a:tcPr marL="27816" marR="27816" marT="18544" marB="18544" anchor="b"/>
                </a:tc>
                <a:extLst>
                  <a:ext uri="{0D108BD9-81ED-4DB2-BD59-A6C34878D82A}">
                    <a16:rowId xmlns:a16="http://schemas.microsoft.com/office/drawing/2014/main" val="2984857083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 sz="1600" b="1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막대 간격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일정한 간격 유지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간격 없이 표현</a:t>
                      </a:r>
                    </a:p>
                  </a:txBody>
                  <a:tcPr marL="27816" marR="27816" marT="18544" marB="18544" anchor="b"/>
                </a:tc>
                <a:extLst>
                  <a:ext uri="{0D108BD9-81ED-4DB2-BD59-A6C34878D82A}">
                    <a16:rowId xmlns:a16="http://schemas.microsoft.com/office/drawing/2014/main" val="1216552190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rtl="0" fontAlgn="b"/>
                      <a:r>
                        <a:rPr lang="ko-KR" altLang="en-US" sz="1600" b="1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용도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범주의 비교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순위 표시 등</a:t>
                      </a:r>
                    </a:p>
                  </a:txBody>
                  <a:tcPr marL="27816" marR="27816" marT="18544" marB="18544" anchor="b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 분포 표현</a:t>
                      </a:r>
                    </a:p>
                  </a:txBody>
                  <a:tcPr marL="0" marR="0" marT="18544" marB="18544" anchor="b"/>
                </a:tc>
                <a:extLst>
                  <a:ext uri="{0D108BD9-81ED-4DB2-BD59-A6C34878D82A}">
                    <a16:rowId xmlns:a16="http://schemas.microsoft.com/office/drawing/2014/main" val="39854538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5780" y="561597"/>
            <a:ext cx="4293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막대그래프 </a:t>
            </a:r>
            <a:r>
              <a:rPr lang="en-US" altLang="ko-KR" sz="2800" b="1" dirty="0"/>
              <a:t>vs. </a:t>
            </a:r>
            <a:r>
              <a:rPr lang="ko-KR" altLang="en-US" sz="2800" b="1" dirty="0"/>
              <a:t>히스토그램</a:t>
            </a:r>
          </a:p>
        </p:txBody>
      </p:sp>
    </p:spTree>
    <p:extLst>
      <p:ext uri="{BB962C8B-B14F-4D97-AF65-F5344CB8AC3E}">
        <p14:creationId xmlns:p14="http://schemas.microsoft.com/office/powerpoint/2010/main" val="415975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1052736"/>
            <a:ext cx="7484337" cy="18906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376CFC-486E-30D1-A691-F9EC34422406}"/>
              </a:ext>
            </a:extLst>
          </p:cNvPr>
          <p:cNvSpPr txBox="1"/>
          <p:nvPr/>
        </p:nvSpPr>
        <p:spPr>
          <a:xfrm>
            <a:off x="1989956" y="3645024"/>
            <a:ext cx="10009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 </a:t>
            </a:r>
            <a:r>
              <a:rPr lang="ko-KR" altLang="en-US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개 이산의 변량</a:t>
            </a:r>
            <a:r>
              <a:rPr lang="en-US" altLang="ko-KR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ko-KR" altLang="en-US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변수</a:t>
            </a:r>
            <a:r>
              <a:rPr lang="en-US" altLang="ko-KR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variables)</a:t>
            </a:r>
            <a:r>
              <a:rPr lang="ko-KR" altLang="en-US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에 대한 </a:t>
            </a:r>
            <a:r>
              <a:rPr lang="ko-KR" altLang="en-US" sz="24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다변량</a:t>
            </a:r>
            <a:r>
              <a:rPr lang="en-US" altLang="ko-KR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ko-KR" altLang="en-US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분석</a:t>
            </a:r>
            <a:r>
              <a:rPr lang="en-US" altLang="ko-KR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(Multivariate Analysis)</a:t>
            </a:r>
            <a:endParaRPr lang="ko-KR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18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23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476672"/>
            <a:ext cx="8932152" cy="576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2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24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620688"/>
            <a:ext cx="8992459" cy="568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3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25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371014"/>
            <a:ext cx="8751898" cy="600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2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26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4" y="293380"/>
            <a:ext cx="8737599" cy="606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8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27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795" y="2276872"/>
            <a:ext cx="9305875" cy="351100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66947" y="764704"/>
            <a:ext cx="1088557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 err="1">
                <a:solidFill>
                  <a:srgbClr val="FF0000"/>
                </a:solidFill>
                <a:hlinkClick r:id="rId4"/>
              </a:rPr>
              <a:t>autodesk</a:t>
            </a:r>
            <a:endParaRPr lang="en-US" altLang="ko-KR" sz="2400" dirty="0">
              <a:solidFill>
                <a:srgbClr val="FF0000"/>
              </a:solidFill>
            </a:endParaRPr>
          </a:p>
          <a:p>
            <a:r>
              <a:rPr lang="en-US" altLang="ko-KR" dirty="0"/>
              <a:t>- </a:t>
            </a:r>
            <a:r>
              <a:rPr lang="ko-KR" altLang="en-US" dirty="0">
                <a:hlinkClick r:id="rId4"/>
              </a:rPr>
              <a:t>https://www.research.autodesk.com/publications/same-stats-different-graphs/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869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AACE6D-8EB6-447A-8DFD-C2C0C52916AC}">
  <ds:schemaRefs>
    <ds:schemaRef ds:uri="http://purl.org/dc/dcmitype/"/>
    <ds:schemaRef ds:uri="http://schemas.microsoft.com/office/2006/documentManagement/types"/>
    <ds:schemaRef ds:uri="40262f94-9f35-4ac3-9a90-690165a166b7"/>
    <ds:schemaRef ds:uri="http://purl.org/dc/elements/1.1/"/>
    <ds:schemaRef ds:uri="http://www.w3.org/XML/1998/namespace"/>
    <ds:schemaRef ds:uri="http://purl.org/dc/terms/"/>
    <ds:schemaRef ds:uri="a4f35948-e619-41b3-aa29-22878b09cfd2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434</TotalTime>
  <Words>218</Words>
  <Application>Microsoft Office PowerPoint</Application>
  <PresentationFormat>사용자 지정</PresentationFormat>
  <Paragraphs>88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Apple SD Gothic Neo</vt:lpstr>
      <vt:lpstr>맑은 고딕</vt:lpstr>
      <vt:lpstr>맑은 고딕 Semilight</vt:lpstr>
      <vt:lpstr>Arial</vt:lpstr>
      <vt:lpstr>Calibri Light</vt:lpstr>
      <vt:lpstr>Corbel</vt:lpstr>
      <vt:lpstr>PT Sans</vt:lpstr>
      <vt:lpstr>Wingdings</vt:lpstr>
      <vt:lpstr>마케팅 16x9</vt:lpstr>
      <vt:lpstr>데이터분석입문    - 기초 통계분석 – 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44</cp:revision>
  <dcterms:created xsi:type="dcterms:W3CDTF">2024-06-03T06:10:16Z</dcterms:created>
  <dcterms:modified xsi:type="dcterms:W3CDTF">2025-07-23T02:04:53Z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