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2"/>
  </p:notesMasterIdLst>
  <p:sldIdLst>
    <p:sldId id="256" r:id="rId2"/>
    <p:sldId id="435" r:id="rId3"/>
    <p:sldId id="448" r:id="rId4"/>
    <p:sldId id="449" r:id="rId5"/>
    <p:sldId id="406" r:id="rId6"/>
    <p:sldId id="437" r:id="rId7"/>
    <p:sldId id="439" r:id="rId8"/>
    <p:sldId id="458" r:id="rId9"/>
    <p:sldId id="404" r:id="rId10"/>
    <p:sldId id="405" r:id="rId11"/>
    <p:sldId id="459" r:id="rId12"/>
    <p:sldId id="380" r:id="rId13"/>
    <p:sldId id="381" r:id="rId14"/>
    <p:sldId id="453" r:id="rId15"/>
    <p:sldId id="399" r:id="rId16"/>
    <p:sldId id="388" r:id="rId17"/>
    <p:sldId id="389" r:id="rId18"/>
    <p:sldId id="441" r:id="rId19"/>
    <p:sldId id="385" r:id="rId20"/>
    <p:sldId id="440" r:id="rId21"/>
    <p:sldId id="454" r:id="rId22"/>
    <p:sldId id="379" r:id="rId23"/>
    <p:sldId id="396" r:id="rId24"/>
    <p:sldId id="434" r:id="rId25"/>
    <p:sldId id="460" r:id="rId26"/>
    <p:sldId id="401" r:id="rId27"/>
    <p:sldId id="433" r:id="rId28"/>
    <p:sldId id="382" r:id="rId29"/>
    <p:sldId id="457" r:id="rId30"/>
    <p:sldId id="450" r:id="rId31"/>
    <p:sldId id="451" r:id="rId32"/>
    <p:sldId id="432" r:id="rId33"/>
    <p:sldId id="407" r:id="rId34"/>
    <p:sldId id="397" r:id="rId35"/>
    <p:sldId id="452" r:id="rId36"/>
    <p:sldId id="446" r:id="rId37"/>
    <p:sldId id="421" r:id="rId38"/>
    <p:sldId id="410" r:id="rId39"/>
    <p:sldId id="422" r:id="rId40"/>
    <p:sldId id="447" r:id="rId41"/>
    <p:sldId id="411" r:id="rId42"/>
    <p:sldId id="423" r:id="rId43"/>
    <p:sldId id="455" r:id="rId44"/>
    <p:sldId id="413" r:id="rId45"/>
    <p:sldId id="414" r:id="rId46"/>
    <p:sldId id="362" r:id="rId47"/>
    <p:sldId id="307" r:id="rId48"/>
    <p:sldId id="425" r:id="rId49"/>
    <p:sldId id="424" r:id="rId50"/>
    <p:sldId id="456" r:id="rId5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jpeg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goe.go.kr/goe/na/ntt/selectNttInfo.do?nttSn=2349695&amp;mi=10102&amp;searchAt1=&amp;searchValue1=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v9VJt085HXY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svg"/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9.jpeg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gi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s231n.stanford.edu/" TargetMode="Externa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microsoft.com/office/2007/relationships/hdphoto" Target="../media/hdphoto1.wdp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informationisbeautiful.net/visualizations/the-rise-of-generative-ai-large-language-models-llms-like-chatgpt/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2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5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700" y="924580"/>
            <a:ext cx="10465545" cy="1362075"/>
          </a:xfrm>
        </p:spPr>
        <p:txBody>
          <a:bodyPr/>
          <a:lstStyle/>
          <a:p>
            <a:r>
              <a:rPr lang="en-US" altLang="ko-KR" sz="6000" dirty="0">
                <a:solidFill>
                  <a:schemeClr val="tx1"/>
                </a:solidFill>
              </a:rPr>
              <a:t>AI </a:t>
            </a:r>
            <a:r>
              <a:rPr lang="ko-KR" altLang="en-US" sz="6000" dirty="0">
                <a:solidFill>
                  <a:schemeClr val="tx1"/>
                </a:solidFill>
              </a:rPr>
              <a:t>역량강화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188915"/>
            <a:ext cx="8825658" cy="19928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400" cap="none" dirty="0"/>
              <a:t>2026.6.24(</a:t>
            </a:r>
            <a:r>
              <a:rPr lang="ko-KR" altLang="en-US" sz="2400" cap="none" dirty="0"/>
              <a:t>수</a:t>
            </a:r>
            <a:r>
              <a:rPr lang="en-US" altLang="ko-KR" sz="2400" cap="none" dirty="0"/>
              <a:t>)</a:t>
            </a:r>
          </a:p>
          <a:p>
            <a:r>
              <a:rPr lang="ko-KR" altLang="en-US" cap="none" dirty="0"/>
              <a:t>조 상구 교수</a:t>
            </a:r>
            <a:endParaRPr lang="en-US" altLang="ko-KR" cap="none" dirty="0"/>
          </a:p>
          <a:p>
            <a:r>
              <a:rPr lang="ko-KR" altLang="en-US" cap="none" dirty="0"/>
              <a:t>소프트웨어융합과 </a:t>
            </a:r>
            <a:r>
              <a:rPr lang="en-US" altLang="ko-KR" cap="none" dirty="0"/>
              <a:t>AI</a:t>
            </a:r>
            <a:r>
              <a:rPr lang="ko-KR" altLang="en-US" cap="none" dirty="0"/>
              <a:t> 빅데이터 전공 </a:t>
            </a:r>
            <a:endParaRPr lang="en-US" altLang="ko-KR" cap="none" dirty="0"/>
          </a:p>
          <a:p>
            <a:r>
              <a:rPr lang="ko-KR" altLang="en-US" cap="none" dirty="0"/>
              <a:t>경복대학교</a:t>
            </a:r>
            <a:endParaRPr lang="ko-KR" altLang="en-US" sz="3200" cap="none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1CCC66CC-0EFF-38FE-0C63-613F04359C1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83530" y="2843152"/>
            <a:ext cx="200247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sz="2800" cap="none" dirty="0">
                <a:solidFill>
                  <a:schemeClr val="tx1"/>
                </a:solidFill>
              </a:rPr>
              <a:t>AI Literacy</a:t>
            </a:r>
            <a:endParaRPr lang="ko-KR" altLang="ko-KR" sz="28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E3365-8B46-8DC7-B3DB-5804A1E6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210BF5-0ED4-818F-8132-C23B48801534}"/>
              </a:ext>
            </a:extLst>
          </p:cNvPr>
          <p:cNvSpPr/>
          <p:nvPr/>
        </p:nvSpPr>
        <p:spPr>
          <a:xfrm>
            <a:off x="1104900" y="149869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036B7A-1839-8911-31B1-8ACD94E17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C31064-70EE-FA5B-F370-E6D2F42FE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015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35A7F-4DF6-4C75-04F9-B1D6A23C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CF6C34-DB60-FD41-194F-1665B9CD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B5736A1-7F3D-8DB7-7510-96902538B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745" y="2105025"/>
            <a:ext cx="5776911" cy="361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0C3D7D6-CC9A-5C17-F412-7C8E166F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2025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생성형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7" name="그래픽 6" descr="조금 굽은 화살표">
            <a:extLst>
              <a:ext uri="{FF2B5EF4-FFF2-40B4-BE49-F238E27FC236}">
                <a16:creationId xmlns:a16="http://schemas.microsoft.com/office/drawing/2014/main" id="{6D08B07E-E568-4C06-9AE5-18B95B5B1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9100" y="562749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C581AC35-CA43-BB4F-0F55-93744C53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49" y="2105025"/>
            <a:ext cx="4239101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7">
            <a:extLst>
              <a:ext uri="{FF2B5EF4-FFF2-40B4-BE49-F238E27FC236}">
                <a16:creationId xmlns:a16="http://schemas.microsoft.com/office/drawing/2014/main" id="{01A55B55-9C08-C924-2998-E8492F46D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88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39CAD-391B-1A5A-7C6C-CA0F06718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3F9BE6-163C-A512-962D-1615DEE8E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1" y="591324"/>
            <a:ext cx="6320844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기술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Trend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1CCBAC-7B45-46C7-EFAE-DE3694309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60485"/>
              </p:ext>
            </p:extLst>
          </p:nvPr>
        </p:nvGraphicFramePr>
        <p:xfrm>
          <a:off x="655637" y="1400949"/>
          <a:ext cx="10460038" cy="264717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515835">
                  <a:extLst>
                    <a:ext uri="{9D8B030D-6E8A-4147-A177-3AD203B41FA5}">
                      <a16:colId xmlns:a16="http://schemas.microsoft.com/office/drawing/2014/main" val="2308711996"/>
                    </a:ext>
                  </a:extLst>
                </a:gridCol>
                <a:gridCol w="6944203">
                  <a:extLst>
                    <a:ext uri="{9D8B030D-6E8A-4147-A177-3AD203B41FA5}">
                      <a16:colId xmlns:a16="http://schemas.microsoft.com/office/drawing/2014/main" val="1497260062"/>
                    </a:ext>
                  </a:extLst>
                </a:gridCol>
              </a:tblGrid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트렌드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내용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525987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AI Agent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단순히 질문에 답하는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넘어 스스로 계획하고 실행하는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0327801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Multimodal 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음성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센서 데이터를 동시에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5031982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SLM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 </a:t>
                      </a:r>
                      <a:r>
                        <a:rPr lang="ko-KR" altLang="en-US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온디바이스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거대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뿐 아니라 스마트폰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로봇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자동차에서 동작하는 경량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610667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4. Domain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 중심의</a:t>
                      </a: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AI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활용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전문가보다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활용하는 도메인 전문가 가치 증가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171703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 AI Native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시대 도래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업무 보조가 아니라 업무 수행의 기본 인프라가 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45918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8C7537A-3D69-AECB-B755-133564319E94}"/>
              </a:ext>
            </a:extLst>
          </p:cNvPr>
          <p:cNvSpPr txBox="1"/>
          <p:nvPr/>
        </p:nvSpPr>
        <p:spPr>
          <a:xfrm>
            <a:off x="4337341" y="4584115"/>
            <a:ext cx="70942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'AI</a:t>
            </a:r>
            <a:r>
              <a:rPr lang="ko-KR" altLang="en-US" dirty="0">
                <a:ea typeface="D2Coding" panose="020B0609020101020101" pitchFamily="49" charset="-127"/>
              </a:rPr>
              <a:t>를 활용한 업무 설계 및 문제 해결 능력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중심으로 전환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다양한 데이터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과 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산업현장 맞춤형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역량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강화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전공 지식과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기술의 필수적인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이 실현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dirty="0">
              <a:ea typeface="D2Coding" panose="020B0609020101020101" pitchFamily="49" charset="-127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DEE140B5-3AA1-2578-BC96-74F27122D290}"/>
              </a:ext>
            </a:extLst>
          </p:cNvPr>
          <p:cNvSpPr/>
          <p:nvPr/>
        </p:nvSpPr>
        <p:spPr>
          <a:xfrm>
            <a:off x="2067215" y="4650790"/>
            <a:ext cx="1620838" cy="1257300"/>
          </a:xfrm>
          <a:prstGeom prst="rightArrow">
            <a:avLst>
              <a:gd name="adj1" fmla="val 69697"/>
              <a:gd name="adj2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영향</a:t>
            </a:r>
          </a:p>
        </p:txBody>
      </p:sp>
      <p:sp>
        <p:nvSpPr>
          <p:cNvPr id="4" name="슬라이드 번호 개체 틀 7">
            <a:extLst>
              <a:ext uri="{FF2B5EF4-FFF2-40B4-BE49-F238E27FC236}">
                <a16:creationId xmlns:a16="http://schemas.microsoft.com/office/drawing/2014/main" id="{F9507C2B-7BD9-5C5B-F9ED-4F7E543E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712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1FB41-06FC-9181-5078-05724ECB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3F73EBF3-1A71-2838-3A1D-D2845E779EB4}"/>
              </a:ext>
            </a:extLst>
          </p:cNvPr>
          <p:cNvSpPr txBox="1"/>
          <p:nvPr/>
        </p:nvSpPr>
        <p:spPr>
          <a:xfrm>
            <a:off x="381000" y="491418"/>
            <a:ext cx="7124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경기 직업계고</a:t>
            </a:r>
            <a:r>
              <a:rPr lang="en-US" altLang="ko-KR" dirty="0"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‘</a:t>
            </a:r>
            <a:r>
              <a:rPr lang="ko-KR" altLang="en-US" dirty="0"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수업이 </a:t>
            </a:r>
            <a:r>
              <a:rPr lang="ko-KR" altLang="en-US" dirty="0" err="1"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경력되는</a:t>
            </a:r>
            <a:r>
              <a:rPr lang="ko-KR" altLang="en-US" dirty="0"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인공지능</a:t>
            </a:r>
            <a:r>
              <a:rPr lang="en-US" altLang="ko-KR" dirty="0"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(AI) </a:t>
            </a:r>
            <a:r>
              <a:rPr lang="ko-KR" altLang="en-US" dirty="0"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실무 교육’ 전면 도입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42E9156-6ABF-DCC9-5455-9785699B1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86" y="1173301"/>
            <a:ext cx="10655498" cy="5170349"/>
          </a:xfrm>
          <a:prstGeom prst="rect">
            <a:avLst/>
          </a:prstGeom>
        </p:spPr>
      </p:pic>
      <p:sp>
        <p:nvSpPr>
          <p:cNvPr id="2" name="슬라이드 번호 개체 틀 7">
            <a:extLst>
              <a:ext uri="{FF2B5EF4-FFF2-40B4-BE49-F238E27FC236}">
                <a16:creationId xmlns:a16="http://schemas.microsoft.com/office/drawing/2014/main" id="{12391C52-1CA6-E59A-540F-9B27555ED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0814D87-1309-D28D-0F28-0409398E77B5}"/>
              </a:ext>
            </a:extLst>
          </p:cNvPr>
          <p:cNvSpPr/>
          <p:nvPr/>
        </p:nvSpPr>
        <p:spPr>
          <a:xfrm>
            <a:off x="304800" y="4391025"/>
            <a:ext cx="11058525" cy="62865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0049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7A19A-5EE4-8235-A155-3BCF1889B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ACB920-5461-300B-996D-39D621B9E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1" y="652879"/>
            <a:ext cx="6320844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Capstone Design (</a:t>
            </a:r>
            <a:r>
              <a:rPr kumimoji="0" lang="ko-KR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안</a:t>
            </a:r>
            <a:r>
              <a:rPr kumimoji="0" lang="en-US" altLang="ko-KR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63C4187-B225-55A4-AB88-5EB04DCC50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8961117"/>
              </p:ext>
            </p:extLst>
          </p:nvPr>
        </p:nvGraphicFramePr>
        <p:xfrm>
          <a:off x="527631" y="1374139"/>
          <a:ext cx="10636250" cy="495998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911350">
                  <a:extLst>
                    <a:ext uri="{9D8B030D-6E8A-4147-A177-3AD203B41FA5}">
                      <a16:colId xmlns:a16="http://schemas.microsoft.com/office/drawing/2014/main" val="1455536812"/>
                    </a:ext>
                  </a:extLst>
                </a:gridCol>
                <a:gridCol w="8724900">
                  <a:extLst>
                    <a:ext uri="{9D8B030D-6E8A-4147-A177-3AD203B41FA5}">
                      <a16:colId xmlns:a16="http://schemas.microsoft.com/office/drawing/2014/main" val="95339640"/>
                    </a:ext>
                  </a:extLst>
                </a:gridCol>
              </a:tblGrid>
              <a:tr h="37369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학과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실습과제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5618959"/>
                  </a:ext>
                </a:extLst>
              </a:tr>
              <a:tr h="91725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스마트 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건설자재 관리 웹서비스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자재 입출고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재고 관리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공정 관리 시스템 구축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공사현장 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AI Agent(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안전수칙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공정관리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자재산출 질의응답 시스템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건설현장 안전감시 시스템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(CCTV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기반 안전모 착용 및 위험구역 출입 감지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   </a:t>
                      </a:r>
                      <a:endParaRPr lang="en-US" altLang="ko-KR" sz="1400" dirty="0">
                        <a:solidFill>
                          <a:schemeClr val="bg1"/>
                        </a:solidFill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2747618"/>
                  </a:ext>
                </a:extLst>
              </a:tr>
              <a:tr h="91725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건축인테리어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인테리어 포트폴리오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작품 관리 및 전시용 웹사이트 제작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인테리어 상담 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Agent(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고객 요구사항 기반 스타일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색상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가구 추천</a:t>
                      </a:r>
                      <a:endParaRPr lang="en-US" altLang="ko-KR" sz="1400" dirty="0">
                        <a:solidFill>
                          <a:schemeClr val="bg1"/>
                        </a:solidFill>
                        <a:latin typeface="+mn-lt"/>
                        <a:ea typeface="D2Coding" panose="020B0609020101020101" pitchFamily="49" charset="-127"/>
                      </a:endParaRP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생성형 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리모델링 시스템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공간 사진 기반 리모델링 이미지 생성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1400" dirty="0">
                        <a:solidFill>
                          <a:schemeClr val="bg1"/>
                        </a:solidFill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495835"/>
                  </a:ext>
                </a:extLst>
              </a:tr>
              <a:tr h="91725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스마트전기전자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IoT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환경 모니터링 시스템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온도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습도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조도 데이터 수집 및 시각화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설비관리 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AI Agent(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설비 매뉴얼 검색 및 고장 진단 지원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설비 고장 예측 시스템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센서 데이터를 활용한 이상 탐지 및 예지보전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1400" dirty="0">
                        <a:solidFill>
                          <a:schemeClr val="bg1"/>
                        </a:solidFill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38720"/>
                  </a:ext>
                </a:extLst>
              </a:tr>
              <a:tr h="91725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스마트소프트웨어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학교생활 관리 웹서비스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시간표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과제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출결 관리 서비스 개발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학교생활 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AI Agent(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학사정보 및 진로상담 </a:t>
                      </a:r>
                      <a:r>
                        <a:rPr lang="ko-KR" altLang="en-US" sz="1400" dirty="0" err="1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챗봇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 구현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지역기업 업무자동화 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서비스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기업 민원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재고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고객관리 자동화 솔루션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1400" dirty="0">
                        <a:solidFill>
                          <a:schemeClr val="bg1"/>
                        </a:solidFill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4108708"/>
                  </a:ext>
                </a:extLst>
              </a:tr>
              <a:tr h="91725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뷰티미용과</a:t>
                      </a:r>
                      <a:endParaRPr kumimoji="0" lang="ko-KR" altLang="ko-K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 err="1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뷰티샵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 예약관리 시스템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고객 예약 및 시술 이력 관리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뷰티 컨설턴트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피부타입 진단 및 화장품 추천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퍼스널 뷰티 추천 플랫폼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얼굴형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피부 분석 기반 헤어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메이크업 추천</a:t>
                      </a:r>
                      <a:r>
                        <a:rPr lang="en-US" altLang="ko-KR" sz="1400" dirty="0">
                          <a:solidFill>
                            <a:schemeClr val="bg1"/>
                          </a:solidFill>
                          <a:latin typeface="+mn-lt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1400" dirty="0">
                        <a:solidFill>
                          <a:schemeClr val="bg1"/>
                        </a:solidFill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990292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665D20D-EBC4-260E-E9B1-7A9813B2F8E1}"/>
              </a:ext>
            </a:extLst>
          </p:cNvPr>
          <p:cNvSpPr txBox="1"/>
          <p:nvPr/>
        </p:nvSpPr>
        <p:spPr>
          <a:xfrm>
            <a:off x="438150" y="6413427"/>
            <a:ext cx="1990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ea typeface="D2Coding" panose="020B0609020101020101" pitchFamily="49" charset="-127"/>
              </a:rPr>
              <a:t>출처 </a:t>
            </a:r>
            <a:r>
              <a:rPr lang="en-US" altLang="ko-KR" sz="1400" dirty="0"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ea typeface="D2Coding" panose="020B0609020101020101" pitchFamily="49" charset="-127"/>
              </a:rPr>
              <a:t>chatGPT</a:t>
            </a:r>
            <a:endParaRPr lang="ko-KR" altLang="en-US" sz="1400" dirty="0"/>
          </a:p>
        </p:txBody>
      </p:sp>
      <p:sp>
        <p:nvSpPr>
          <p:cNvPr id="3" name="슬라이드 번호 개체 틀 7">
            <a:extLst>
              <a:ext uri="{FF2B5EF4-FFF2-40B4-BE49-F238E27FC236}">
                <a16:creationId xmlns:a16="http://schemas.microsoft.com/office/drawing/2014/main" id="{6F3884BD-9432-B359-D8A2-461A76146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626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FD5A9-C56E-63E5-B2BD-786EFB613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507766-4152-3DA9-7BBC-ADB92DD336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0" y="591324"/>
            <a:ext cx="830603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3200" dirty="0">
                <a:ea typeface="D2Coding" panose="020B0609020101020101" pitchFamily="49" charset="-127"/>
              </a:rPr>
              <a:t>경복대학교 </a:t>
            </a:r>
            <a:r>
              <a:rPr lang="en-US" altLang="ko-KR" sz="3200" dirty="0">
                <a:ea typeface="D2Coding" panose="020B0609020101020101" pitchFamily="49" charset="-127"/>
              </a:rPr>
              <a:t>2025</a:t>
            </a:r>
            <a:r>
              <a:rPr lang="ko-KR" altLang="en-US" sz="3200" dirty="0">
                <a:ea typeface="D2Coding" panose="020B0609020101020101" pitchFamily="49" charset="-127"/>
              </a:rPr>
              <a:t>년도 </a:t>
            </a:r>
            <a:r>
              <a:rPr lang="en-US" altLang="ko-KR" sz="3200" dirty="0"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Capstone Design</a:t>
            </a:r>
            <a:endParaRPr kumimoji="0" lang="en-US" altLang="ko-KR" sz="3200" i="0" u="none" strike="noStrike" cap="none" normalizeH="0" baseline="0" dirty="0">
              <a:ln>
                <a:noFill/>
              </a:ln>
              <a:effectLst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734ED-2621-5DED-140A-B165B868E48D}"/>
              </a:ext>
            </a:extLst>
          </p:cNvPr>
          <p:cNvSpPr txBox="1"/>
          <p:nvPr/>
        </p:nvSpPr>
        <p:spPr>
          <a:xfrm>
            <a:off x="1724025" y="2057400"/>
            <a:ext cx="6615914" cy="2792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>
                <a:ea typeface="D2Coding" panose="020B0609020101020101" pitchFamily="49" charset="-127"/>
              </a:rPr>
              <a:t>한국어</a:t>
            </a:r>
            <a:r>
              <a:rPr lang="en-US" altLang="ko-KR" sz="2400" dirty="0">
                <a:ea typeface="D2Coding" panose="020B0609020101020101" pitchFamily="49" charset="-127"/>
              </a:rPr>
              <a:t> </a:t>
            </a:r>
            <a:r>
              <a:rPr lang="ko-KR" altLang="en-US" sz="2400" dirty="0">
                <a:ea typeface="D2Coding" panose="020B0609020101020101" pitchFamily="49" charset="-127"/>
              </a:rPr>
              <a:t>음성</a:t>
            </a:r>
            <a:r>
              <a:rPr lang="en-US" altLang="ko-KR" sz="2400" dirty="0">
                <a:ea typeface="D2Coding" panose="020B0609020101020101" pitchFamily="49" charset="-127"/>
              </a:rPr>
              <a:t> </a:t>
            </a:r>
            <a:r>
              <a:rPr lang="ko-KR" altLang="en-US" sz="2400" dirty="0">
                <a:ea typeface="D2Coding" panose="020B0609020101020101" pitchFamily="49" charset="-127"/>
              </a:rPr>
              <a:t>및 </a:t>
            </a:r>
            <a:r>
              <a:rPr lang="ko-KR" altLang="en-US" sz="2400" dirty="0" err="1">
                <a:ea typeface="D2Coding" panose="020B0609020101020101" pitchFamily="49" charset="-127"/>
              </a:rPr>
              <a:t>제스쳐</a:t>
            </a:r>
            <a:r>
              <a:rPr lang="ko-KR" altLang="en-US" sz="2400" dirty="0">
                <a:ea typeface="D2Coding" panose="020B0609020101020101" pitchFamily="49" charset="-127"/>
              </a:rPr>
              <a:t> 인식 제어 </a:t>
            </a:r>
            <a:r>
              <a:rPr lang="ko-KR" altLang="en-US" sz="2400" dirty="0" err="1">
                <a:ea typeface="D2Coding" panose="020B0609020101020101" pitchFamily="49" charset="-127"/>
              </a:rPr>
              <a:t>드론</a:t>
            </a:r>
            <a:endParaRPr lang="en-US" altLang="ko-KR" sz="2400" dirty="0">
              <a:ea typeface="D2Coding" panose="020B0609020101020101" pitchFamily="49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>
                <a:ea typeface="D2Coding" panose="020B0609020101020101" pitchFamily="49" charset="-127"/>
              </a:rPr>
              <a:t>자율주행 자동차</a:t>
            </a:r>
            <a:endParaRPr lang="en-US" altLang="ko-KR" sz="2400" dirty="0">
              <a:ea typeface="D2Coding" panose="020B0609020101020101" pitchFamily="49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>
                <a:ea typeface="D2Coding" panose="020B0609020101020101" pitchFamily="49" charset="-127"/>
              </a:rPr>
              <a:t>스마트 홈 </a:t>
            </a:r>
            <a:r>
              <a:rPr lang="en-US" altLang="ko-KR" sz="2400" dirty="0">
                <a:ea typeface="D2Coding" panose="020B0609020101020101" pitchFamily="49" charset="-127"/>
              </a:rPr>
              <a:t>(</a:t>
            </a:r>
            <a:r>
              <a:rPr lang="ko-KR" altLang="en-US" sz="2400" dirty="0">
                <a:ea typeface="D2Coding" panose="020B0609020101020101" pitchFamily="49" charset="-127"/>
              </a:rPr>
              <a:t>얼굴인식 기반 출입 제어 시스템</a:t>
            </a:r>
            <a:r>
              <a:rPr lang="en-US" altLang="ko-KR" sz="2400" dirty="0">
                <a:ea typeface="D2Coding" panose="020B0609020101020101" pitchFamily="49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ea typeface="D2Coding" panose="020B0609020101020101" pitchFamily="49" charset="-127"/>
              </a:rPr>
              <a:t>IoT </a:t>
            </a:r>
            <a:r>
              <a:rPr lang="ko-KR" altLang="en-US" sz="2400" dirty="0">
                <a:ea typeface="D2Coding" panose="020B0609020101020101" pitchFamily="49" charset="-127"/>
              </a:rPr>
              <a:t>낙상감지 시스템</a:t>
            </a:r>
            <a:endParaRPr lang="en-US" altLang="ko-KR" sz="2400" dirty="0">
              <a:ea typeface="D2Coding" panose="020B0609020101020101" pitchFamily="49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ea typeface="D2Coding" panose="020B0609020101020101" pitchFamily="49" charset="-127"/>
              </a:rPr>
              <a:t>AI Tutor</a:t>
            </a:r>
            <a:endParaRPr lang="ko-KR" altLang="en-US" sz="2400" dirty="0"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7">
            <a:extLst>
              <a:ext uri="{FF2B5EF4-FFF2-40B4-BE49-F238E27FC236}">
                <a16:creationId xmlns:a16="http://schemas.microsoft.com/office/drawing/2014/main" id="{CB561670-C5CD-E5BC-54A8-31A4C3FF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746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E5465-0296-58A4-1609-BC499EAA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1BDD706-3BEF-315C-7A5B-9ACDA8062DD8}"/>
              </a:ext>
            </a:extLst>
          </p:cNvPr>
          <p:cNvSpPr/>
          <p:nvPr/>
        </p:nvSpPr>
        <p:spPr>
          <a:xfrm>
            <a:off x="1104900" y="21654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265B2D2-DBE0-432F-23E6-60D3E3A6ED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F020FC3-9A7D-CA21-9CC1-2714D64B4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6702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2B19C-A0CB-1C03-E942-FDEE2265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D59C107-F17B-9522-C972-A56F19675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439262"/>
          </a:xfrm>
        </p:spPr>
        <p:txBody>
          <a:bodyPr>
            <a:normAutofit/>
          </a:bodyPr>
          <a:lstStyle/>
          <a:p>
            <a:pPr marL="0" indent="0">
              <a:lnSpc>
                <a:spcPct val="200000"/>
              </a:lnSpc>
              <a:buClr>
                <a:srgbClr val="FFC000"/>
              </a:buClr>
              <a:buNone/>
            </a:pPr>
            <a:r>
              <a:rPr lang="en-US" altLang="ko-KR" sz="2800" dirty="0"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r>
              <a:rPr lang="ko-KR" altLang="en-US" sz="2800" dirty="0">
                <a:latin typeface="+mn-lt"/>
              </a:rPr>
              <a:t>는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개인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역량</a:t>
            </a:r>
            <a:r>
              <a:rPr lang="en-US" altLang="ko-KR" sz="2800" dirty="0">
                <a:latin typeface="+mn-lt"/>
              </a:rPr>
              <a:t>(competencies ) :</a:t>
            </a: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기술을 비판적으로 평가하고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와 효과적으로 소통하고 협업하며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가정 및 직장에서 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를 도구로 사용할 수 있는 역량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619B255-3DEB-799D-160F-BF51B59D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876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DE87-18C1-4A10-0DE4-7C7455CC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387351-8197-8E76-6BD6-4BEFA7A74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endParaRPr lang="ko-KR" altLang="en-US" b="1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C9A12E8-488F-3C2C-F0A7-31AB22F7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pic>
        <p:nvPicPr>
          <p:cNvPr id="10" name="그래픽 9" descr="실행">
            <a:extLst>
              <a:ext uri="{FF2B5EF4-FFF2-40B4-BE49-F238E27FC236}">
                <a16:creationId xmlns:a16="http://schemas.microsoft.com/office/drawing/2014/main" id="{D9816C35-8601-DC34-18BB-C496603BBB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2823" y="1740039"/>
            <a:ext cx="1688960" cy="1688960"/>
          </a:xfrm>
          <a:prstGeom prst="rect">
            <a:avLst/>
          </a:prstGeom>
        </p:spPr>
      </p:pic>
      <p:pic>
        <p:nvPicPr>
          <p:cNvPr id="1026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F5E219D3-0BC1-AEB4-C1AD-A518CC4F0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040457"/>
            <a:ext cx="4977170" cy="2885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00F4E7D9-7E53-71CA-3BF0-42FC1849E503}"/>
              </a:ext>
            </a:extLst>
          </p:cNvPr>
          <p:cNvSpPr/>
          <p:nvPr/>
        </p:nvSpPr>
        <p:spPr>
          <a:xfrm rot="2797774">
            <a:off x="4301866" y="2927253"/>
            <a:ext cx="964781" cy="964496"/>
          </a:xfrm>
          <a:prstGeom prst="plus">
            <a:avLst>
              <a:gd name="adj" fmla="val 39483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기는 아기">
            <a:extLst>
              <a:ext uri="{FF2B5EF4-FFF2-40B4-BE49-F238E27FC236}">
                <a16:creationId xmlns:a16="http://schemas.microsoft.com/office/drawing/2014/main" id="{FBF4451E-6A2F-DCC4-B4A2-F6BFBFBF48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703" y="4150961"/>
            <a:ext cx="1301680" cy="130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439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F87B5-1A89-D3F8-3C70-DED895D1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23EF3D5-91C3-8814-1048-E29B81F18A08}"/>
              </a:ext>
            </a:extLst>
          </p:cNvPr>
          <p:cNvSpPr/>
          <p:nvPr/>
        </p:nvSpPr>
        <p:spPr>
          <a:xfrm>
            <a:off x="1104900" y="2841721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3CAA8B2-B23D-7FB1-3069-7C9FADA91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79E083-24E4-3ABC-B0F4-41E2DAE794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3086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B39CB-29A8-D30A-CCE8-BFC53D81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DC10F64-F249-B0BF-30B8-1D6290B0A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908" y="679572"/>
            <a:ext cx="9970441" cy="1078842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+mn-lt"/>
                <a:ea typeface="D2Coding" panose="020B0609020101020101" pitchFamily="49" charset="-127"/>
              </a:rPr>
              <a:t>머신러닝이전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 시대에는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관측된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귀납법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+mn-lt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E32C0B-E627-1492-21C2-F2E2E347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A43203B-3F4D-82D3-E6A0-3CFC22A8D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9046B17-37E0-4F85-CF1F-E2D0D2435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261017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6733E6-D0A6-586E-F781-8DD0117624C1}"/>
              </a:ext>
            </a:extLst>
          </p:cNvPr>
          <p:cNvSpPr txBox="1"/>
          <p:nvPr/>
        </p:nvSpPr>
        <p:spPr>
          <a:xfrm>
            <a:off x="860423" y="4520705"/>
            <a:ext cx="41021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방대하고 정밀한 데이터들을 직접 수년간 궁리하고 계산</a:t>
            </a:r>
            <a:r>
              <a:rPr lang="en-US" altLang="ko-KR" sz="1200" dirty="0"/>
              <a:t>(</a:t>
            </a:r>
            <a:r>
              <a:rPr lang="ko-KR" altLang="en-US" sz="1200" dirty="0"/>
              <a:t>귀납법</a:t>
            </a:r>
            <a:r>
              <a:rPr lang="en-US" altLang="ko-KR" sz="1200" dirty="0"/>
              <a:t>)</a:t>
            </a:r>
            <a:r>
              <a:rPr lang="ko-KR" altLang="en-US" sz="1200" dirty="0"/>
              <a:t>한 끝에</a:t>
            </a:r>
            <a:r>
              <a:rPr lang="en-US" altLang="ko-KR" sz="1200" dirty="0"/>
              <a:t>, </a:t>
            </a:r>
            <a:r>
              <a:rPr lang="ko-KR" altLang="en-US" sz="1200" dirty="0"/>
              <a:t>행성이 원이 아닌 </a:t>
            </a:r>
            <a:r>
              <a:rPr lang="en-US" altLang="ko-KR" sz="1200" dirty="0"/>
              <a:t>'</a:t>
            </a:r>
            <a:r>
              <a:rPr lang="ko-KR" altLang="en-US" sz="1200" dirty="0"/>
              <a:t>타원 궤도</a:t>
            </a:r>
            <a:r>
              <a:rPr lang="en-US" altLang="ko-KR" sz="1200" dirty="0"/>
              <a:t>'</a:t>
            </a:r>
            <a:r>
              <a:rPr lang="ko-KR" altLang="en-US" sz="1200" dirty="0"/>
              <a:t>로 공전한다는 규칙성을 발견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5FD66-367E-4CF8-6DC4-51918DBDF02D}"/>
              </a:ext>
            </a:extLst>
          </p:cNvPr>
          <p:cNvSpPr txBox="1"/>
          <p:nvPr/>
        </p:nvSpPr>
        <p:spPr>
          <a:xfrm>
            <a:off x="6643410" y="6058772"/>
            <a:ext cx="38817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변광성의 밝기가 변하는 </a:t>
            </a:r>
            <a:r>
              <a:rPr lang="en-US" altLang="ko-KR" sz="1200" dirty="0"/>
              <a:t>'</a:t>
            </a:r>
            <a:r>
              <a:rPr lang="ko-KR" altLang="en-US" sz="1200" dirty="0"/>
              <a:t>주기</a:t>
            </a:r>
            <a:r>
              <a:rPr lang="en-US" altLang="ko-KR" sz="1200" dirty="0"/>
              <a:t>'</a:t>
            </a:r>
            <a:r>
              <a:rPr lang="ko-KR" altLang="en-US" sz="1200" dirty="0"/>
              <a:t>와 실제 별의 </a:t>
            </a:r>
            <a:r>
              <a:rPr lang="en-US" altLang="ko-KR" sz="1200" dirty="0"/>
              <a:t>'</a:t>
            </a:r>
            <a:r>
              <a:rPr lang="ko-KR" altLang="en-US" sz="1200" dirty="0"/>
              <a:t>밝기</a:t>
            </a:r>
            <a:r>
              <a:rPr lang="en-US" altLang="ko-KR" sz="1200" dirty="0"/>
              <a:t>(</a:t>
            </a:r>
            <a:r>
              <a:rPr lang="ko-KR" altLang="en-US" sz="1200" dirty="0"/>
              <a:t>광도</a:t>
            </a:r>
            <a:r>
              <a:rPr lang="en-US" altLang="ko-KR" sz="1200" dirty="0"/>
              <a:t>)' </a:t>
            </a:r>
            <a:r>
              <a:rPr lang="ko-KR" altLang="en-US" sz="1200" dirty="0"/>
              <a:t>사이에 일정한 선형적 관계</a:t>
            </a:r>
            <a:r>
              <a:rPr lang="en-US" altLang="ko-KR" sz="1200" dirty="0"/>
              <a:t>(</a:t>
            </a:r>
            <a:r>
              <a:rPr lang="ko-KR" altLang="en-US" sz="1200" dirty="0"/>
              <a:t>패턴</a:t>
            </a:r>
            <a:r>
              <a:rPr lang="en-US" altLang="ko-KR" sz="1200" dirty="0"/>
              <a:t>)</a:t>
            </a:r>
            <a:r>
              <a:rPr lang="ko-KR" altLang="en-US" sz="1200" dirty="0"/>
              <a:t>가 있음을 직접 발견</a:t>
            </a:r>
          </a:p>
        </p:txBody>
      </p:sp>
    </p:spTree>
    <p:extLst>
      <p:ext uri="{BB962C8B-B14F-4D97-AF65-F5344CB8AC3E}">
        <p14:creationId xmlns:p14="http://schemas.microsoft.com/office/powerpoint/2010/main" val="27626642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F7D-60F0-C169-8829-01C8F6C7A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482F125-32B2-400E-E458-E0980BA0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278" y="723232"/>
            <a:ext cx="9299247" cy="10951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8757285-31DC-BA9E-AB21-460B6925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86B95-670E-D3FF-A272-083E38C1053E}"/>
              </a:ext>
            </a:extLst>
          </p:cNvPr>
          <p:cNvSpPr/>
          <p:nvPr/>
        </p:nvSpPr>
        <p:spPr>
          <a:xfrm>
            <a:off x="4683760" y="2305685"/>
            <a:ext cx="2641600" cy="11887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F460C2E-420B-007D-0A66-5D8980373754}"/>
              </a:ext>
            </a:extLst>
          </p:cNvPr>
          <p:cNvSpPr/>
          <p:nvPr/>
        </p:nvSpPr>
        <p:spPr>
          <a:xfrm>
            <a:off x="4683760" y="4399280"/>
            <a:ext cx="2641600" cy="118872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11" name="그래픽 10" descr="줄 화살표: 일자형">
            <a:extLst>
              <a:ext uri="{FF2B5EF4-FFF2-40B4-BE49-F238E27FC236}">
                <a16:creationId xmlns:a16="http://schemas.microsoft.com/office/drawing/2014/main" id="{09056CBC-03F5-03D5-ED50-D6ADD7E6D8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2285365"/>
            <a:ext cx="701040" cy="701040"/>
          </a:xfrm>
          <a:prstGeom prst="rect">
            <a:avLst/>
          </a:prstGeom>
        </p:spPr>
      </p:pic>
      <p:pic>
        <p:nvPicPr>
          <p:cNvPr id="12" name="그래픽 11" descr="줄 화살표: 일자형">
            <a:extLst>
              <a:ext uri="{FF2B5EF4-FFF2-40B4-BE49-F238E27FC236}">
                <a16:creationId xmlns:a16="http://schemas.microsoft.com/office/drawing/2014/main" id="{88FF5411-4130-3777-7D53-1E224D37C9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2854326"/>
            <a:ext cx="701040" cy="701040"/>
          </a:xfrm>
          <a:prstGeom prst="rect">
            <a:avLst/>
          </a:prstGeom>
        </p:spPr>
      </p:pic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87088843-587D-1401-6690-C72E0ED6C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643179" y="2515975"/>
            <a:ext cx="701040" cy="7010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9BE911-9A4F-E3BA-8E49-B09C896D3772}"/>
              </a:ext>
            </a:extLst>
          </p:cNvPr>
          <p:cNvSpPr txBox="1"/>
          <p:nvPr/>
        </p:nvSpPr>
        <p:spPr>
          <a:xfrm>
            <a:off x="2466983" y="238518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150AB2-2227-53AF-DD6D-436584B1B6E1}"/>
              </a:ext>
            </a:extLst>
          </p:cNvPr>
          <p:cNvSpPr txBox="1"/>
          <p:nvPr/>
        </p:nvSpPr>
        <p:spPr>
          <a:xfrm>
            <a:off x="2466983" y="3023474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3B341-3B7F-88C1-9D36-F37088448565}"/>
              </a:ext>
            </a:extLst>
          </p:cNvPr>
          <p:cNvSpPr txBox="1"/>
          <p:nvPr/>
        </p:nvSpPr>
        <p:spPr>
          <a:xfrm>
            <a:off x="8649500" y="2640968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21" name="그래픽 20" descr="줄 화살표: 일자형">
            <a:extLst>
              <a:ext uri="{FF2B5EF4-FFF2-40B4-BE49-F238E27FC236}">
                <a16:creationId xmlns:a16="http://schemas.microsoft.com/office/drawing/2014/main" id="{C8335104-6DF7-9D56-5664-2071F7A995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4368800"/>
            <a:ext cx="701040" cy="701040"/>
          </a:xfrm>
          <a:prstGeom prst="rect">
            <a:avLst/>
          </a:prstGeom>
        </p:spPr>
      </p:pic>
      <p:pic>
        <p:nvPicPr>
          <p:cNvPr id="22" name="그래픽 21" descr="줄 화살표: 일자형">
            <a:extLst>
              <a:ext uri="{FF2B5EF4-FFF2-40B4-BE49-F238E27FC236}">
                <a16:creationId xmlns:a16="http://schemas.microsoft.com/office/drawing/2014/main" id="{BE0C5C2E-828A-9865-FF5F-8C6ABFF95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4937761"/>
            <a:ext cx="701040" cy="701040"/>
          </a:xfrm>
          <a:prstGeom prst="rect">
            <a:avLst/>
          </a:prstGeom>
        </p:spPr>
      </p:pic>
      <p:pic>
        <p:nvPicPr>
          <p:cNvPr id="23" name="그래픽 22" descr="줄 화살표: 일자형">
            <a:extLst>
              <a:ext uri="{FF2B5EF4-FFF2-40B4-BE49-F238E27FC236}">
                <a16:creationId xmlns:a16="http://schemas.microsoft.com/office/drawing/2014/main" id="{9FC00F16-A2DA-3008-8AAE-8B25695D1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643179" y="4599410"/>
            <a:ext cx="701040" cy="70104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0011B80-7168-1EB9-CD9E-A16AC80B4122}"/>
              </a:ext>
            </a:extLst>
          </p:cNvPr>
          <p:cNvSpPr txBox="1"/>
          <p:nvPr/>
        </p:nvSpPr>
        <p:spPr>
          <a:xfrm>
            <a:off x="2466983" y="446861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8209D8-FE31-F600-8EDD-F6DD758FA4B8}"/>
              </a:ext>
            </a:extLst>
          </p:cNvPr>
          <p:cNvSpPr txBox="1"/>
          <p:nvPr/>
        </p:nvSpPr>
        <p:spPr>
          <a:xfrm>
            <a:off x="2466983" y="5106909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BA574E-16F2-5E7D-6791-9DF613B23231}"/>
              </a:ext>
            </a:extLst>
          </p:cNvPr>
          <p:cNvSpPr txBox="1"/>
          <p:nvPr/>
        </p:nvSpPr>
        <p:spPr>
          <a:xfrm>
            <a:off x="8649500" y="4724403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46344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5D84-9CA0-9A89-9AE8-5048EF8C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684C827-6112-6784-ADED-E4B41E9CC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453" y="1971006"/>
            <a:ext cx="10213647" cy="37439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 err="1">
                <a:latin typeface="+mn-lt"/>
              </a:rPr>
              <a:t>머신러닝</a:t>
            </a:r>
            <a:r>
              <a:rPr lang="ko-KR" altLang="en-US" sz="2400" dirty="0">
                <a:latin typeface="+mn-lt"/>
              </a:rPr>
              <a:t> 시대의 인간은 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규칙을 계산하는 계산원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이 아니라</a:t>
            </a:r>
            <a:r>
              <a:rPr lang="en-US" altLang="ko-KR" sz="2400" dirty="0">
                <a:latin typeface="+mn-lt"/>
              </a:rPr>
              <a:t>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문제를 올바르게 정의하고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출발점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en-US" altLang="ko-KR" sz="2400" dirty="0">
                <a:latin typeface="+mn-lt"/>
              </a:rPr>
              <a:t>AI</a:t>
            </a:r>
            <a:r>
              <a:rPr lang="ko-KR" altLang="en-US" sz="2400" dirty="0">
                <a:latin typeface="+mn-lt"/>
              </a:rPr>
              <a:t>의 결과를 비판적으로 검증하며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과정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이를 윤리적이고 가치 있게 세상에 적용하는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도착점</a:t>
            </a:r>
            <a:r>
              <a:rPr lang="en-US" altLang="ko-KR" sz="2400" dirty="0">
                <a:latin typeface="+mn-lt"/>
              </a:rPr>
              <a:t>) '</a:t>
            </a:r>
            <a:r>
              <a:rPr lang="ko-KR" altLang="en-US" sz="2400" dirty="0">
                <a:latin typeface="+mn-lt"/>
              </a:rPr>
              <a:t>감독관이자 설계자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로서의 역량이 필요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807ABBE-926F-4674-3DF9-5C66AEAB7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213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C482E-F37B-B678-C5D1-F9772C34B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030FC98-3D23-ED2E-9EC4-CB3098C3A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2" name="Picture 2" descr="아기가 부모를 알아보는 시기는 언제일까?">
            <a:extLst>
              <a:ext uri="{FF2B5EF4-FFF2-40B4-BE49-F238E27FC236}">
                <a16:creationId xmlns:a16="http://schemas.microsoft.com/office/drawing/2014/main" id="{3AC7B627-77E3-1217-FF4B-1F06205BF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3" y="2490937"/>
            <a:ext cx="4607639" cy="3068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DC40886-4069-981E-A8D7-A1350274B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980" y="2490937"/>
            <a:ext cx="4743582" cy="30686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237E07-93B0-6B8B-E648-59C25C7967F5}"/>
              </a:ext>
            </a:extLst>
          </p:cNvPr>
          <p:cNvSpPr txBox="1"/>
          <p:nvPr/>
        </p:nvSpPr>
        <p:spPr>
          <a:xfrm>
            <a:off x="1910080" y="1963712"/>
            <a:ext cx="1107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Human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0B54C-2C31-787C-E855-B061F83F6C39}"/>
              </a:ext>
            </a:extLst>
          </p:cNvPr>
          <p:cNvSpPr txBox="1"/>
          <p:nvPr/>
        </p:nvSpPr>
        <p:spPr>
          <a:xfrm>
            <a:off x="8004451" y="1963712"/>
            <a:ext cx="2072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Deep</a:t>
            </a:r>
            <a:r>
              <a:rPr lang="ko-KR" altLang="en-US" sz="2000" dirty="0"/>
              <a:t> </a:t>
            </a:r>
            <a:r>
              <a:rPr lang="en-US" altLang="ko-KR" sz="2000" dirty="0"/>
              <a:t>Learning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89398C86-972C-45A1-5439-DD236129E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+mn-lt"/>
                <a:cs typeface="Times New Roman" panose="02020603050405020304" pitchFamily="18" charset="0"/>
              </a:rPr>
              <a:t>How to classify 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2963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1CAE8AD-8B03-DB93-B617-909AAC92E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A78BED-627D-BA03-659E-24AB85F20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0153F-16C7-748C-F783-C532A61BE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9CE90B8-75C0-B59B-FBB8-B7DD34F6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Deep </a:t>
            </a:r>
            <a:r>
              <a:rPr lang="en-US" altLang="ko-KR" b="1" dirty="0" err="1">
                <a:latin typeface="+mn-lt"/>
                <a:cs typeface="Times New Roman" panose="02020603050405020304" pitchFamily="18" charset="0"/>
              </a:rPr>
              <a:t>Learning</a:t>
            </a:r>
            <a:r>
              <a:rPr lang="en-US" altLang="ko-KR" sz="3200" b="1" dirty="0" err="1">
                <a:latin typeface="+mn-lt"/>
                <a:cs typeface="Times New Roman" panose="02020603050405020304" pitchFamily="18" charset="0"/>
              </a:rPr>
              <a:t>_how</a:t>
            </a:r>
            <a:r>
              <a:rPr lang="en-US" altLang="ko-KR" sz="3200" b="1" dirty="0">
                <a:latin typeface="+mn-lt"/>
                <a:cs typeface="Times New Roman" panose="02020603050405020304" pitchFamily="18" charset="0"/>
              </a:rPr>
              <a:t> to learn?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E2235D-A43D-7415-FE91-BE648204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B652CA2C-25BA-4D97-1A1A-0D71F4AC4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534" y="1348552"/>
            <a:ext cx="8880719" cy="4999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7A1C21-60E2-96BE-1490-7A8F393B4D42}"/>
              </a:ext>
            </a:extLst>
          </p:cNvPr>
          <p:cNvSpPr txBox="1"/>
          <p:nvPr/>
        </p:nvSpPr>
        <p:spPr>
          <a:xfrm>
            <a:off x="3210982" y="6348383"/>
            <a:ext cx="83893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https://www.youtube.com/watch?v=aircAruvnKk&amp;list=PLZHQObOWTQDNU6R1_67000Dx_ZCJB-3pi</a:t>
            </a:r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B41EFCE3-4B25-5327-400F-6F094507C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675932" cy="164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1FC4B4-4383-2C54-E75C-938D44A20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018" y="1348551"/>
            <a:ext cx="3707838" cy="321392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0B1E103A-3B02-4BCF-B1FA-7E25E3E7EB62}"/>
              </a:ext>
            </a:extLst>
          </p:cNvPr>
          <p:cNvSpPr/>
          <p:nvPr/>
        </p:nvSpPr>
        <p:spPr>
          <a:xfrm>
            <a:off x="4252687" y="1728258"/>
            <a:ext cx="843986" cy="6625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ADF67FD-3150-733B-AB4E-DC4133CECA39}"/>
              </a:ext>
            </a:extLst>
          </p:cNvPr>
          <p:cNvCxnSpPr>
            <a:cxnSpLocks/>
          </p:cNvCxnSpPr>
          <p:nvPr/>
        </p:nvCxnSpPr>
        <p:spPr>
          <a:xfrm flipH="1" flipV="1">
            <a:off x="3861856" y="1319603"/>
            <a:ext cx="1234817" cy="39463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EF892D3-7093-5D1A-355A-73EE10E488DF}"/>
              </a:ext>
            </a:extLst>
          </p:cNvPr>
          <p:cNvCxnSpPr>
            <a:cxnSpLocks/>
          </p:cNvCxnSpPr>
          <p:nvPr/>
        </p:nvCxnSpPr>
        <p:spPr>
          <a:xfrm flipH="1">
            <a:off x="3861856" y="2390775"/>
            <a:ext cx="1234817" cy="220064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78FFEF-A7A3-0EE4-C4A7-1AB34273502C}"/>
              </a:ext>
            </a:extLst>
          </p:cNvPr>
          <p:cNvSpPr txBox="1"/>
          <p:nvPr/>
        </p:nvSpPr>
        <p:spPr>
          <a:xfrm>
            <a:off x="3946408" y="3432968"/>
            <a:ext cx="16722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512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F5E29-3325-DDA9-94E0-C37DAE8A4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A6B3467-9A3A-1146-0E36-B8C6FF89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6B0A45F-78D4-5488-697F-BCBCAA9D7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66" y="1287277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37EF5665-33F9-B25F-D9CB-DFD2F5A2F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66" y="1339918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20E0872F-FDAF-76DB-22F8-7B195997A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65" y="1287277"/>
            <a:ext cx="9170349" cy="4589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2826CD-001A-7C9F-4E5F-11E33E7B8FFE}"/>
              </a:ext>
            </a:extLst>
          </p:cNvPr>
          <p:cNvSpPr txBox="1"/>
          <p:nvPr/>
        </p:nvSpPr>
        <p:spPr>
          <a:xfrm>
            <a:off x="461669" y="638629"/>
            <a:ext cx="98908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Image</a:t>
            </a:r>
            <a:r>
              <a:rPr lang="ko-KR" altLang="en-US" sz="2000" dirty="0">
                <a:ea typeface="D2Coding" panose="020B0609020101020101" pitchFamily="49" charset="-127"/>
              </a:rPr>
              <a:t>를 분류</a:t>
            </a:r>
            <a:r>
              <a:rPr lang="en-US" altLang="ko-KR" sz="2000" dirty="0">
                <a:ea typeface="D2Coding" panose="020B0609020101020101" pitchFamily="49" charset="-127"/>
              </a:rPr>
              <a:t>(Classification)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3221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20F6-70E4-E079-4BE5-ACBC974D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D35559-0750-49BE-F3C9-8704B52BB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5C20774-166D-3FEB-AA9C-C47EAECC6F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AA6A2D44-A405-2D37-5810-6908991E8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B781AD-11EE-9278-9E0B-41CE20B3DE3A}"/>
              </a:ext>
            </a:extLst>
          </p:cNvPr>
          <p:cNvSpPr txBox="1"/>
          <p:nvPr/>
        </p:nvSpPr>
        <p:spPr>
          <a:xfrm>
            <a:off x="1981200" y="14345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69930-8CA1-A79B-1B2B-7589AB02D8A7}"/>
              </a:ext>
            </a:extLst>
          </p:cNvPr>
          <p:cNvSpPr txBox="1"/>
          <p:nvPr/>
        </p:nvSpPr>
        <p:spPr>
          <a:xfrm>
            <a:off x="7105202" y="1469545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B309DC-B6A2-0609-8030-1474ECA0D5C1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F2B5F1-AC90-008D-96EE-070CCD18B12F}"/>
              </a:ext>
            </a:extLst>
          </p:cNvPr>
          <p:cNvSpPr txBox="1"/>
          <p:nvPr/>
        </p:nvSpPr>
        <p:spPr>
          <a:xfrm>
            <a:off x="7264666" y="5408114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77265B-2E48-6320-1E96-6213A2C2B1A3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58ADFB7-373F-B475-0418-D4A56D676777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C6E1EF-7362-B4D4-8179-EF97DB755BE6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F9F665-2560-1968-A2BF-38CACC4F891D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E2AF5-A808-96F0-F4B3-AE1CB2E01413}"/>
              </a:ext>
            </a:extLst>
          </p:cNvPr>
          <p:cNvSpPr txBox="1"/>
          <p:nvPr/>
        </p:nvSpPr>
        <p:spPr>
          <a:xfrm>
            <a:off x="6473236" y="2117141"/>
            <a:ext cx="21564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8FE60CC7-0E88-D026-73D5-668A52A77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9255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E2467-5EB9-C685-A299-2EEB8BD0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193A81-B263-33EA-AC53-8F102D519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2E49D3-1702-B39F-259C-E2B40D0E35A8}"/>
              </a:ext>
            </a:extLst>
          </p:cNvPr>
          <p:cNvSpPr txBox="1"/>
          <p:nvPr/>
        </p:nvSpPr>
        <p:spPr>
          <a:xfrm>
            <a:off x="1983551" y="1372995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3ED103-4CC7-3525-0C64-F07A40470B54}"/>
              </a:ext>
            </a:extLst>
          </p:cNvPr>
          <p:cNvSpPr txBox="1"/>
          <p:nvPr/>
        </p:nvSpPr>
        <p:spPr>
          <a:xfrm>
            <a:off x="7458185" y="1398653"/>
            <a:ext cx="2042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5EC3F1-8C41-C890-A751-98FCC6A945B3}"/>
              </a:ext>
            </a:extLst>
          </p:cNvPr>
          <p:cNvSpPr txBox="1"/>
          <p:nvPr/>
        </p:nvSpPr>
        <p:spPr>
          <a:xfrm>
            <a:off x="2495550" y="5465264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6DE053-0025-18D3-0223-5D2D7C1DCDC9}"/>
              </a:ext>
            </a:extLst>
          </p:cNvPr>
          <p:cNvSpPr txBox="1"/>
          <p:nvPr/>
        </p:nvSpPr>
        <p:spPr>
          <a:xfrm>
            <a:off x="7702816" y="5408114"/>
            <a:ext cx="3225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3794176-D717-4B6F-F62D-C98A47F441E3}"/>
              </a:ext>
            </a:extLst>
          </p:cNvPr>
          <p:cNvCxnSpPr>
            <a:cxnSpLocks/>
          </p:cNvCxnSpPr>
          <p:nvPr/>
        </p:nvCxnSpPr>
        <p:spPr>
          <a:xfrm>
            <a:off x="513397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7712384-FF73-1B78-943A-D1719CE93F3C}"/>
              </a:ext>
            </a:extLst>
          </p:cNvPr>
          <p:cNvSpPr txBox="1"/>
          <p:nvPr/>
        </p:nvSpPr>
        <p:spPr>
          <a:xfrm>
            <a:off x="5343525" y="3080861"/>
            <a:ext cx="1905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Rules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1D67749-C473-9D24-467A-27F4BD2FCF1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38998" y="2512543"/>
            <a:ext cx="3071750" cy="240362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5A8CA57-80F8-80D7-280A-EA5A00F75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100" y="1866248"/>
            <a:ext cx="3509902" cy="3465018"/>
          </a:xfrm>
          <a:prstGeom prst="rect">
            <a:avLst/>
          </a:prstGeom>
        </p:spPr>
      </p:pic>
      <p:sp>
        <p:nvSpPr>
          <p:cNvPr id="23" name="제목 1">
            <a:extLst>
              <a:ext uri="{FF2B5EF4-FFF2-40B4-BE49-F238E27FC236}">
                <a16:creationId xmlns:a16="http://schemas.microsoft.com/office/drawing/2014/main" id="{419C8791-2659-0D29-CFCA-56FC19AD8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77130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177" y="616754"/>
            <a:ext cx="10629571" cy="11814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컴퓨터 학습은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Pattern Recognition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“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복잡한 함수를 찾는 과정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”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입력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(Input)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을 출력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(Output)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에 </a:t>
            </a:r>
            <a:r>
              <a:rPr lang="ko-KR" altLang="en-US" sz="2100" dirty="0" err="1">
                <a:latin typeface="+mn-lt"/>
                <a:ea typeface="D2Coding" panose="020B0609020101020101" pitchFamily="49" charset="-127"/>
              </a:rPr>
              <a:t>점대점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(point by point)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매핑하는 작업만을 학습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3015360" y="2774418"/>
            <a:ext cx="3509265" cy="2656715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</a:rPr>
                      <m:t>𝑥</m:t>
                    </m:r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blipFill>
                <a:blip r:embed="rId2"/>
                <a:stretch>
                  <a:fillRect l="-3067" t="-9091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Output : 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blipFill>
                <a:blip r:embed="rId3"/>
                <a:stretch>
                  <a:fillRect l="-3175"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/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solidFill>
                            <a:schemeClr val="bg1"/>
                          </a:solidFill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solidFill>
                                <a:schemeClr val="bg1"/>
                              </a:solidFill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blipFill>
                <a:blip r:embed="rId4"/>
                <a:stretch>
                  <a:fillRect r="-92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/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/>
                        <m:t>𝑦</m:t>
                      </m:r>
                      <m:r>
                        <a:rPr lang="ko-KR" altLang="en-US" i="0" dirty="0"/>
                        <m:t>=</m:t>
                      </m:r>
                      <m:r>
                        <a:rPr lang="ko-KR" altLang="en-US" i="1" dirty="0"/>
                        <m:t>𝑓</m:t>
                      </m:r>
                      <m:d>
                        <m:dPr>
                          <m:ctrlPr>
                            <a:rPr lang="ko-KR" altLang="en-US" i="1" dirty="0"/>
                          </m:ctrlPr>
                        </m:dPr>
                        <m:e>
                          <m:r>
                            <a:rPr lang="ko-KR" altLang="en-US" i="1" dirty="0"/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function">
            <a:extLst>
              <a:ext uri="{FF2B5EF4-FFF2-40B4-BE49-F238E27FC236}">
                <a16:creationId xmlns:a16="http://schemas.microsoft.com/office/drawing/2014/main" id="{BB6A124A-B08C-1255-891E-9860AECD5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3445" y="2703841"/>
            <a:ext cx="2605778" cy="260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0734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DD944-819A-99A2-0021-8DFCD7A76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A5631C7-C44C-1826-3DE3-E976FA25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039A759-A092-CFD2-0D84-CA7A9F224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00" y="1348885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4CF98E-FB07-1F35-A45B-77E818B32C87}"/>
              </a:ext>
            </a:extLst>
          </p:cNvPr>
          <p:cNvSpPr txBox="1"/>
          <p:nvPr/>
        </p:nvSpPr>
        <p:spPr>
          <a:xfrm>
            <a:off x="491325" y="679572"/>
            <a:ext cx="10699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Text</a:t>
            </a:r>
            <a:r>
              <a:rPr lang="ko-KR" altLang="en-US" sz="2000" dirty="0">
                <a:ea typeface="D2Coding" panose="020B0609020101020101" pitchFamily="49" charset="-127"/>
              </a:rPr>
              <a:t>를 처리하는 </a:t>
            </a:r>
            <a:r>
              <a:rPr lang="en-US" altLang="ko-KR" sz="2000" dirty="0">
                <a:ea typeface="D2Coding" panose="020B0609020101020101" pitchFamily="49" charset="-127"/>
              </a:rPr>
              <a:t>mechanism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1E80A2-DCA4-8DBF-8859-4701C2AF7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663" y="3346352"/>
            <a:ext cx="6911939" cy="321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887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9C713-3A9E-1EB0-ABAE-019CE15E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503A4E1-378C-8C12-39F8-05F0DD5B1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8194" name="Picture 2" descr="Examples of Photorealistic GAN Generated Faces">
            <a:extLst>
              <a:ext uri="{FF2B5EF4-FFF2-40B4-BE49-F238E27FC236}">
                <a16:creationId xmlns:a16="http://schemas.microsoft.com/office/drawing/2014/main" id="{A04F284F-E9EB-A504-DA3A-9FA6D3FE7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243906"/>
            <a:ext cx="6381750" cy="47663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C1D3A-0F11-1BE3-E1AE-2FFBFE242FAC}"/>
              </a:ext>
            </a:extLst>
          </p:cNvPr>
          <p:cNvSpPr txBox="1"/>
          <p:nvPr/>
        </p:nvSpPr>
        <p:spPr>
          <a:xfrm>
            <a:off x="971550" y="6086475"/>
            <a:ext cx="6477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effectLst/>
                <a:latin typeface="Helvetica Neue"/>
              </a:rPr>
              <a:t>Examples of Photorealistic GAN-Generated </a:t>
            </a:r>
            <a:r>
              <a:rPr lang="en-US" altLang="ko-KR" sz="1100" b="0" i="0" dirty="0" err="1">
                <a:effectLst/>
                <a:latin typeface="Helvetica Neue"/>
              </a:rPr>
              <a:t>Faces.Taken</a:t>
            </a:r>
            <a:r>
              <a:rPr lang="en-US" altLang="ko-KR" sz="1100" b="0" i="0" dirty="0">
                <a:effectLst/>
                <a:latin typeface="Helvetica Neue"/>
              </a:rPr>
              <a:t> from Progressive Growing of GANs for Improved Quality, Stability, and Variation, 2017.</a:t>
            </a:r>
            <a:endParaRPr lang="ko-KR" altLang="en-US" sz="1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5A61E4-270B-4EA8-8626-23E5E8E47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Generate Face Image 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2427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09AAA-1F30-AE73-C38D-9C818C1B8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27988D7-267E-7FB5-32B6-D6E8A94E5889}"/>
              </a:ext>
            </a:extLst>
          </p:cNvPr>
          <p:cNvSpPr/>
          <p:nvPr/>
        </p:nvSpPr>
        <p:spPr>
          <a:xfrm>
            <a:off x="1104900" y="35370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C774A1-09F8-7B0A-48B8-92C9456D3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CE4D27-B67D-DEEF-3BCB-55ABC0022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33807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F7D7E62-88C0-2899-7D53-45B1AA80C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rgbClr val="FFFFFF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 텍스트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38879" y="1883378"/>
            <a:ext cx="5734688" cy="3866290"/>
            <a:chOff x="2938879" y="1883378"/>
            <a:chExt cx="5734688" cy="3866290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C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03671" y="1883378"/>
              <a:ext cx="3569896" cy="3866290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0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870160" cy="4305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2928225" y="3200636"/>
            <a:ext cx="8852915" cy="310491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4983229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2BC5E3-224A-24E3-5CD4-6E5BAB6E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D99B4-8E4E-4BDD-3CB8-D12EAE2B6F32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ea typeface="D2Coding" panose="020B0609020101020101" pitchFamily="49" charset="-127"/>
              </a:rPr>
              <a:t>이전 픽셀들을 기반으로 다음 픽셀을 확률적으로 예측하여</a:t>
            </a:r>
            <a:r>
              <a:rPr lang="ko-KR" altLang="en-US" dirty="0">
                <a:ea typeface="D2Coding" panose="020B0609020101020101" pitchFamily="49" charset="-127"/>
              </a:rPr>
              <a:t> 텍스트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11FA24-C803-43CA-B36C-F6BBFD78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3957" y="2547639"/>
            <a:ext cx="7624085" cy="4038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115115" y="355166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대규모 언어 모델 </a:t>
            </a:r>
            <a:r>
              <a:rPr lang="en-US" altLang="ko-KR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(Large Language Model, LLM)</a:t>
            </a:r>
            <a:endParaRPr lang="ko-KR" altLang="en-US" sz="2400" dirty="0">
              <a:solidFill>
                <a:srgbClr val="FFFFFF"/>
              </a:solidFill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471797" y="994854"/>
            <a:ext cx="930847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등</a:t>
            </a:r>
            <a:endParaRPr lang="en-US" altLang="ko-KR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FF"/>
              </a:solidFill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46662-7D95-C9B3-62AA-957CAF4E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A79256-9618-23AF-842D-9DC6D75C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6F99FA-1063-9B3E-6B8A-D5378429B1A2}"/>
              </a:ext>
            </a:extLst>
          </p:cNvPr>
          <p:cNvSpPr txBox="1"/>
          <p:nvPr/>
        </p:nvSpPr>
        <p:spPr>
          <a:xfrm>
            <a:off x="371475" y="852542"/>
            <a:ext cx="4810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Major Large Language Models (LLMs)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5488D2-788A-A220-F5B8-D703537CA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465" y="1252652"/>
            <a:ext cx="9179802" cy="530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1085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56AF1-F8C9-8291-F0B2-96E71B84C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7250011-D450-6D2E-FA8A-A2C134975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8194" name="Picture 2" descr="글 내용">
            <a:extLst>
              <a:ext uri="{FF2B5EF4-FFF2-40B4-BE49-F238E27FC236}">
                <a16:creationId xmlns:a16="http://schemas.microsoft.com/office/drawing/2014/main" id="{0F3AB0BC-D160-0A6E-E2DD-556A5D759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52400"/>
            <a:ext cx="6935470" cy="655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90763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B5748-9A97-E469-5E70-624969003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7105A62-C109-8869-51D9-44353E913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41486B11-1D22-2746-6822-E1FBA2BA6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8" y="518408"/>
            <a:ext cx="8253412" cy="5821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1674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15BFE62-C839-E465-CB29-E8EBA793E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dirty="0">
                <a:ea typeface="D2Coding" panose="020B0609020101020101" pitchFamily="49" charset="-127"/>
              </a:rPr>
              <a:t> </a:t>
            </a:r>
            <a:r>
              <a:rPr lang="ko-KR" altLang="en-US" dirty="0">
                <a:ea typeface="D2Coding" panose="020B0609020101020101" pitchFamily="49" charset="-127"/>
              </a:rPr>
              <a:t> 말을 이어가는 끝 말 이어가기 끝 판 왕 </a:t>
            </a:r>
            <a:r>
              <a:rPr lang="en-US" altLang="ko-KR" dirty="0"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00"/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C0553-22BD-A141-661E-CFFF82AE7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27804C-449C-463A-C5BE-8C503ABF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969A97-C2BE-D9A0-A387-843BB3B69242}"/>
              </a:ext>
            </a:extLst>
          </p:cNvPr>
          <p:cNvSpPr txBox="1"/>
          <p:nvPr/>
        </p:nvSpPr>
        <p:spPr>
          <a:xfrm>
            <a:off x="572955" y="697875"/>
            <a:ext cx="9694995" cy="589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400" dirty="0">
                <a:ea typeface="D2Coding" panose="020B0609020101020101" pitchFamily="49" charset="-127"/>
              </a:rPr>
              <a:t>(Generative AI, LLM)</a:t>
            </a:r>
            <a:endParaRPr lang="ko-KR" altLang="en-US" sz="2400" dirty="0">
              <a:ea typeface="D2Coding" panose="020B0609020101020101" pitchFamily="49" charset="-127"/>
            </a:endParaRPr>
          </a:p>
        </p:txBody>
      </p:sp>
      <p:pic>
        <p:nvPicPr>
          <p:cNvPr id="2050" name="Picture 2" descr="나뭇가지에 주홍색 잉꼬 현관">
            <a:extLst>
              <a:ext uri="{FF2B5EF4-FFF2-40B4-BE49-F238E27FC236}">
                <a16:creationId xmlns:a16="http://schemas.microsoft.com/office/drawing/2014/main" id="{2E033474-6E41-5E4F-66B7-54A1F585C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1836451"/>
            <a:ext cx="36576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110A9A-7874-8257-1B97-39876E538845}"/>
              </a:ext>
            </a:extLst>
          </p:cNvPr>
          <p:cNvSpPr txBox="1"/>
          <p:nvPr/>
        </p:nvSpPr>
        <p:spPr>
          <a:xfrm>
            <a:off x="6673214" y="1851958"/>
            <a:ext cx="5290186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</a:rPr>
              <a:t>대규모 언어 모델 </a:t>
            </a:r>
            <a:r>
              <a:rPr lang="en-US" altLang="ko-KR" sz="1600" dirty="0">
                <a:ea typeface="D2Coding" panose="020B0609020101020101" pitchFamily="49" charset="-127"/>
              </a:rPr>
              <a:t>(Large Language Model, LLM)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ea typeface="D2Coding" panose="020B0609020101020101" pitchFamily="49" charset="-127"/>
              </a:rPr>
              <a:t>등</a:t>
            </a:r>
            <a:endParaRPr lang="en-US" altLang="ko-KR" sz="1600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8167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C289-FB36-0F26-D9B4-AE7777DE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94798AA-0B60-9394-D1EE-42D1F0EE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5A948-FA2A-62F4-707C-F357C4E527CF}"/>
              </a:ext>
            </a:extLst>
          </p:cNvPr>
          <p:cNvSpPr txBox="1"/>
          <p:nvPr/>
        </p:nvSpPr>
        <p:spPr>
          <a:xfrm>
            <a:off x="218291" y="247650"/>
            <a:ext cx="10354460" cy="1254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LLM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의 한계는 정보 검색</a:t>
            </a: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(Information Retrieval)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만 잘함</a:t>
            </a:r>
            <a:endParaRPr lang="en-US" altLang="ko-KR" dirty="0">
              <a:ea typeface="D2Coding" panose="020B0609020101020101" pitchFamily="49" charset="-127"/>
              <a:cs typeface="+mj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학습 중에 접했던 패턴과 매우 유사한 패턴을 인식하거나 생성해 내며 본질적으로 새로운 상황에 적응하는 능력이 떨어짐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(</a:t>
            </a: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아래 그림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An easy yet novel puzzle)</a:t>
            </a:r>
            <a:endParaRPr lang="ko-KR" altLang="en-US" sz="1600" dirty="0"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7CDEEFE-CC04-501A-16E8-419D499415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759" y="1742079"/>
            <a:ext cx="8340091" cy="460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41239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1F98-2A90-A1E0-3E6D-AFF6D2CE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390EEC5-D3FB-1EBC-028E-E1677E27F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E69FA9-C66D-8B99-1236-5A901EB63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128" y="970346"/>
            <a:ext cx="9727744" cy="4917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Gary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Marcus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LLMs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are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fluent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bullshitters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."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언어적 유창성은 뛰어나나 사실 검증 메커니즘이 없음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Yejin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Choi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Commonsense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한컴 고딕" panose="02000500000000000000" pitchFamily="2" charset="-127"/>
              </a:rPr>
              <a:t>missing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therefore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bullshit-prone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“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세상에 대한 상식 없이 말하기 때문에 자주 현실과 동떨어짐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코마에서 깨어난 신입사원 아인슈타인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55912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9C88C-7C47-2D10-75EE-66FDB9AE2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A93AD42-AECF-5143-57C1-6441628F8A52}"/>
              </a:ext>
            </a:extLst>
          </p:cNvPr>
          <p:cNvSpPr/>
          <p:nvPr/>
        </p:nvSpPr>
        <p:spPr>
          <a:xfrm>
            <a:off x="1104900" y="4213321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81720D-CC00-D198-E6A6-46898C8A4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648243B-71A2-F1CD-46B5-7E8BDAE377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Literacy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Understanding Machine/Deep Learning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55126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8D171-A75B-1896-3A05-AD961E168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E4C5A8F-53E3-1448-6255-D083B9307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0E1D21-59E5-2096-DB0E-0448E7F788F1}"/>
              </a:ext>
            </a:extLst>
          </p:cNvPr>
          <p:cNvSpPr txBox="1"/>
          <p:nvPr/>
        </p:nvSpPr>
        <p:spPr>
          <a:xfrm>
            <a:off x="600802" y="1393200"/>
            <a:ext cx="10990395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</a:rPr>
              <a:t>AI</a:t>
            </a:r>
            <a:r>
              <a:rPr lang="ko-KR" altLang="en-US" sz="2000" dirty="0">
                <a:ea typeface="D2Coding" panose="020B0609020101020101" pitchFamily="49" charset="-127"/>
              </a:rPr>
              <a:t>는 일자리를 없애기도 하고 업무 내용과 직업 구조를 바꾸고 새로운 직업도 만들 가능성이 증가</a:t>
            </a:r>
            <a:endParaRPr lang="en-US" altLang="ko-KR" sz="2000" dirty="0"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altLang="ko-KR" sz="2000" dirty="0"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ko-KR" altLang="en-US" sz="2000" dirty="0">
                <a:ea typeface="D2Coding" panose="020B0609020101020101" pitchFamily="49" charset="-127"/>
              </a:rPr>
              <a:t>반복적이고 규칙적인 업무는 자동화될 가능성이 높아짐 </a:t>
            </a:r>
            <a:endParaRPr lang="en-US" altLang="ko-KR" sz="2000" dirty="0"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altLang="ko-KR" sz="2000" dirty="0"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ko-KR" altLang="en-US" sz="2000" dirty="0">
                <a:ea typeface="D2Coding" panose="020B0609020101020101" pitchFamily="49" charset="-127"/>
              </a:rPr>
              <a:t>같은 직업 안에서도 일부 과업은 </a:t>
            </a:r>
            <a:r>
              <a:rPr lang="en-US" altLang="ko-KR" sz="2000" dirty="0">
                <a:ea typeface="D2Coding" panose="020B0609020101020101" pitchFamily="49" charset="-127"/>
              </a:rPr>
              <a:t>AI</a:t>
            </a:r>
            <a:r>
              <a:rPr lang="ko-KR" altLang="en-US" sz="2000" dirty="0">
                <a:ea typeface="D2Coding" panose="020B0609020101020101" pitchFamily="49" charset="-127"/>
              </a:rPr>
              <a:t>가 맡고</a:t>
            </a:r>
            <a:r>
              <a:rPr lang="en-US" altLang="ko-KR" sz="2000" dirty="0">
                <a:ea typeface="D2Coding" panose="020B0609020101020101" pitchFamily="49" charset="-127"/>
              </a:rPr>
              <a:t>, </a:t>
            </a:r>
            <a:r>
              <a:rPr lang="ko-KR" altLang="en-US" sz="2000" dirty="0">
                <a:ea typeface="D2Coding" panose="020B0609020101020101" pitchFamily="49" charset="-127"/>
              </a:rPr>
              <a:t>인간은 판단</a:t>
            </a:r>
            <a:r>
              <a:rPr lang="en-US" altLang="ko-KR" sz="2000" dirty="0"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ea typeface="D2Coding" panose="020B0609020101020101" pitchFamily="49" charset="-127"/>
              </a:rPr>
              <a:t>소통</a:t>
            </a:r>
            <a:r>
              <a:rPr lang="en-US" altLang="ko-KR" sz="2000" dirty="0"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ea typeface="D2Coding" panose="020B0609020101020101" pitchFamily="49" charset="-127"/>
              </a:rPr>
              <a:t>책임이 필요한 일에 더 집중하는 방식으로 변경</a:t>
            </a:r>
            <a:endParaRPr lang="en-US" altLang="ko-KR" sz="2000" dirty="0"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altLang="ko-KR" sz="2000" dirty="0"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</a:rPr>
              <a:t>AI</a:t>
            </a:r>
            <a:r>
              <a:rPr lang="ko-KR" altLang="en-US" sz="2000" dirty="0">
                <a:ea typeface="D2Coding" panose="020B0609020101020101" pitchFamily="49" charset="-127"/>
              </a:rPr>
              <a:t>를 다루는 능력이 중요한 역량이 되면서 재교육과 숙련 고도화가 더 중요해질 전망</a:t>
            </a:r>
            <a:endParaRPr lang="en-US" altLang="ko-KR" sz="2000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34154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13697-43DB-9F4F-38B4-DBFF0586A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C470CCA-3A31-E4DC-E8FA-9BB3541C2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7944D9-0762-7B01-45A8-54D01357E74B}"/>
              </a:ext>
            </a:extLst>
          </p:cNvPr>
          <p:cNvSpPr txBox="1"/>
          <p:nvPr/>
        </p:nvSpPr>
        <p:spPr>
          <a:xfrm>
            <a:off x="683529" y="679572"/>
            <a:ext cx="991779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effectLst/>
                <a:ea typeface="D2Coding" panose="020B0609020101020101" pitchFamily="49" charset="-127"/>
              </a:rPr>
              <a:t>데이터 기반의 지식</a:t>
            </a:r>
            <a:r>
              <a:rPr lang="en-US" altLang="ko-KR" dirty="0">
                <a:ea typeface="D2Coding" panose="020B0609020101020101" pitchFamily="49" charset="-127"/>
              </a:rPr>
              <a:t>(</a:t>
            </a:r>
            <a:r>
              <a:rPr lang="ko-KR" altLang="en-US" dirty="0">
                <a:ea typeface="D2Coding" panose="020B0609020101020101" pitchFamily="49" charset="-127"/>
              </a:rPr>
              <a:t>육체</a:t>
            </a:r>
            <a:r>
              <a:rPr lang="en-US" altLang="ko-KR" dirty="0">
                <a:ea typeface="D2Coding" panose="020B0609020101020101" pitchFamily="49" charset="-127"/>
              </a:rPr>
              <a:t>) </a:t>
            </a:r>
            <a:r>
              <a:rPr lang="ko-KR" altLang="en-US" b="0" i="0" dirty="0">
                <a:effectLst/>
                <a:ea typeface="D2Coding" panose="020B0609020101020101" pitchFamily="49" charset="-127"/>
              </a:rPr>
              <a:t>노동이 중심이고</a:t>
            </a:r>
            <a:r>
              <a:rPr lang="en-US" altLang="ko-KR" b="0" i="0" dirty="0">
                <a:effectLst/>
                <a:ea typeface="D2Coding" panose="020B0609020101020101" pitchFamily="49" charset="-127"/>
              </a:rPr>
              <a:t>, </a:t>
            </a:r>
            <a:r>
              <a:rPr lang="ko-KR" altLang="en-US" b="0" i="0" dirty="0">
                <a:effectLst/>
                <a:ea typeface="D2Coding" panose="020B0609020101020101" pitchFamily="49" charset="-127"/>
              </a:rPr>
              <a:t>사람의 손길이 많이 필요한 분야로 정형화된 업무 패턴이 반복되는</a:t>
            </a:r>
            <a:r>
              <a:rPr lang="en-US" altLang="ko-KR" b="0" i="0" dirty="0">
                <a:effectLst/>
                <a:ea typeface="D2Coding" panose="020B0609020101020101" pitchFamily="49" charset="-127"/>
              </a:rPr>
              <a:t> </a:t>
            </a:r>
            <a:r>
              <a:rPr lang="ko-KR" altLang="en-US" b="0" i="0" dirty="0">
                <a:effectLst/>
                <a:ea typeface="D2Coding" panose="020B0609020101020101" pitchFamily="49" charset="-127"/>
              </a:rPr>
              <a:t>영역은 </a:t>
            </a:r>
            <a:r>
              <a:rPr lang="en-US" altLang="ko-KR" b="0" i="0" dirty="0">
                <a:effectLst/>
                <a:ea typeface="D2Coding" panose="020B0609020101020101" pitchFamily="49" charset="-127"/>
              </a:rPr>
              <a:t>AI</a:t>
            </a:r>
            <a:r>
              <a:rPr lang="ko-KR" altLang="en-US" b="0" i="0" dirty="0">
                <a:effectLst/>
                <a:ea typeface="D2Coding" panose="020B0609020101020101" pitchFamily="49" charset="-127"/>
              </a:rPr>
              <a:t>가 학습하기에 적합 </a:t>
            </a:r>
            <a:r>
              <a:rPr lang="en-US" altLang="ko-KR" b="0" i="0" dirty="0">
                <a:effectLst/>
                <a:ea typeface="D2Coding" panose="020B0609020101020101" pitchFamily="49" charset="-127"/>
              </a:rPr>
              <a:t>: AI</a:t>
            </a:r>
            <a:r>
              <a:rPr lang="ko-KR" altLang="en-US" b="0" i="0" dirty="0">
                <a:effectLst/>
                <a:ea typeface="D2Coding" panose="020B0609020101020101" pitchFamily="49" charset="-127"/>
              </a:rPr>
              <a:t>의 역할이 커질 것으로 예상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FB7F9C79-AA65-D203-C85B-C3FFFE9EB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5425" y="1766888"/>
            <a:ext cx="8401050" cy="4715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8CC8A-03F7-B968-1CB5-4317AAAD65A6}"/>
              </a:ext>
            </a:extLst>
          </p:cNvPr>
          <p:cNvSpPr txBox="1"/>
          <p:nvPr/>
        </p:nvSpPr>
        <p:spPr>
          <a:xfrm>
            <a:off x="1400175" y="6482677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https://www.nanalyze.com/2017/05/artificial-intelligence-service-core-ai/</a:t>
            </a:r>
          </a:p>
        </p:txBody>
      </p:sp>
    </p:spTree>
    <p:extLst>
      <p:ext uri="{BB962C8B-B14F-4D97-AF65-F5344CB8AC3E}">
        <p14:creationId xmlns:p14="http://schemas.microsoft.com/office/powerpoint/2010/main" val="12794176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C30D0-C999-BD54-636A-85A0C63C2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0D8D1AA-910B-F359-7D57-B8AF49885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0CE38CD-DCDF-D222-2214-8A5D1283AA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94276"/>
              </p:ext>
            </p:extLst>
          </p:nvPr>
        </p:nvGraphicFramePr>
        <p:xfrm>
          <a:off x="712803" y="1504808"/>
          <a:ext cx="10450497" cy="4781691"/>
        </p:xfrm>
        <a:graphic>
          <a:graphicData uri="http://schemas.openxmlformats.org/drawingml/2006/table">
            <a:tbl>
              <a:tblPr/>
              <a:tblGrid>
                <a:gridCol w="2478072">
                  <a:extLst>
                    <a:ext uri="{9D8B030D-6E8A-4147-A177-3AD203B41FA5}">
                      <a16:colId xmlns:a16="http://schemas.microsoft.com/office/drawing/2014/main" val="1493199083"/>
                    </a:ext>
                  </a:extLst>
                </a:gridCol>
                <a:gridCol w="552887">
                  <a:extLst>
                    <a:ext uri="{9D8B030D-6E8A-4147-A177-3AD203B41FA5}">
                      <a16:colId xmlns:a16="http://schemas.microsoft.com/office/drawing/2014/main" val="2497752382"/>
                    </a:ext>
                  </a:extLst>
                </a:gridCol>
                <a:gridCol w="7419538">
                  <a:extLst>
                    <a:ext uri="{9D8B030D-6E8A-4147-A177-3AD203B41FA5}">
                      <a16:colId xmlns:a16="http://schemas.microsoft.com/office/drawing/2014/main" val="696736181"/>
                    </a:ext>
                  </a:extLst>
                </a:gridCol>
              </a:tblGrid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D2Coding" panose="020B0609020101020101" pitchFamily="49" charset="-127"/>
                        </a:rPr>
                        <a:t>학과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D2Coding" panose="020B0609020101020101" pitchFamily="49" charset="-127"/>
                        </a:rPr>
                        <a:t>순위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D2Coding" panose="020B0609020101020101" pitchFamily="49" charset="-127"/>
                        </a:rPr>
                        <a:t>바뀌는 방향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723262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 err="1">
                          <a:effectLst/>
                          <a:latin typeface="+mn-lt"/>
                          <a:ea typeface="D2Coding" panose="020B0609020101020101" pitchFamily="49" charset="-127"/>
                        </a:rPr>
                        <a:t>정보과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컴퓨터과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600" dirty="0">
                        <a:effectLst/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코딩만이 아니라 데이터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AI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활용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현장 학습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자동화 도구 사용이 중요해짐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243731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 err="1">
                          <a:effectLst/>
                          <a:latin typeface="+mn-lt"/>
                          <a:ea typeface="D2Coding" panose="020B0609020101020101" pitchFamily="49" charset="-127"/>
                        </a:rPr>
                        <a:t>회계과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dirty="0" err="1">
                          <a:effectLst/>
                          <a:latin typeface="+mn-lt"/>
                          <a:ea typeface="D2Coding" panose="020B0609020101020101" pitchFamily="49" charset="-127"/>
                        </a:rPr>
                        <a:t>세무과</a:t>
                      </a:r>
                      <a:endParaRPr lang="ko-KR" altLang="en-US" sz="1600" dirty="0">
                        <a:effectLst/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2</a:t>
                      </a:r>
                      <a:endParaRPr lang="ko-KR" altLang="en-US" sz="1600" dirty="0">
                        <a:effectLst/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단순 전표 입력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기초 정산은 줄고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분석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검토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예외 처리 비중이 커짐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5436120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>
                          <a:effectLst/>
                          <a:latin typeface="+mn-lt"/>
                          <a:ea typeface="D2Coding" panose="020B0609020101020101" pitchFamily="49" charset="-127"/>
                        </a:rPr>
                        <a:t>디자인과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3</a:t>
                      </a:r>
                      <a:endParaRPr lang="ko-KR" altLang="en-US" sz="1600" dirty="0">
                        <a:effectLst/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기본 시안 제작은 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가 보조하고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창의적 기획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수정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브랜딩 역량이 중요해짐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51618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>
                          <a:effectLst/>
                          <a:latin typeface="+mn-lt"/>
                          <a:ea typeface="D2Coding" panose="020B0609020101020101" pitchFamily="49" charset="-127"/>
                        </a:rPr>
                        <a:t>사무행정과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4</a:t>
                      </a:r>
                      <a:endParaRPr lang="ko-KR" altLang="en-US" sz="1600" dirty="0">
                        <a:effectLst/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문서 작성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정리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일정 관리 같은 반복 업무가 크게 자동화됨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0544447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 err="1">
                          <a:effectLst/>
                          <a:latin typeface="+mn-lt"/>
                          <a:ea typeface="D2Coding" panose="020B0609020101020101" pitchFamily="49" charset="-127"/>
                        </a:rPr>
                        <a:t>조리과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외식과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5</a:t>
                      </a:r>
                      <a:endParaRPr lang="ko-KR" altLang="en-US" sz="1600" dirty="0">
                        <a:effectLst/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레시피 개발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위생관리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주문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재고 관리에 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활용이 늘어남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6300657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기계과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dirty="0" err="1">
                          <a:effectLst/>
                          <a:latin typeface="+mn-lt"/>
                          <a:ea typeface="D2Coding" panose="020B0609020101020101" pitchFamily="49" charset="-127"/>
                        </a:rPr>
                        <a:t>전기과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자동화과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6</a:t>
                      </a:r>
                      <a:endParaRPr lang="ko-KR" altLang="en-US" sz="1600" dirty="0">
                        <a:effectLst/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설비 운영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예지보전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 err="1">
                          <a:effectLst/>
                          <a:latin typeface="+mn-lt"/>
                          <a:ea typeface="D2Coding" panose="020B0609020101020101" pitchFamily="49" charset="-127"/>
                        </a:rPr>
                        <a:t>스마트팩토리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 대응 역량이 중요해짐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876895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미용과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7</a:t>
                      </a:r>
                      <a:endParaRPr lang="ko-KR" altLang="en-US" sz="1600" dirty="0">
                        <a:effectLst/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예약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상담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홍보는 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가 돕고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고객 응대와 감각은 사람 역할이 남음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064368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보건간호과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8</a:t>
                      </a:r>
                      <a:endParaRPr lang="ko-KR" altLang="en-US" sz="1600" dirty="0">
                        <a:effectLst/>
                        <a:latin typeface="+mn-lt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기록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안내 업무는 자동화되지만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돌봄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상담</a:t>
                      </a:r>
                      <a:r>
                        <a:rPr lang="en-US" altLang="ko-KR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+mn-lt"/>
                          <a:ea typeface="D2Coding" panose="020B0609020101020101" pitchFamily="49" charset="-127"/>
                        </a:rPr>
                        <a:t>현장 대응은 여전히 중요함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8089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48C64EE-9639-D5AE-13BB-3AF3A4B32055}"/>
              </a:ext>
            </a:extLst>
          </p:cNvPr>
          <p:cNvSpPr txBox="1"/>
          <p:nvPr/>
        </p:nvSpPr>
        <p:spPr>
          <a:xfrm>
            <a:off x="683529" y="679572"/>
            <a:ext cx="9917796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0" i="0" dirty="0">
                <a:effectLst/>
                <a:ea typeface="D2Coding" panose="020B0609020101020101" pitchFamily="49" charset="-127"/>
              </a:rPr>
              <a:t>AI </a:t>
            </a:r>
            <a:r>
              <a:rPr lang="ko-KR" altLang="en-US" b="0" i="0" dirty="0">
                <a:effectLst/>
                <a:ea typeface="D2Coding" panose="020B0609020101020101" pitchFamily="49" charset="-127"/>
              </a:rPr>
              <a:t>확산으로 영향이 높은 학과 순으로 변화의 내용을 정리 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9BE57-91B6-459A-9FD1-A5C2CA099D2A}"/>
              </a:ext>
            </a:extLst>
          </p:cNvPr>
          <p:cNvSpPr txBox="1"/>
          <p:nvPr/>
        </p:nvSpPr>
        <p:spPr>
          <a:xfrm>
            <a:off x="590550" y="635855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ea typeface="D2Coding" panose="020B0609020101020101" pitchFamily="49" charset="-127"/>
              </a:rPr>
              <a:t>출처 </a:t>
            </a:r>
            <a:r>
              <a:rPr lang="en-US" altLang="ko-KR" sz="1400" dirty="0"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ea typeface="D2Coding" panose="020B0609020101020101" pitchFamily="49" charset="-127"/>
              </a:rPr>
              <a:t>LLMs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330445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7A5D6-84AD-BBCF-1B9D-F30A7CD3D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EB8781D-6B5F-EFE7-ECDF-1A48359108C7}"/>
              </a:ext>
            </a:extLst>
          </p:cNvPr>
          <p:cNvSpPr/>
          <p:nvPr/>
        </p:nvSpPr>
        <p:spPr>
          <a:xfrm>
            <a:off x="1104900" y="48705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B8D7F72-D8B5-DF48-CCED-E99449E68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8837144-B2EB-1361-7E86-BD4C02FA0C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Literacy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Understanding Machine/Deep Learning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1128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EFB76-A769-EBD0-CDC3-D96A24A61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E4CE0A7-92F0-A13E-EAB1-4A70126D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79D5AA-51D8-E627-0838-1A646DDE25AC}"/>
              </a:ext>
            </a:extLst>
          </p:cNvPr>
          <p:cNvSpPr txBox="1"/>
          <p:nvPr/>
        </p:nvSpPr>
        <p:spPr>
          <a:xfrm>
            <a:off x="1197879" y="1517772"/>
            <a:ext cx="6345921" cy="149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b="0" i="0" dirty="0">
                <a:effectLst/>
                <a:ea typeface="D2Coding" panose="020B0609020101020101" pitchFamily="49" charset="-127"/>
              </a:rPr>
              <a:t>교사인 나는 학생들에게 무엇을 어떻게 가르쳐야 하지</a:t>
            </a:r>
            <a:r>
              <a:rPr lang="en-US" altLang="ko-KR" sz="3200" b="0" i="0" dirty="0">
                <a:effectLst/>
                <a:ea typeface="D2Coding" panose="020B0609020101020101" pitchFamily="49" charset="-127"/>
              </a:rPr>
              <a:t>?</a:t>
            </a:r>
            <a:endParaRPr lang="ko-KR" altLang="en-US" sz="3200" dirty="0">
              <a:ea typeface="D2Coding" panose="020B0609020101020101" pitchFamily="49" charset="-127"/>
            </a:endParaRPr>
          </a:p>
        </p:txBody>
      </p:sp>
      <p:pic>
        <p:nvPicPr>
          <p:cNvPr id="4098" name="Picture 2" descr="바위 위에 앉아있는 남자의 동상">
            <a:extLst>
              <a:ext uri="{FF2B5EF4-FFF2-40B4-BE49-F238E27FC236}">
                <a16:creationId xmlns:a16="http://schemas.microsoft.com/office/drawing/2014/main" id="{F9C4A744-F907-686C-7C15-E10E1832C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771650"/>
            <a:ext cx="2518093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37747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A04A5-BCF3-8347-3622-2641BE16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54A4577-AF6B-332A-F645-68C86CE7F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8D8B4C-B4E9-CC4D-4B95-DB14FD08EF2D}"/>
              </a:ext>
            </a:extLst>
          </p:cNvPr>
          <p:cNvSpPr/>
          <p:nvPr/>
        </p:nvSpPr>
        <p:spPr>
          <a:xfrm>
            <a:off x="971550" y="1399464"/>
            <a:ext cx="3324225" cy="2476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800" dirty="0">
                <a:ea typeface="D2Coding" panose="020B0609020101020101" pitchFamily="49" charset="-127"/>
              </a:rPr>
              <a:t>Problem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>
                <a:ea typeface="D2Coding" panose="020B0609020101020101" pitchFamily="49" charset="-127"/>
              </a:rPr>
              <a:t>Issue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>
                <a:ea typeface="D2Coding" panose="020B0609020101020101" pitchFamily="49" charset="-127"/>
              </a:rPr>
              <a:t>Requirement</a:t>
            </a:r>
            <a:endParaRPr lang="ko-KR" altLang="en-US" sz="2800" dirty="0"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B0CDE-22FA-198B-43A5-1B5E872296DE}"/>
              </a:ext>
            </a:extLst>
          </p:cNvPr>
          <p:cNvSpPr txBox="1"/>
          <p:nvPr/>
        </p:nvSpPr>
        <p:spPr>
          <a:xfrm>
            <a:off x="4977466" y="1760685"/>
            <a:ext cx="19526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1" dirty="0"/>
              <a:t>Solving</a:t>
            </a:r>
            <a:endParaRPr lang="ko-KR" altLang="en-US" sz="2800" b="1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6D3B800-91B0-519E-617A-820186D0C974}"/>
              </a:ext>
            </a:extLst>
          </p:cNvPr>
          <p:cNvCxnSpPr>
            <a:cxnSpLocks/>
          </p:cNvCxnSpPr>
          <p:nvPr/>
        </p:nvCxnSpPr>
        <p:spPr>
          <a:xfrm>
            <a:off x="4977466" y="2648031"/>
            <a:ext cx="1495425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7E9C5CD-546F-53B1-0E0B-7C97C5E6C37E}"/>
              </a:ext>
            </a:extLst>
          </p:cNvPr>
          <p:cNvSpPr txBox="1"/>
          <p:nvPr/>
        </p:nvSpPr>
        <p:spPr>
          <a:xfrm>
            <a:off x="7463491" y="1399464"/>
            <a:ext cx="3852209" cy="2781082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ea typeface="D2Coding" panose="020B0609020101020101" pitchFamily="49" charset="-127"/>
              </a:rPr>
              <a:t>문제를 정의하는 능력</a:t>
            </a:r>
            <a:endParaRPr lang="en-US" altLang="ko-KR" sz="2000" dirty="0">
              <a:ea typeface="D2Coding" panose="020B0609020101020101" pitchFamily="49" charset="-127"/>
            </a:endParaRP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</a:rPr>
              <a:t>AI</a:t>
            </a:r>
            <a:r>
              <a:rPr lang="ko-KR" altLang="en-US" sz="2000" dirty="0">
                <a:ea typeface="D2Coding" panose="020B0609020101020101" pitchFamily="49" charset="-127"/>
              </a:rPr>
              <a:t>를 활용하는 능력</a:t>
            </a:r>
            <a:endParaRPr lang="en-US" altLang="ko-KR" sz="2000" dirty="0">
              <a:ea typeface="D2Coding" panose="020B0609020101020101" pitchFamily="49" charset="-127"/>
            </a:endParaRP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ea typeface="D2Coding" panose="020B0609020101020101" pitchFamily="49" charset="-127"/>
              </a:rPr>
              <a:t>결과를 검토</a:t>
            </a:r>
            <a:r>
              <a:rPr lang="en-US" altLang="ko-KR" sz="2000" dirty="0"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ea typeface="D2Coding" panose="020B0609020101020101" pitchFamily="49" charset="-127"/>
              </a:rPr>
              <a:t>수정하는 능력</a:t>
            </a:r>
            <a:endParaRPr lang="en-US" altLang="ko-KR" sz="2000" dirty="0">
              <a:ea typeface="D2Coding" panose="020B0609020101020101" pitchFamily="49" charset="-127"/>
            </a:endParaRP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endParaRPr lang="en-US" altLang="ko-KR" sz="1100" dirty="0"/>
          </a:p>
        </p:txBody>
      </p:sp>
    </p:spTree>
    <p:extLst>
      <p:ext uri="{BB962C8B-B14F-4D97-AF65-F5344CB8AC3E}">
        <p14:creationId xmlns:p14="http://schemas.microsoft.com/office/powerpoint/2010/main" val="11068293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6D16-15B3-F23D-039A-DAA292736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681C0E7-9CF8-DA6B-797E-B2089E733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F2A4D87-B403-3C66-C8B8-579325383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729" y="816928"/>
            <a:ext cx="7046971" cy="543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0222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5213F-0970-37DE-62E2-ABBCC9939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174E62-742B-79B5-0C35-A4B169C4C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8559AA-28E0-92E4-F316-01189E8E8A4A}"/>
              </a:ext>
            </a:extLst>
          </p:cNvPr>
          <p:cNvSpPr txBox="1"/>
          <p:nvPr/>
        </p:nvSpPr>
        <p:spPr>
          <a:xfrm>
            <a:off x="569228" y="812922"/>
            <a:ext cx="10621511" cy="1432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ea typeface="D2Coding" panose="020B0609020101020101" pitchFamily="49" charset="-127"/>
              </a:rPr>
              <a:t> 기초 이론 교육 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ea typeface="D2Coding" panose="020B0609020101020101" pitchFamily="49" charset="-127"/>
              </a:rPr>
              <a:t>선형대수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통계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자료구조론</a:t>
            </a:r>
            <a:r>
              <a:rPr lang="en-US" altLang="ko-KR" dirty="0">
                <a:ea typeface="D2Coding" panose="020B0609020101020101" pitchFamily="49" charset="-127"/>
              </a:rPr>
              <a:t>,</a:t>
            </a:r>
            <a:r>
              <a:rPr lang="ko-KR" altLang="en-US" dirty="0">
                <a:ea typeface="D2Coding" panose="020B0609020101020101" pitchFamily="49" charset="-127"/>
              </a:rPr>
              <a:t> 데이터베이스 구조 등 기초 교육을 강화하여 생각할 </a:t>
            </a:r>
            <a:r>
              <a:rPr lang="ko-KR" altLang="en-US" dirty="0" err="1">
                <a:ea typeface="D2Coding" panose="020B0609020101020101" pitchFamily="49" charset="-127"/>
              </a:rPr>
              <a:t>수있는</a:t>
            </a:r>
            <a:r>
              <a:rPr lang="ko-KR" altLang="en-US" dirty="0">
                <a:ea typeface="D2Coding" panose="020B0609020101020101" pitchFamily="49" charset="-127"/>
              </a:rPr>
              <a:t> 역량을 키워야 함</a:t>
            </a:r>
            <a:r>
              <a:rPr lang="en-US" altLang="ko-KR" dirty="0">
                <a:ea typeface="D2Coding" panose="020B0609020101020101" pitchFamily="49" charset="-127"/>
              </a:rPr>
              <a:t> 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AFC958-BABD-B9A9-930A-B601D8F75BE5}"/>
              </a:ext>
            </a:extLst>
          </p:cNvPr>
          <p:cNvSpPr txBox="1"/>
          <p:nvPr/>
        </p:nvSpPr>
        <p:spPr>
          <a:xfrm>
            <a:off x="569227" y="3040601"/>
            <a:ext cx="10621511" cy="2671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ea typeface="D2Coding" panose="020B0609020101020101" pitchFamily="49" charset="-127"/>
              </a:rPr>
              <a:t>탑다운</a:t>
            </a:r>
            <a:r>
              <a:rPr lang="en-US" altLang="ko-KR" sz="2400" dirty="0">
                <a:ea typeface="D2Coding" panose="020B0609020101020101" pitchFamily="49" charset="-127"/>
              </a:rPr>
              <a:t>(Top-Down)</a:t>
            </a:r>
            <a:r>
              <a:rPr lang="ko-KR" altLang="en-US" sz="2400" dirty="0">
                <a:ea typeface="D2Coding" panose="020B0609020101020101" pitchFamily="49" charset="-127"/>
              </a:rPr>
              <a:t>방식으로의 전환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ea typeface="D2Coding" panose="020B0609020101020101" pitchFamily="49" charset="-127"/>
              </a:rPr>
              <a:t>기존 방식 </a:t>
            </a:r>
            <a:r>
              <a:rPr lang="en-US" altLang="ko-KR" dirty="0">
                <a:ea typeface="D2Coding" panose="020B0609020101020101" pitchFamily="49" charset="-127"/>
              </a:rPr>
              <a:t>(Bottom-Up): </a:t>
            </a:r>
            <a:r>
              <a:rPr lang="ko-KR" altLang="en-US" dirty="0">
                <a:ea typeface="D2Coding" panose="020B0609020101020101" pitchFamily="49" charset="-127"/>
              </a:rPr>
              <a:t>기초 문법이나 이론부터 차근차근 배워서 문제를 푸는 방식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ea typeface="D2Coding" panose="020B0609020101020101" pitchFamily="49" charset="-127"/>
              </a:rPr>
              <a:t>새로운 방식 </a:t>
            </a:r>
            <a:r>
              <a:rPr lang="en-US" altLang="ko-KR" dirty="0">
                <a:ea typeface="D2Coding" panose="020B0609020101020101" pitchFamily="49" charset="-127"/>
              </a:rPr>
              <a:t>(Top-Down): </a:t>
            </a:r>
            <a:r>
              <a:rPr lang="ko-KR" altLang="en-US" dirty="0">
                <a:ea typeface="D2Coding" panose="020B0609020101020101" pitchFamily="49" charset="-127"/>
              </a:rPr>
              <a:t>이제는 ‘해결해야 할 문제</a:t>
            </a:r>
            <a:r>
              <a:rPr lang="en-US" altLang="ko-KR" dirty="0">
                <a:ea typeface="D2Coding" panose="020B0609020101020101" pitchFamily="49" charset="-127"/>
              </a:rPr>
              <a:t>(</a:t>
            </a:r>
            <a:r>
              <a:rPr lang="ko-KR" altLang="en-US" dirty="0">
                <a:ea typeface="D2Coding" panose="020B0609020101020101" pitchFamily="49" charset="-127"/>
              </a:rPr>
              <a:t>전체 그림</a:t>
            </a:r>
            <a:r>
              <a:rPr lang="en-US" altLang="ko-KR" dirty="0">
                <a:ea typeface="D2Coding" panose="020B0609020101020101" pitchFamily="49" charset="-127"/>
              </a:rPr>
              <a:t>)’</a:t>
            </a:r>
            <a:r>
              <a:rPr lang="ko-KR" altLang="en-US" dirty="0">
                <a:ea typeface="D2Coding" panose="020B0609020101020101" pitchFamily="49" charset="-127"/>
              </a:rPr>
              <a:t>를 먼저 정의하고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이를 해결하기 위해 거꾸로 세부적인 내용을 파고드는 방식이 필요</a:t>
            </a:r>
            <a:endParaRPr lang="en-US" altLang="ko-KR" dirty="0"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20475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0144B-11B1-5727-DE61-A49F2B51A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0F5225-70BC-C91D-B5E2-7FCF801AC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B21698-6850-899C-67AF-369F9BA02093}"/>
              </a:ext>
            </a:extLst>
          </p:cNvPr>
          <p:cNvSpPr txBox="1"/>
          <p:nvPr/>
        </p:nvSpPr>
        <p:spPr>
          <a:xfrm>
            <a:off x="569228" y="812922"/>
            <a:ext cx="11241772" cy="434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800" dirty="0">
                <a:ea typeface="D2Coding" panose="020B0609020101020101" pitchFamily="49" charset="-127"/>
              </a:rPr>
              <a:t> LLM(</a:t>
            </a:r>
            <a:r>
              <a:rPr lang="ko-KR" altLang="en-US" sz="2800" dirty="0">
                <a:ea typeface="D2Coding" panose="020B0609020101020101" pitchFamily="49" charset="-127"/>
              </a:rPr>
              <a:t>인공지능</a:t>
            </a:r>
            <a:r>
              <a:rPr lang="en-US" altLang="ko-KR" sz="2800" dirty="0">
                <a:ea typeface="D2Coding" panose="020B0609020101020101" pitchFamily="49" charset="-127"/>
              </a:rPr>
              <a:t>)</a:t>
            </a:r>
            <a:r>
              <a:rPr lang="ko-KR" altLang="en-US" sz="2800" dirty="0">
                <a:ea typeface="D2Coding" panose="020B0609020101020101" pitchFamily="49" charset="-127"/>
              </a:rPr>
              <a:t>의 역할 변화</a:t>
            </a:r>
            <a:endParaRPr lang="en-US" altLang="ko-KR" sz="2800" dirty="0"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</a:rPr>
              <a:t>‘</a:t>
            </a:r>
            <a:r>
              <a:rPr lang="ko-KR" altLang="en-US" sz="2000" dirty="0" err="1">
                <a:ea typeface="D2Coding" panose="020B0609020101020101" pitchFamily="49" charset="-127"/>
              </a:rPr>
              <a:t>해답지’가</a:t>
            </a:r>
            <a:r>
              <a:rPr lang="ko-KR" altLang="en-US" sz="2000" dirty="0">
                <a:ea typeface="D2Coding" panose="020B0609020101020101" pitchFamily="49" charset="-127"/>
              </a:rPr>
              <a:t> 아닌 ‘드릴</a:t>
            </a:r>
            <a:r>
              <a:rPr lang="en-US" altLang="ko-KR" sz="2000" dirty="0">
                <a:ea typeface="D2Coding" panose="020B0609020101020101" pitchFamily="49" charset="-127"/>
              </a:rPr>
              <a:t>(Drill)’- </a:t>
            </a:r>
            <a:r>
              <a:rPr lang="ko-KR" altLang="en-US" sz="2000" dirty="0">
                <a:ea typeface="D2Coding" panose="020B0609020101020101" pitchFamily="49" charset="-127"/>
              </a:rPr>
              <a:t>과거처럼 교수나 강사에게 의존할 필요가 없어졌음</a:t>
            </a:r>
            <a:endParaRPr lang="en-US" altLang="ko-KR" sz="2000" dirty="0"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</a:rPr>
              <a:t>LLM</a:t>
            </a:r>
            <a:r>
              <a:rPr lang="ko-KR" altLang="en-US" sz="2000" dirty="0">
                <a:ea typeface="D2Coding" panose="020B0609020101020101" pitchFamily="49" charset="-127"/>
              </a:rPr>
              <a:t>에게 단순히 답을 달라고 요청하는 것에 그치지 않고</a:t>
            </a:r>
            <a:r>
              <a:rPr lang="en-US" altLang="ko-KR" sz="2000" dirty="0">
                <a:ea typeface="D2Coding" panose="020B0609020101020101" pitchFamily="49" charset="-127"/>
              </a:rPr>
              <a:t>, 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ea typeface="D2Coding" panose="020B0609020101020101" pitchFamily="49" charset="-127"/>
              </a:rPr>
              <a:t>질문을 끊임없이 세분화</a:t>
            </a:r>
            <a:r>
              <a:rPr lang="en-US" altLang="ko-KR" sz="2000" dirty="0">
                <a:ea typeface="D2Coding" panose="020B0609020101020101" pitchFamily="49" charset="-127"/>
              </a:rPr>
              <a:t>(Drill down)</a:t>
            </a:r>
            <a:r>
              <a:rPr lang="ko-KR" altLang="en-US" sz="2000" dirty="0">
                <a:ea typeface="D2Coding" panose="020B0609020101020101" pitchFamily="49" charset="-127"/>
              </a:rPr>
              <a:t>하며</a:t>
            </a:r>
            <a:r>
              <a:rPr lang="en-US" altLang="ko-KR" sz="2000" dirty="0">
                <a:ea typeface="D2Coding" panose="020B0609020101020101" pitchFamily="49" charset="-127"/>
              </a:rPr>
              <a:t>,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ea typeface="D2Coding" panose="020B0609020101020101" pitchFamily="49" charset="-127"/>
              </a:rPr>
              <a:t>질문하는 과정을 통해 전체 프로세스를 스스로 이해해 나가는 것</a:t>
            </a:r>
          </a:p>
        </p:txBody>
      </p:sp>
    </p:spTree>
    <p:extLst>
      <p:ext uri="{BB962C8B-B14F-4D97-AF65-F5344CB8AC3E}">
        <p14:creationId xmlns:p14="http://schemas.microsoft.com/office/powerpoint/2010/main" val="567569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BC28-E343-3EC9-71CA-AB663FCF5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0A8C696-895D-C6E6-C9DA-9817BB984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Problem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E0D118D-6E80-4688-6D49-D2D08A8D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B11978B-6E15-7CB6-94B3-05A4B5D0B4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지름이 </a:t>
                </a:r>
                <a:r>
                  <a:rPr lang="en-US" altLang="ko-KR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원이 존재하며 그 둘레를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+mn-lt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라고</a:t>
                </a:r>
                <a:r>
                  <a:rPr lang="en-US" altLang="ko-KR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한다</a:t>
                </a:r>
                <a:endParaRPr lang="en-US" altLang="ko-KR" dirty="0">
                  <a:latin typeface="+mn-lt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정리를 이용한 두 점사이의 거리</a:t>
                </a:r>
                <a:r>
                  <a:rPr lang="en-US" altLang="ko-KR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(L2)</a:t>
                </a:r>
                <a:r>
                  <a:rPr lang="ko-KR" altLang="en-US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이외 어떠한 수학공식</a:t>
                </a:r>
                <a:r>
                  <a:rPr lang="en-US" altLang="ko-KR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함수는 사용하지 않고</a:t>
                </a:r>
                <a:endParaRPr lang="en-US" altLang="ko-KR" dirty="0">
                  <a:latin typeface="+mn-lt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i="1" dirty="0">
                        <a:latin typeface="+mn-lt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원주율</a:t>
                </a:r>
                <a:r>
                  <a:rPr lang="en-US" altLang="ko-KR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+mn-lt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제시하고 토론하라</a:t>
                </a:r>
                <a:endParaRPr lang="en-US" altLang="ko-KR" dirty="0">
                  <a:latin typeface="+mn-lt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B11978B-6E15-7CB6-94B3-05A4B5D0B4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09579038-E13D-D991-40D1-55EA84023D52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B6EF399-39DC-FDA3-9D9A-860347DEA39F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C76968DB-6CB1-FCCB-4542-56E86B63398F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752005EC-171E-A258-B6A3-337E6C4D4009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0B46FFD-A1C4-3EF1-AA5F-BA30250E559F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D498B4-E8BE-C00F-62B5-AD3BC19E47AF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18653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Solving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990599" y="1344971"/>
            <a:ext cx="6619875" cy="448648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 = 0.5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r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y1 = (r**2 - x**2) ** 0.5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(r**2 -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 ** 0.5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피타고라스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 거리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 ** 0.5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π ≈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4 / (2 * r):.10f}")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77150" y="1344971"/>
            <a:ext cx="4273607" cy="397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7FDEB-CDDB-D0A9-2A5B-3FFD965F7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436641B-9AE8-519F-D7B0-96174191A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94030CA-C024-2A23-DD02-E8ED5196A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723" y="2030475"/>
            <a:ext cx="6305501" cy="34845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12D4ED3-C7F5-B87F-9AA4-5D73571580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57" y="2030475"/>
            <a:ext cx="5351493" cy="41967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024A35-FAB5-9493-A5DE-13A88C9BD303}"/>
              </a:ext>
            </a:extLst>
          </p:cNvPr>
          <p:cNvSpPr txBox="1"/>
          <p:nvPr/>
        </p:nvSpPr>
        <p:spPr>
          <a:xfrm>
            <a:off x="258780" y="1501566"/>
            <a:ext cx="3008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</a:t>
            </a:r>
            <a:r>
              <a:rPr lang="ko-KR" altLang="en-US" sz="18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Requirement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3F3B2A-853C-F45E-E8C3-E8ED3B2ABB4E}"/>
              </a:ext>
            </a:extLst>
          </p:cNvPr>
          <p:cNvSpPr txBox="1"/>
          <p:nvPr/>
        </p:nvSpPr>
        <p:spPr>
          <a:xfrm>
            <a:off x="5781723" y="1501566"/>
            <a:ext cx="3008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Service Application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9ADA5CC5-279D-64A4-5147-45F390EE3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기말 시험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(term project)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FE3B3374-0C4F-409F-8BF3-E9F74C2991EC}"/>
              </a:ext>
            </a:extLst>
          </p:cNvPr>
          <p:cNvCxnSpPr/>
          <p:nvPr/>
        </p:nvCxnSpPr>
        <p:spPr>
          <a:xfrm>
            <a:off x="3686175" y="1676400"/>
            <a:ext cx="13430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22400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B4E89-EF77-7510-7897-50C008AF3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29049AF-BF23-FF40-760F-AC7A2EE85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48F925-BA02-81C1-9AD3-DA6D6A6181E3}"/>
              </a:ext>
            </a:extLst>
          </p:cNvPr>
          <p:cNvSpPr txBox="1"/>
          <p:nvPr/>
        </p:nvSpPr>
        <p:spPr>
          <a:xfrm>
            <a:off x="781050" y="890660"/>
            <a:ext cx="106299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2800" i="0" dirty="0">
                <a:effectLst/>
                <a:ea typeface="D2Coding" panose="020B0609020101020101" pitchFamily="49" charset="-127"/>
              </a:rPr>
              <a:t>학교 교육의 변화</a:t>
            </a:r>
            <a:endParaRPr lang="en-US" altLang="ko-KR" sz="2000" i="0" dirty="0">
              <a:effectLst/>
              <a:ea typeface="D2Coding" panose="020B0609020101020101" pitchFamily="49" charset="-127"/>
            </a:endParaRPr>
          </a:p>
          <a:p>
            <a:pPr marL="285750" indent="-285750" algn="l">
              <a:buFont typeface="Wingdings" panose="05000000000000000000" pitchFamily="2" charset="2"/>
              <a:buChar char="v"/>
            </a:pPr>
            <a:endParaRPr lang="en-US" altLang="ko-KR" sz="2000" i="0" dirty="0">
              <a:effectLst/>
              <a:ea typeface="D2Coding" panose="020B0609020101020101" pitchFamily="49" charset="-127"/>
            </a:endParaRPr>
          </a:p>
          <a:p>
            <a:pPr lvl="1"/>
            <a:r>
              <a:rPr lang="ko-KR" altLang="en-US" sz="2000" i="0" dirty="0">
                <a:effectLst/>
                <a:ea typeface="D2Coding" panose="020B0609020101020101" pitchFamily="49" charset="-127"/>
              </a:rPr>
              <a:t> </a:t>
            </a:r>
            <a:endParaRPr lang="en-US" altLang="ko-KR" sz="2000" i="0" dirty="0">
              <a:effectLst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2000" i="0" dirty="0">
                <a:effectLst/>
                <a:ea typeface="D2Coding" panose="020B0609020101020101" pitchFamily="49" charset="-127"/>
              </a:rPr>
              <a:t> 단순 실습형 수업보다 프로젝트형 수업</a:t>
            </a:r>
            <a:endParaRPr lang="en-US" altLang="ko-KR" sz="2000" i="0" dirty="0">
              <a:effectLst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2000" i="0" dirty="0">
              <a:effectLst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2000" i="0" dirty="0">
                <a:effectLst/>
                <a:ea typeface="D2Coding" panose="020B0609020101020101" pitchFamily="49" charset="-127"/>
              </a:rPr>
              <a:t> 자격증 </a:t>
            </a:r>
            <a:r>
              <a:rPr lang="ko-KR" altLang="en-US" sz="2000" dirty="0" err="1">
                <a:ea typeface="D2Coding" panose="020B0609020101020101" pitchFamily="49" charset="-127"/>
              </a:rPr>
              <a:t>확득뿐만</a:t>
            </a:r>
            <a:r>
              <a:rPr lang="ko-KR" altLang="en-US" sz="2000" dirty="0">
                <a:ea typeface="D2Coding" panose="020B0609020101020101" pitchFamily="49" charset="-127"/>
              </a:rPr>
              <a:t> 아니라</a:t>
            </a:r>
            <a:r>
              <a:rPr lang="ko-KR" altLang="en-US" sz="2000" i="0" dirty="0">
                <a:effectLst/>
                <a:ea typeface="D2Coding" panose="020B0609020101020101" pitchFamily="49" charset="-127"/>
              </a:rPr>
              <a:t> 포트폴리오 중심으로 변환</a:t>
            </a:r>
            <a:endParaRPr lang="en-US" altLang="ko-KR" sz="2000" i="0" dirty="0">
              <a:effectLst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2000" i="0" dirty="0">
              <a:effectLst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2000" i="0" dirty="0">
                <a:effectLst/>
                <a:ea typeface="D2Coding" panose="020B0609020101020101" pitchFamily="49" charset="-127"/>
              </a:rPr>
              <a:t> AI</a:t>
            </a:r>
            <a:r>
              <a:rPr lang="ko-KR" altLang="en-US" sz="2000" i="0" dirty="0">
                <a:effectLst/>
                <a:ea typeface="D2Coding" panose="020B0609020101020101" pitchFamily="49" charset="-127"/>
              </a:rPr>
              <a:t>를 배우는 과목이 아니라</a:t>
            </a:r>
            <a:r>
              <a:rPr lang="en-US" altLang="ko-KR" sz="2000" i="0" dirty="0">
                <a:effectLst/>
                <a:ea typeface="D2Coding" panose="020B0609020101020101" pitchFamily="49" charset="-127"/>
              </a:rPr>
              <a:t>, </a:t>
            </a:r>
            <a:r>
              <a:rPr lang="ko-KR" altLang="en-US" sz="2000" i="0" dirty="0">
                <a:effectLst/>
                <a:ea typeface="D2Coding" panose="020B0609020101020101" pitchFamily="49" charset="-127"/>
              </a:rPr>
              <a:t>전공 도구로 쓰는 </a:t>
            </a:r>
            <a:r>
              <a:rPr lang="ko-KR" altLang="en-US" sz="2000" dirty="0">
                <a:ea typeface="D2Coding" panose="020B0609020101020101" pitchFamily="49" charset="-127"/>
              </a:rPr>
              <a:t>활용하는 것</a:t>
            </a:r>
            <a:r>
              <a:rPr lang="ko-KR" altLang="en-US" sz="2000" i="0" dirty="0">
                <a:effectLst/>
                <a:ea typeface="D2Coding" panose="020B0609020101020101" pitchFamily="49" charset="-127"/>
              </a:rPr>
              <a:t>이 중요</a:t>
            </a:r>
            <a:endParaRPr lang="en-US" altLang="ko-KR" sz="2000" i="0" dirty="0">
              <a:effectLst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2000" i="0" dirty="0">
              <a:effectLst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2000" i="0" dirty="0">
                <a:effectLst/>
                <a:ea typeface="D2Coding" panose="020B0609020101020101" pitchFamily="49" charset="-127"/>
              </a:rPr>
              <a:t> 학생들은 졸업 전에 실제 산업 문제를 다뤄보는 경험이 더 중요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sp>
        <p:nvSpPr>
          <p:cNvPr id="6" name="화살표: 줄무늬가 있는 오른쪽 5">
            <a:extLst>
              <a:ext uri="{FF2B5EF4-FFF2-40B4-BE49-F238E27FC236}">
                <a16:creationId xmlns:a16="http://schemas.microsoft.com/office/drawing/2014/main" id="{0EB16B75-718F-9431-616D-6F7B9BF7801C}"/>
              </a:ext>
            </a:extLst>
          </p:cNvPr>
          <p:cNvSpPr/>
          <p:nvPr/>
        </p:nvSpPr>
        <p:spPr>
          <a:xfrm>
            <a:off x="1590675" y="4477715"/>
            <a:ext cx="8210550" cy="1562100"/>
          </a:xfrm>
          <a:prstGeom prst="stripedRightArrow">
            <a:avLst>
              <a:gd name="adj1" fmla="val 63415"/>
              <a:gd name="adj2" fmla="val 50000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ea typeface="D2Coding" panose="020B0609020101020101" pitchFamily="49" charset="-127"/>
              </a:rPr>
              <a:t>기술을 배우는 방식에서 </a:t>
            </a:r>
            <a:endParaRPr lang="en-US" altLang="ko-KR" sz="2000" b="1" dirty="0">
              <a:ea typeface="D2Coding" panose="020B0609020101020101" pitchFamily="49" charset="-127"/>
            </a:endParaRPr>
          </a:p>
          <a:p>
            <a:pPr algn="ctr"/>
            <a:r>
              <a:rPr lang="ko-KR" altLang="en-US" sz="2000" b="1" dirty="0">
                <a:ea typeface="D2Coding" panose="020B0609020101020101" pitchFamily="49" charset="-127"/>
              </a:rPr>
              <a:t>기술과 </a:t>
            </a:r>
            <a:r>
              <a:rPr lang="en-US" altLang="ko-KR" sz="2000" b="1" dirty="0">
                <a:ea typeface="D2Coding" panose="020B0609020101020101" pitchFamily="49" charset="-127"/>
              </a:rPr>
              <a:t>AI</a:t>
            </a:r>
            <a:r>
              <a:rPr lang="ko-KR" altLang="en-US" sz="2000" b="1" dirty="0">
                <a:ea typeface="D2Coding" panose="020B0609020101020101" pitchFamily="49" charset="-127"/>
              </a:rPr>
              <a:t>를 함께 써서 문제를 해결</a:t>
            </a:r>
          </a:p>
        </p:txBody>
      </p:sp>
    </p:spTree>
    <p:extLst>
      <p:ext uri="{BB962C8B-B14F-4D97-AF65-F5344CB8AC3E}">
        <p14:creationId xmlns:p14="http://schemas.microsoft.com/office/powerpoint/2010/main" val="6846375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692B3-6F02-46C2-49C0-11A41DF9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보라색 배경에 반짝이는 물음표">
            <a:extLst>
              <a:ext uri="{FF2B5EF4-FFF2-40B4-BE49-F238E27FC236}">
                <a16:creationId xmlns:a16="http://schemas.microsoft.com/office/drawing/2014/main" id="{487366F4-0611-BF9B-FAFB-7298B5649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3900" y="1343025"/>
            <a:ext cx="3124200" cy="390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16654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7017</TotalTime>
  <Words>1865</Words>
  <Application>Microsoft Office PowerPoint</Application>
  <PresentationFormat>와이드스크린</PresentationFormat>
  <Paragraphs>335</Paragraphs>
  <Slides>50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63" baseType="lpstr">
      <vt:lpstr>D2Coding</vt:lpstr>
      <vt:lpstr>Helvetica Neue</vt:lpstr>
      <vt:lpstr>맑은 고딕</vt:lpstr>
      <vt:lpstr>맑은 고딕 Semilight</vt:lpstr>
      <vt:lpstr>한컴 고딕</vt:lpstr>
      <vt:lpstr>한컴 말랑말랑 Bold</vt:lpstr>
      <vt:lpstr>Arial</vt:lpstr>
      <vt:lpstr>Century Gothic</vt:lpstr>
      <vt:lpstr>Tahoma</vt:lpstr>
      <vt:lpstr>Times New Roman</vt:lpstr>
      <vt:lpstr>Wingdings</vt:lpstr>
      <vt:lpstr>Wingdings 3</vt:lpstr>
      <vt:lpstr>이온</vt:lpstr>
      <vt:lpstr>AI 역량강화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AI Literacy</vt:lpstr>
      <vt:lpstr>Contents</vt:lpstr>
      <vt:lpstr>PowerPoint 프레젠테이션</vt:lpstr>
      <vt:lpstr>PowerPoint 프레젠테이션</vt:lpstr>
      <vt:lpstr>PowerPoint 프레젠테이션</vt:lpstr>
      <vt:lpstr>How to classify ?</vt:lpstr>
      <vt:lpstr>Supervised Learning(지도학습) </vt:lpstr>
      <vt:lpstr>Unsupervised Learning(비지도학습)</vt:lpstr>
      <vt:lpstr>Deep Learning_how to learn?</vt:lpstr>
      <vt:lpstr>PowerPoint 프레젠테이션</vt:lpstr>
      <vt:lpstr>Image Segmentation </vt:lpstr>
      <vt:lpstr>Image Segmentation </vt:lpstr>
      <vt:lpstr>PowerPoint 프레젠테이션</vt:lpstr>
      <vt:lpstr>PowerPoint 프레젠테이션</vt:lpstr>
      <vt:lpstr>Generate Face Image  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Problem</vt:lpstr>
      <vt:lpstr>Solving</vt:lpstr>
      <vt:lpstr>기말 시험(term project)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98</cp:revision>
  <dcterms:created xsi:type="dcterms:W3CDTF">2026-04-11T22:24:40Z</dcterms:created>
  <dcterms:modified xsi:type="dcterms:W3CDTF">2026-06-24T05:02:41Z</dcterms:modified>
</cp:coreProperties>
</file>