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52"/>
  </p:notesMasterIdLst>
  <p:sldIdLst>
    <p:sldId id="256" r:id="rId2"/>
    <p:sldId id="435" r:id="rId3"/>
    <p:sldId id="448" r:id="rId4"/>
    <p:sldId id="449" r:id="rId5"/>
    <p:sldId id="406" r:id="rId6"/>
    <p:sldId id="437" r:id="rId7"/>
    <p:sldId id="439" r:id="rId8"/>
    <p:sldId id="458" r:id="rId9"/>
    <p:sldId id="404" r:id="rId10"/>
    <p:sldId id="405" r:id="rId11"/>
    <p:sldId id="459" r:id="rId12"/>
    <p:sldId id="380" r:id="rId13"/>
    <p:sldId id="381" r:id="rId14"/>
    <p:sldId id="453" r:id="rId15"/>
    <p:sldId id="399" r:id="rId16"/>
    <p:sldId id="388" r:id="rId17"/>
    <p:sldId id="389" r:id="rId18"/>
    <p:sldId id="441" r:id="rId19"/>
    <p:sldId id="385" r:id="rId20"/>
    <p:sldId id="440" r:id="rId21"/>
    <p:sldId id="454" r:id="rId22"/>
    <p:sldId id="379" r:id="rId23"/>
    <p:sldId id="396" r:id="rId24"/>
    <p:sldId id="434" r:id="rId25"/>
    <p:sldId id="460" r:id="rId26"/>
    <p:sldId id="401" r:id="rId27"/>
    <p:sldId id="433" r:id="rId28"/>
    <p:sldId id="382" r:id="rId29"/>
    <p:sldId id="457" r:id="rId30"/>
    <p:sldId id="450" r:id="rId31"/>
    <p:sldId id="451" r:id="rId32"/>
    <p:sldId id="432" r:id="rId33"/>
    <p:sldId id="407" r:id="rId34"/>
    <p:sldId id="397" r:id="rId35"/>
    <p:sldId id="452" r:id="rId36"/>
    <p:sldId id="446" r:id="rId37"/>
    <p:sldId id="421" r:id="rId38"/>
    <p:sldId id="410" r:id="rId39"/>
    <p:sldId id="422" r:id="rId40"/>
    <p:sldId id="447" r:id="rId41"/>
    <p:sldId id="411" r:id="rId42"/>
    <p:sldId id="423" r:id="rId43"/>
    <p:sldId id="455" r:id="rId44"/>
    <p:sldId id="413" r:id="rId45"/>
    <p:sldId id="414" r:id="rId46"/>
    <p:sldId id="362" r:id="rId47"/>
    <p:sldId id="307" r:id="rId48"/>
    <p:sldId id="425" r:id="rId49"/>
    <p:sldId id="424" r:id="rId50"/>
    <p:sldId id="456" r:id="rId5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테마 스타일 1 - 강조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38B1855-1B75-4FBE-930C-398BA8C253C6}" styleName="테마 스타일 2 - 강조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0A1B5D5-9B99-4C35-A422-299274C87663}" styleName="보통 스타일 1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DA37D80-6434-44D0-A028-1B22A696006F}" styleName="밝은 스타일 3 - 강조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6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50" d="100"/>
        <a:sy n="50" d="100"/>
      </p:scale>
      <p:origin x="0" y="-85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8017EF-B0C5-4F2B-99F2-8DD7659ECF32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233B1C-0D5F-42ED-944D-ADB4310BB8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3732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6/24/2026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6/24/2026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6/24/2026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6/24/2026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6/24/2026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6/24/2026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 열 3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6/24/2026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1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jpeg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www.goe.go.kr/goe/na/ntt/selectNttInfo.do?nttSn=2349695&amp;mi=10102&amp;searchAt1=&amp;searchValue1=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v9VJt085HXY" TargetMode="Externa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AI_literacy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4.svg"/><Relationship Id="rId2" Type="http://schemas.openxmlformats.org/officeDocument/2006/relationships/hyperlink" Target="https://en.wikipedia.org/wiki/AI_literacy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9.jpeg"/><Relationship Id="rId4" Type="http://schemas.openxmlformats.org/officeDocument/2006/relationships/image" Target="../media/image12.sv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gif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hyperlink" Target="https://www.youtube.com/watch?v=aircAruvnKk&amp;list=PLZHQObOWTQDNU6R1_67000Dx_ZCJB-3pi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s231n.stanford.edu/" TargetMode="External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36.png"/><Relationship Id="rId7" Type="http://schemas.openxmlformats.org/officeDocument/2006/relationships/image" Target="../media/image39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9.jpeg"/><Relationship Id="rId4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ord2vec.kr/search/" TargetMode="External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hyperlink" Target="https://informationisbeautiful.net/visualizations/the-rise-of-generative-ai-large-language-models-llms-like-chatgpt/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2.png"/><Relationship Id="rId7" Type="http://schemas.openxmlformats.org/officeDocument/2006/relationships/image" Target="../media/image55.png"/><Relationship Id="rId12" Type="http://schemas.openxmlformats.org/officeDocument/2006/relationships/image" Target="../media/image60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11" Type="http://schemas.openxmlformats.org/officeDocument/2006/relationships/image" Target="../media/image59.png"/><Relationship Id="rId5" Type="http://schemas.openxmlformats.org/officeDocument/2006/relationships/image" Target="../media/image53.png"/><Relationship Id="rId10" Type="http://schemas.openxmlformats.org/officeDocument/2006/relationships/image" Target="../media/image58.png"/><Relationship Id="rId4" Type="http://schemas.openxmlformats.org/officeDocument/2006/relationships/hyperlink" Target="https://huggingface.co/learn/nlp-course/chapter1/4?fw=pt" TargetMode="External"/><Relationship Id="rId9" Type="http://schemas.openxmlformats.org/officeDocument/2006/relationships/image" Target="../media/image57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3E07EC-FAE3-CD22-0A12-F95D0F9FDF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5700" y="924580"/>
            <a:ext cx="10465545" cy="1362075"/>
          </a:xfrm>
        </p:spPr>
        <p:txBody>
          <a:bodyPr/>
          <a:lstStyle/>
          <a:p>
            <a:r>
              <a:rPr lang="en-US" altLang="ko-KR" sz="6000" dirty="0">
                <a:solidFill>
                  <a:schemeClr val="tx1"/>
                </a:solidFill>
              </a:rPr>
              <a:t>AI </a:t>
            </a:r>
            <a:r>
              <a:rPr lang="ko-KR" altLang="en-US" sz="6000" dirty="0">
                <a:solidFill>
                  <a:schemeClr val="tx1"/>
                </a:solidFill>
              </a:rPr>
              <a:t>역량강화</a:t>
            </a:r>
          </a:p>
        </p:txBody>
      </p:sp>
      <p:sp>
        <p:nvSpPr>
          <p:cNvPr id="4" name="부제목 2">
            <a:extLst>
              <a:ext uri="{FF2B5EF4-FFF2-40B4-BE49-F238E27FC236}">
                <a16:creationId xmlns:a16="http://schemas.microsoft.com/office/drawing/2014/main" id="{4126B61E-1F39-452D-5C3B-A004CC62B8A8}"/>
              </a:ext>
            </a:extLst>
          </p:cNvPr>
          <p:cNvSpPr txBox="1">
            <a:spLocks/>
          </p:cNvSpPr>
          <p:nvPr/>
        </p:nvSpPr>
        <p:spPr>
          <a:xfrm>
            <a:off x="1183530" y="4188915"/>
            <a:ext cx="8825658" cy="199281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altLang="ko-KR" sz="2400" cap="none" dirty="0"/>
              <a:t>2026.6.24(</a:t>
            </a:r>
            <a:r>
              <a:rPr lang="ko-KR" altLang="en-US" sz="2400" cap="none" dirty="0"/>
              <a:t>수</a:t>
            </a:r>
            <a:r>
              <a:rPr lang="en-US" altLang="ko-KR" sz="2400" cap="none" dirty="0"/>
              <a:t>) </a:t>
            </a:r>
            <a:r>
              <a:rPr lang="ko-KR" altLang="en-US" sz="2400" cap="none" dirty="0"/>
              <a:t>오후 </a:t>
            </a:r>
            <a:r>
              <a:rPr lang="en-US" altLang="ko-KR" sz="2400" cap="none" dirty="0"/>
              <a:t>4</a:t>
            </a:r>
            <a:r>
              <a:rPr lang="ko-KR" altLang="en-US" sz="2400" cap="none" dirty="0"/>
              <a:t>시</a:t>
            </a:r>
            <a:endParaRPr lang="en-US" altLang="ko-KR" sz="2400" cap="none" dirty="0"/>
          </a:p>
          <a:p>
            <a:r>
              <a:rPr lang="ko-KR" altLang="en-US" sz="1800" cap="none" dirty="0"/>
              <a:t>조 상구 교수</a:t>
            </a:r>
            <a:endParaRPr lang="en-US" altLang="ko-KR" sz="1800" cap="none" dirty="0"/>
          </a:p>
          <a:p>
            <a:r>
              <a:rPr lang="ko-KR" altLang="en-US" sz="1800" cap="none" dirty="0"/>
              <a:t>소프트웨어융합과 </a:t>
            </a:r>
            <a:r>
              <a:rPr lang="en-US" altLang="ko-KR" sz="1800" cap="none" dirty="0"/>
              <a:t>AI</a:t>
            </a:r>
            <a:r>
              <a:rPr lang="ko-KR" altLang="en-US" sz="1800" cap="none" dirty="0"/>
              <a:t> 빅데이터 전공 </a:t>
            </a:r>
            <a:endParaRPr lang="en-US" altLang="ko-KR" sz="1800" cap="none" dirty="0"/>
          </a:p>
          <a:p>
            <a:r>
              <a:rPr lang="ko-KR" altLang="en-US" sz="1800" cap="none" dirty="0"/>
              <a:t>경복대학교</a:t>
            </a:r>
            <a:endParaRPr lang="ko-KR" altLang="en-US" sz="2800" cap="none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CCC66CC-0EFF-38FE-0C63-613F04359C1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183530" y="2843152"/>
            <a:ext cx="912942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ko-KR" sz="2800" cap="none" dirty="0">
                <a:solidFill>
                  <a:schemeClr val="tx1"/>
                </a:solidFill>
              </a:rPr>
              <a:t>AI Literacy</a:t>
            </a:r>
            <a:r>
              <a:rPr lang="ko-KR" altLang="en-US" sz="2800" cap="none" dirty="0">
                <a:solidFill>
                  <a:schemeClr val="tx1"/>
                </a:solidFill>
              </a:rPr>
              <a:t> </a:t>
            </a:r>
            <a:r>
              <a:rPr lang="ko-KR" altLang="ko-KR" sz="2800" cap="none" dirty="0">
                <a:solidFill>
                  <a:schemeClr val="tx1"/>
                </a:solidFill>
              </a:rPr>
              <a:t>부터 교사의 미래까지</a:t>
            </a:r>
            <a:r>
              <a:rPr lang="en-US" altLang="ko-KR" sz="2800" cap="none" dirty="0">
                <a:solidFill>
                  <a:schemeClr val="tx1"/>
                </a:solidFill>
              </a:rPr>
              <a:t>(</a:t>
            </a:r>
            <a:r>
              <a:rPr lang="ko-KR" altLang="en-US" sz="2800" cap="none" dirty="0">
                <a:solidFill>
                  <a:schemeClr val="tx1"/>
                </a:solidFill>
              </a:rPr>
              <a:t>남양주고등학교 교사</a:t>
            </a:r>
            <a:r>
              <a:rPr lang="en-US" altLang="ko-KR" sz="2800" cap="none" dirty="0">
                <a:solidFill>
                  <a:schemeClr val="tx1"/>
                </a:solidFill>
              </a:rPr>
              <a:t>)</a:t>
            </a:r>
            <a:endParaRPr lang="ko-KR" altLang="ko-KR" sz="2800" cap="non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8304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E3365-8B46-8DC7-B3DB-5804A1E6E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2210BF5-0ED4-818F-8132-C23B48801534}"/>
              </a:ext>
            </a:extLst>
          </p:cNvPr>
          <p:cNvSpPr/>
          <p:nvPr/>
        </p:nvSpPr>
        <p:spPr>
          <a:xfrm>
            <a:off x="1104900" y="1498696"/>
            <a:ext cx="6629399" cy="6096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4036B7A-1839-8911-31B1-8ACD94E17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030" y="586381"/>
            <a:ext cx="8825658" cy="609600"/>
          </a:xfrm>
        </p:spPr>
        <p:txBody>
          <a:bodyPr/>
          <a:lstStyle/>
          <a:p>
            <a:r>
              <a:rPr lang="en-US" altLang="ko-KR" sz="4400" dirty="0"/>
              <a:t>Contents</a:t>
            </a:r>
            <a:endParaRPr lang="ko-KR" altLang="en-US" sz="4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3C31064-70EE-FA5B-F370-E6D2F42FE0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4055" y="1452837"/>
            <a:ext cx="7627095" cy="365016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AI </a:t>
            </a:r>
            <a:r>
              <a:rPr lang="ko-KR" altLang="en-US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기술 </a:t>
            </a:r>
            <a:r>
              <a:rPr lang="en-US" altLang="ko-KR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Trends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AI </a:t>
            </a:r>
            <a:r>
              <a:rPr lang="ko-KR" altLang="en-US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문해력</a:t>
            </a:r>
            <a:r>
              <a:rPr lang="en-US" altLang="ko-KR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(AI Literacy)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Machine/Deep Learning </a:t>
            </a:r>
            <a:r>
              <a:rPr lang="ko-KR" altLang="en-US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이해</a:t>
            </a:r>
            <a:endParaRPr lang="en-US" altLang="ko-KR" sz="2400" cap="none" dirty="0">
              <a:solidFill>
                <a:schemeClr val="tx1"/>
              </a:solidFill>
              <a:latin typeface="+mn-lt"/>
              <a:ea typeface="D2Coding" panose="020B0609020101020101" pitchFamily="49" charset="-127"/>
            </a:endParaRP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ko-KR" altLang="en-US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생성형 </a:t>
            </a:r>
            <a:r>
              <a:rPr lang="en-US" altLang="ko-KR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AI(Generative</a:t>
            </a:r>
            <a:r>
              <a:rPr lang="ko-KR" altLang="en-US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 </a:t>
            </a:r>
            <a:r>
              <a:rPr lang="en-US" altLang="ko-KR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AI)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ko-KR" altLang="en-US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직업의</a:t>
            </a:r>
            <a:r>
              <a:rPr lang="en-US" altLang="ko-KR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 </a:t>
            </a:r>
            <a:r>
              <a:rPr lang="ko-KR" altLang="en-US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변화</a:t>
            </a:r>
            <a:endParaRPr lang="en-US" altLang="ko-KR" sz="2400" cap="none" dirty="0">
              <a:solidFill>
                <a:schemeClr val="tx1"/>
              </a:solidFill>
              <a:latin typeface="+mn-lt"/>
              <a:ea typeface="D2Coding" panose="020B0609020101020101" pitchFamily="49" charset="-127"/>
            </a:endParaRP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ko-KR" altLang="en-US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교육의 변화</a:t>
            </a:r>
            <a:endParaRPr lang="en-US" altLang="ko-KR" sz="2400" cap="none" dirty="0">
              <a:solidFill>
                <a:schemeClr val="tx1"/>
              </a:solidFill>
              <a:latin typeface="+mn-lt"/>
              <a:ea typeface="D2Coding" panose="020B0609020101020101" pitchFamily="49" charset="-127"/>
            </a:endParaRP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ko-KR" altLang="en-US" sz="2400" cap="none" dirty="0">
              <a:solidFill>
                <a:schemeClr val="tx1"/>
              </a:solidFill>
              <a:latin typeface="+mn-lt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35015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35A7F-4DF6-4C75-04F9-B1D6A23C9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CF6C34-DB60-FD41-194F-1665B9CD67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962799"/>
            <a:ext cx="3458583" cy="5386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D2Coding" panose="020B0609020101020101" pitchFamily="49" charset="-127"/>
              </a:rPr>
              <a:t>2026</a:t>
            </a:r>
            <a:r>
              <a:rPr kumimoji="0" lang="ko-KR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D2Coding" panose="020B0609020101020101" pitchFamily="49" charset="-127"/>
              </a:rPr>
              <a:t>년 </a:t>
            </a:r>
            <a:r>
              <a:rPr kumimoji="0" lang="en-US" altLang="ko-KR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D2Coding" panose="020B0609020101020101" pitchFamily="49" charset="-127"/>
              </a:rPr>
              <a:t>AI Agent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FB5736A1-7F3D-8DB7-7510-96902538B8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8289" y="2105025"/>
            <a:ext cx="5776911" cy="3615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B0C3D7D6-CC9A-5C17-F412-7C8E166F05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50" y="962799"/>
            <a:ext cx="3458583" cy="5386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D2Coding" panose="020B0609020101020101" pitchFamily="49" charset="-127"/>
              </a:rPr>
              <a:t>2025</a:t>
            </a:r>
            <a:r>
              <a:rPr kumimoji="0" lang="ko-KR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D2Coding" panose="020B0609020101020101" pitchFamily="49" charset="-127"/>
              </a:rPr>
              <a:t>년 생성형 </a:t>
            </a:r>
            <a:r>
              <a:rPr kumimoji="0" lang="en-US" altLang="ko-KR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D2Coding" panose="020B0609020101020101" pitchFamily="49" charset="-127"/>
              </a:rPr>
              <a:t>AI</a:t>
            </a:r>
          </a:p>
        </p:txBody>
      </p:sp>
      <p:pic>
        <p:nvPicPr>
          <p:cNvPr id="7" name="그래픽 6" descr="조금 굽은 화살표">
            <a:extLst>
              <a:ext uri="{FF2B5EF4-FFF2-40B4-BE49-F238E27FC236}">
                <a16:creationId xmlns:a16="http://schemas.microsoft.com/office/drawing/2014/main" id="{6D08B07E-E568-4C06-9AE5-18B95B5B1B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29100" y="562749"/>
            <a:ext cx="1542276" cy="1542276"/>
          </a:xfrm>
          <a:prstGeom prst="rect">
            <a:avLst/>
          </a:prstGeom>
        </p:spPr>
      </p:pic>
      <p:pic>
        <p:nvPicPr>
          <p:cNvPr id="9" name="Picture 2" descr="▲Chatgpt , Gemini 외의 대화형 생성 AI는 생소하다. &quot;한국형 AI&quot;  네이버 Clova X,  카카오 AskUp, 뤼튼 Wrtn도 애정을 가지고 활용해보자..">
            <a:extLst>
              <a:ext uri="{FF2B5EF4-FFF2-40B4-BE49-F238E27FC236}">
                <a16:creationId xmlns:a16="http://schemas.microsoft.com/office/drawing/2014/main" id="{C581AC35-CA43-BB4F-0F55-93744C5372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050" y="2105025"/>
            <a:ext cx="2806002" cy="1626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슬라이드 번호 개체 틀 7">
            <a:extLst>
              <a:ext uri="{FF2B5EF4-FFF2-40B4-BE49-F238E27FC236}">
                <a16:creationId xmlns:a16="http://schemas.microsoft.com/office/drawing/2014/main" id="{01A55B55-9C08-C924-2998-E8492F46D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02111984F56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888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39CAD-391B-1A5A-7C6C-CA0F06718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3F9BE6-163C-A512-962D-1615DEE8E4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631" y="591324"/>
            <a:ext cx="6320844" cy="5386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D2Coding" panose="020B0609020101020101" pitchFamily="49" charset="-127"/>
              </a:rPr>
              <a:t>2026</a:t>
            </a:r>
            <a:r>
              <a:rPr kumimoji="0" lang="ko-KR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D2Coding" panose="020B0609020101020101" pitchFamily="49" charset="-127"/>
              </a:rPr>
              <a:t>년 </a:t>
            </a:r>
            <a:r>
              <a:rPr kumimoji="0" lang="en-US" altLang="ko-KR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D2Coding" panose="020B0609020101020101" pitchFamily="49" charset="-127"/>
              </a:rPr>
              <a:t>AI </a:t>
            </a:r>
            <a:r>
              <a:rPr kumimoji="0" lang="ko-KR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D2Coding" panose="020B0609020101020101" pitchFamily="49" charset="-127"/>
              </a:rPr>
              <a:t>기술 </a:t>
            </a:r>
            <a:r>
              <a:rPr kumimoji="0" lang="en-US" altLang="ko-KR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D2Coding" panose="020B0609020101020101" pitchFamily="49" charset="-127"/>
              </a:rPr>
              <a:t>Trend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F1CCBAC-7B45-46C7-EFAE-DE36943092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3211156"/>
              </p:ext>
            </p:extLst>
          </p:nvPr>
        </p:nvGraphicFramePr>
        <p:xfrm>
          <a:off x="655637" y="1400949"/>
          <a:ext cx="10460038" cy="2647176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3515835">
                  <a:extLst>
                    <a:ext uri="{9D8B030D-6E8A-4147-A177-3AD203B41FA5}">
                      <a16:colId xmlns:a16="http://schemas.microsoft.com/office/drawing/2014/main" val="2308711996"/>
                    </a:ext>
                  </a:extLst>
                </a:gridCol>
                <a:gridCol w="6944203">
                  <a:extLst>
                    <a:ext uri="{9D8B030D-6E8A-4147-A177-3AD203B41FA5}">
                      <a16:colId xmlns:a16="http://schemas.microsoft.com/office/drawing/2014/main" val="1497260062"/>
                    </a:ext>
                  </a:extLst>
                </a:gridCol>
              </a:tblGrid>
              <a:tr h="4411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AI </a:t>
                      </a:r>
                      <a:r>
                        <a:rPr lang="ko-KR" alt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트렌드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핵심 내용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0525987"/>
                  </a:ext>
                </a:extLst>
              </a:tr>
              <a:tr h="4411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1. AI Agent</a:t>
                      </a:r>
                      <a:endParaRPr lang="en-US" sz="16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단순히 질문에 답하는 </a:t>
                      </a:r>
                      <a:r>
                        <a:rPr lang="en-US" altLang="ko-KR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AI</a:t>
                      </a:r>
                      <a:r>
                        <a:rPr lang="ko-KR" alt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를 넘어 스스로 계획하고 실행하는 </a:t>
                      </a:r>
                      <a:r>
                        <a:rPr lang="en-US" altLang="ko-KR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AI </a:t>
                      </a:r>
                      <a:r>
                        <a:rPr lang="ko-KR" alt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등장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0327801"/>
                  </a:ext>
                </a:extLst>
              </a:tr>
              <a:tr h="4411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600" b="1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2. </a:t>
                      </a:r>
                      <a:r>
                        <a:rPr lang="en-US" sz="1600" b="1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Multimodal AI</a:t>
                      </a:r>
                      <a:endParaRPr lang="en-US" sz="16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텍스트</a:t>
                      </a:r>
                      <a:r>
                        <a:rPr lang="en-US" altLang="ko-KR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이미지</a:t>
                      </a:r>
                      <a:r>
                        <a:rPr lang="en-US" altLang="ko-KR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음성</a:t>
                      </a:r>
                      <a:r>
                        <a:rPr lang="en-US" altLang="ko-KR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영상</a:t>
                      </a:r>
                      <a:r>
                        <a:rPr lang="en-US" altLang="ko-KR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센서 데이터를 동시에 이해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5031982"/>
                  </a:ext>
                </a:extLst>
              </a:tr>
              <a:tr h="4411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3. SLM</a:t>
                      </a:r>
                      <a:r>
                        <a:rPr lang="ko-KR" altLang="en-US" sz="1600" b="1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과 </a:t>
                      </a:r>
                      <a:r>
                        <a:rPr lang="ko-KR" altLang="en-US" sz="1600" b="1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온디바이스</a:t>
                      </a:r>
                      <a:r>
                        <a:rPr lang="ko-KR" altLang="en-US" sz="1600" b="1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r>
                        <a:rPr lang="en-US" sz="1600" b="1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AI</a:t>
                      </a:r>
                      <a:endParaRPr lang="en-US" sz="16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거대 </a:t>
                      </a:r>
                      <a:r>
                        <a:rPr lang="en-US" altLang="ko-KR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AI</a:t>
                      </a:r>
                      <a:r>
                        <a:rPr lang="ko-KR" alt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뿐 아니라 스마트폰</a:t>
                      </a:r>
                      <a:r>
                        <a:rPr lang="en-US" altLang="ko-KR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·</a:t>
                      </a:r>
                      <a:r>
                        <a:rPr lang="ko-KR" alt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로봇</a:t>
                      </a:r>
                      <a:r>
                        <a:rPr lang="en-US" altLang="ko-KR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·</a:t>
                      </a:r>
                      <a:r>
                        <a:rPr lang="ko-KR" alt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자동차에서 동작하는 경량 </a:t>
                      </a:r>
                      <a:r>
                        <a:rPr lang="en-US" altLang="ko-KR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AI </a:t>
                      </a:r>
                      <a:r>
                        <a:rPr lang="ko-KR" alt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확산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6106674"/>
                  </a:ext>
                </a:extLst>
              </a:tr>
              <a:tr h="4411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4. Domain </a:t>
                      </a:r>
                      <a:r>
                        <a:rPr lang="ko-KR" altLang="en-US" sz="1600" b="1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전문가 중심의</a:t>
                      </a:r>
                      <a:r>
                        <a:rPr lang="en-US" altLang="ko-KR" sz="1600" b="1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AI</a:t>
                      </a:r>
                      <a:r>
                        <a:rPr lang="ko-KR" altLang="en-US" sz="1600" b="1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활용</a:t>
                      </a:r>
                      <a:endParaRPr lang="ko-KR" altLang="en-US" sz="16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AI </a:t>
                      </a:r>
                      <a:r>
                        <a:rPr lang="ko-KR" alt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전문가보다 </a:t>
                      </a:r>
                      <a:r>
                        <a:rPr lang="en-US" altLang="ko-KR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AI</a:t>
                      </a:r>
                      <a:r>
                        <a:rPr lang="ko-KR" alt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를 활용하는 도메인 전문가 가치 증가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1717034"/>
                  </a:ext>
                </a:extLst>
              </a:tr>
              <a:tr h="4411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5. AI Native </a:t>
                      </a:r>
                      <a:r>
                        <a:rPr lang="ko-KR" altLang="en-US" sz="1600" b="1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시대 도래</a:t>
                      </a:r>
                      <a:endParaRPr lang="ko-KR" altLang="en-US" sz="16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AI</a:t>
                      </a:r>
                      <a:r>
                        <a:rPr lang="ko-KR" alt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가 업무 보조가 아니라 업무 수행의 기본 인프라가 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459186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8C7537A-3D69-AECB-B755-133564319E94}"/>
              </a:ext>
            </a:extLst>
          </p:cNvPr>
          <p:cNvSpPr txBox="1"/>
          <p:nvPr/>
        </p:nvSpPr>
        <p:spPr>
          <a:xfrm>
            <a:off x="4337341" y="4584115"/>
            <a:ext cx="709424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sz="1600" dirty="0">
                <a:ea typeface="D2Coding" panose="020B0609020101020101" pitchFamily="49" charset="-127"/>
              </a:rPr>
              <a:t>'AI</a:t>
            </a:r>
            <a:r>
              <a:rPr lang="ko-KR" altLang="en-US" sz="1600" dirty="0">
                <a:ea typeface="D2Coding" panose="020B0609020101020101" pitchFamily="49" charset="-127"/>
              </a:rPr>
              <a:t>를 활용한 업무 설계 및 문제 해결 능력</a:t>
            </a:r>
            <a:r>
              <a:rPr lang="en-US" altLang="ko-KR" sz="1600" dirty="0">
                <a:ea typeface="D2Coding" panose="020B0609020101020101" pitchFamily="49" charset="-127"/>
              </a:rPr>
              <a:t>' </a:t>
            </a:r>
            <a:r>
              <a:rPr lang="ko-KR" altLang="en-US" sz="1600" dirty="0">
                <a:ea typeface="D2Coding" panose="020B0609020101020101" pitchFamily="49" charset="-127"/>
              </a:rPr>
              <a:t>중심으로 전환</a:t>
            </a:r>
            <a:endParaRPr lang="en-US" altLang="ko-KR" sz="1600" dirty="0">
              <a:ea typeface="D2Coding" panose="020B060902010102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altLang="ko-KR" sz="1600" dirty="0">
              <a:ea typeface="D2Coding" panose="020B060902010102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sz="1600" dirty="0"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ea typeface="D2Coding" panose="020B0609020101020101" pitchFamily="49" charset="-127"/>
              </a:rPr>
              <a:t>다양한 데이터 융합 교육</a:t>
            </a:r>
            <a:r>
              <a:rPr lang="en-US" altLang="ko-KR" sz="1600" dirty="0"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ea typeface="D2Coding" panose="020B0609020101020101" pitchFamily="49" charset="-127"/>
              </a:rPr>
              <a:t>과 </a:t>
            </a:r>
            <a:r>
              <a:rPr lang="en-US" altLang="ko-KR" sz="1600" dirty="0"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ea typeface="D2Coding" panose="020B0609020101020101" pitchFamily="49" charset="-127"/>
              </a:rPr>
              <a:t>산업현장 맞춤형 </a:t>
            </a:r>
            <a:r>
              <a:rPr lang="en-US" altLang="ko-KR" sz="1600" dirty="0">
                <a:ea typeface="D2Coding" panose="020B0609020101020101" pitchFamily="49" charset="-127"/>
              </a:rPr>
              <a:t>AI </a:t>
            </a:r>
            <a:r>
              <a:rPr lang="ko-KR" altLang="en-US" sz="1600" dirty="0">
                <a:ea typeface="D2Coding" panose="020B0609020101020101" pitchFamily="49" charset="-127"/>
              </a:rPr>
              <a:t>역량</a:t>
            </a:r>
            <a:r>
              <a:rPr lang="en-US" altLang="ko-KR" sz="1600" dirty="0">
                <a:ea typeface="D2Coding" panose="020B0609020101020101" pitchFamily="49" charset="-127"/>
              </a:rPr>
              <a:t>' </a:t>
            </a:r>
            <a:r>
              <a:rPr lang="ko-KR" altLang="en-US" sz="1600" dirty="0">
                <a:ea typeface="D2Coding" panose="020B0609020101020101" pitchFamily="49" charset="-127"/>
              </a:rPr>
              <a:t>강화</a:t>
            </a:r>
            <a:endParaRPr lang="en-US" altLang="ko-KR" sz="1600" dirty="0">
              <a:ea typeface="D2Coding" panose="020B060902010102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altLang="ko-KR" sz="1600" dirty="0">
              <a:ea typeface="D2Coding" panose="020B060902010102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sz="1600" dirty="0"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ea typeface="D2Coding" panose="020B0609020101020101" pitchFamily="49" charset="-127"/>
              </a:rPr>
              <a:t>전공 지식과 </a:t>
            </a:r>
            <a:r>
              <a:rPr lang="en-US" altLang="ko-KR" sz="1600" dirty="0">
                <a:ea typeface="D2Coding" panose="020B0609020101020101" pitchFamily="49" charset="-127"/>
              </a:rPr>
              <a:t>AI </a:t>
            </a:r>
            <a:r>
              <a:rPr lang="ko-KR" altLang="en-US" sz="1600" dirty="0">
                <a:ea typeface="D2Coding" panose="020B0609020101020101" pitchFamily="49" charset="-127"/>
              </a:rPr>
              <a:t>기술의 필수적인 융합 교육</a:t>
            </a:r>
            <a:r>
              <a:rPr lang="en-US" altLang="ko-KR" sz="1600" dirty="0"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ea typeface="D2Coding" panose="020B0609020101020101" pitchFamily="49" charset="-127"/>
              </a:rPr>
              <a:t>이 실현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ko-KR" altLang="en-US" sz="1600" dirty="0">
              <a:ea typeface="D2Coding" panose="020B0609020101020101" pitchFamily="49" charset="-127"/>
            </a:endParaRPr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DEE140B5-3AA1-2578-BC96-74F27122D290}"/>
              </a:ext>
            </a:extLst>
          </p:cNvPr>
          <p:cNvSpPr/>
          <p:nvPr/>
        </p:nvSpPr>
        <p:spPr>
          <a:xfrm>
            <a:off x="2067215" y="4584115"/>
            <a:ext cx="1620838" cy="1257300"/>
          </a:xfrm>
          <a:prstGeom prst="rightArrow">
            <a:avLst>
              <a:gd name="adj1" fmla="val 69697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교육부문</a:t>
            </a:r>
          </a:p>
        </p:txBody>
      </p:sp>
      <p:sp>
        <p:nvSpPr>
          <p:cNvPr id="4" name="슬라이드 번호 개체 틀 7">
            <a:extLst>
              <a:ext uri="{FF2B5EF4-FFF2-40B4-BE49-F238E27FC236}">
                <a16:creationId xmlns:a16="http://schemas.microsoft.com/office/drawing/2014/main" id="{F9507C2B-7BD9-5C5B-F9ED-4F7E543EC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02111984F56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712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1FB41-06FC-9181-5078-05724ECB9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3F73EBF3-1A71-2838-3A1D-D2845E779EB4}"/>
              </a:ext>
            </a:extLst>
          </p:cNvPr>
          <p:cNvSpPr txBox="1"/>
          <p:nvPr/>
        </p:nvSpPr>
        <p:spPr>
          <a:xfrm>
            <a:off x="381000" y="491418"/>
            <a:ext cx="7124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경기 직업계고</a:t>
            </a:r>
            <a:r>
              <a:rPr lang="en-US" altLang="ko-KR" dirty="0"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 ‘</a:t>
            </a:r>
            <a:r>
              <a:rPr lang="ko-KR" altLang="en-US" dirty="0"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수업이 </a:t>
            </a:r>
            <a:r>
              <a:rPr lang="ko-KR" altLang="en-US" dirty="0" err="1"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경력되는</a:t>
            </a:r>
            <a:r>
              <a:rPr lang="ko-KR" altLang="en-US" dirty="0"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인공지능</a:t>
            </a:r>
            <a:r>
              <a:rPr lang="en-US" altLang="ko-KR" dirty="0"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(AI) </a:t>
            </a:r>
            <a:r>
              <a:rPr lang="ko-KR" altLang="en-US" dirty="0"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실무 교육’ 전면 도입</a:t>
            </a:r>
            <a:endParaRPr lang="ko-KR" altLang="en-US" dirty="0">
              <a:ea typeface="D2Coding" panose="020B0609020101020101" pitchFamily="49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E42E9156-6ABF-DCC9-5455-9785699B17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786" y="1173301"/>
            <a:ext cx="10655498" cy="5170349"/>
          </a:xfrm>
          <a:prstGeom prst="rect">
            <a:avLst/>
          </a:prstGeom>
        </p:spPr>
      </p:pic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12391C52-1CA6-E59A-540F-9B27555ED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02111984F56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0049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7A19A-5EE4-8235-A155-3BCF1889B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FACB920-5461-300B-996D-39D621B9E6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631" y="652879"/>
            <a:ext cx="6320844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D2Coding" panose="020B0609020101020101" pitchFamily="49" charset="-127"/>
              </a:rPr>
              <a:t>Capstone Design (</a:t>
            </a:r>
            <a:r>
              <a:rPr kumimoji="0" lang="ko-KR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D2Coding" panose="020B0609020101020101" pitchFamily="49" charset="-127"/>
              </a:rPr>
              <a:t>안</a:t>
            </a:r>
            <a:r>
              <a:rPr kumimoji="0" lang="en-US" altLang="ko-KR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D2Coding" panose="020B0609020101020101" pitchFamily="49" charset="-127"/>
              </a:rPr>
              <a:t>)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63C4187-B225-55A4-AB88-5EB04DCC50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3505465"/>
              </p:ext>
            </p:extLst>
          </p:nvPr>
        </p:nvGraphicFramePr>
        <p:xfrm>
          <a:off x="527631" y="1374139"/>
          <a:ext cx="10636250" cy="4959983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911350">
                  <a:extLst>
                    <a:ext uri="{9D8B030D-6E8A-4147-A177-3AD203B41FA5}">
                      <a16:colId xmlns:a16="http://schemas.microsoft.com/office/drawing/2014/main" val="1455536812"/>
                    </a:ext>
                  </a:extLst>
                </a:gridCol>
                <a:gridCol w="8724900">
                  <a:extLst>
                    <a:ext uri="{9D8B030D-6E8A-4147-A177-3AD203B41FA5}">
                      <a16:colId xmlns:a16="http://schemas.microsoft.com/office/drawing/2014/main" val="95339640"/>
                    </a:ext>
                  </a:extLst>
                </a:gridCol>
              </a:tblGrid>
              <a:tr h="37369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학과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실습내용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5618959"/>
                  </a:ext>
                </a:extLst>
              </a:tr>
              <a:tr h="91725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스마트 건설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건설자재 관리 웹서비스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자재 입출고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재고 관리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공정 관리 시스템 구축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)</a:t>
                      </a:r>
                    </a:p>
                    <a:p>
                      <a:pPr marL="285750" indent="-28575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공사현장 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AI Agent(</a:t>
                      </a: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안전수칙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공정관리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자재산출 질의응답 시스템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)</a:t>
                      </a:r>
                    </a:p>
                    <a:p>
                      <a:pPr marL="285750" indent="-285750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AI </a:t>
                      </a: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건설현장 안전감시 시스템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(CCTV </a:t>
                      </a: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기반 안전모 착용 및 위험구역 출입 감지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)</a:t>
                      </a: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   </a:t>
                      </a:r>
                      <a:endParaRPr lang="en-US" altLang="ko-KR" sz="1600" dirty="0">
                        <a:solidFill>
                          <a:schemeClr val="bg1"/>
                        </a:solidFill>
                        <a:latin typeface="+mn-lt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2747618"/>
                  </a:ext>
                </a:extLst>
              </a:tr>
              <a:tr h="91725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건축인테리어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AI </a:t>
                      </a: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인테리어 포트폴리오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작품 관리 및 전시용 웹사이트 제작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)</a:t>
                      </a:r>
                    </a:p>
                    <a:p>
                      <a:pPr marL="285750" indent="-285750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AI </a:t>
                      </a: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인테리어 상담 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Agent(</a:t>
                      </a: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고객 요구사항 기반 스타일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·</a:t>
                      </a: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색상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·</a:t>
                      </a: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가구 추천</a:t>
                      </a:r>
                      <a:endParaRPr lang="en-US" altLang="ko-KR" sz="1600" dirty="0">
                        <a:solidFill>
                          <a:schemeClr val="bg1"/>
                        </a:solidFill>
                        <a:latin typeface="+mn-lt"/>
                        <a:ea typeface="D2Coding" panose="020B0609020101020101" pitchFamily="49" charset="-127"/>
                      </a:endParaRPr>
                    </a:p>
                    <a:p>
                      <a:pPr marL="285750" indent="-28575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생성형 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AI </a:t>
                      </a: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리모델링 시스템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공간 사진 기반 리모델링 이미지 생성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)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+mn-lt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4495835"/>
                  </a:ext>
                </a:extLst>
              </a:tr>
              <a:tr h="91725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스마트전기전자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IoT </a:t>
                      </a: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환경 모니터링 시스템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온도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·</a:t>
                      </a: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습도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·</a:t>
                      </a: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조도 데이터 수집 및 시각화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)</a:t>
                      </a:r>
                    </a:p>
                    <a:p>
                      <a:pPr marL="285750" indent="-28575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설비관리 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AI Agent(</a:t>
                      </a: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설비 매뉴얼 검색 및 고장 진단 지원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)</a:t>
                      </a:r>
                    </a:p>
                    <a:p>
                      <a:pPr marL="285750" indent="-285750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AI </a:t>
                      </a: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설비 고장 예측 시스템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센서 데이터를 활용한 이상 탐지 및 예지보전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)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+mn-lt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4038720"/>
                  </a:ext>
                </a:extLst>
              </a:tr>
              <a:tr h="91725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스마트소프트웨어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학교생활 관리 웹서비스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시간표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과제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출결 관리 서비스 개발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)</a:t>
                      </a:r>
                    </a:p>
                    <a:p>
                      <a:pPr marL="285750" indent="-28575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학교생활 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AI Agent(</a:t>
                      </a: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학사정보 및 진로상담 </a:t>
                      </a:r>
                      <a:r>
                        <a:rPr lang="ko-KR" altLang="en-US" sz="1600" dirty="0" err="1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챗봇</a:t>
                      </a: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 구현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)</a:t>
                      </a:r>
                    </a:p>
                    <a:p>
                      <a:pPr marL="285750" indent="-28575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지역기업 업무자동화 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AI </a:t>
                      </a: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서비스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기업 민원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·</a:t>
                      </a: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재고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·</a:t>
                      </a: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고객관리 자동화 솔루션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)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+mn-lt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4108708"/>
                  </a:ext>
                </a:extLst>
              </a:tr>
              <a:tr h="91725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err="1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뷰티미용과</a:t>
                      </a:r>
                      <a:endParaRPr kumimoji="0" lang="ko-KR" altLang="ko-KR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600" dirty="0" err="1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뷰티샵</a:t>
                      </a: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 예약관리 시스템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고객 예약 및 시술 이력 관리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)</a:t>
                      </a:r>
                    </a:p>
                    <a:p>
                      <a:pPr marL="285750" indent="-285750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AI </a:t>
                      </a: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뷰티 컨설턴트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피부타입 진단 및 화장품 추천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)</a:t>
                      </a:r>
                    </a:p>
                    <a:p>
                      <a:pPr marL="285750" indent="-285750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AI </a:t>
                      </a: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퍼스널 뷰티 추천 플랫폼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얼굴형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·</a:t>
                      </a: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피부 분석 기반 헤어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·</a:t>
                      </a: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메이크업 추천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+mn-lt"/>
                          <a:ea typeface="D2Coding" panose="020B0609020101020101" pitchFamily="49" charset="-127"/>
                        </a:rPr>
                        <a:t>)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+mn-lt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990292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665D20D-EBC4-260E-E9B1-7A9813B2F8E1}"/>
              </a:ext>
            </a:extLst>
          </p:cNvPr>
          <p:cNvSpPr txBox="1"/>
          <p:nvPr/>
        </p:nvSpPr>
        <p:spPr>
          <a:xfrm>
            <a:off x="438150" y="6413427"/>
            <a:ext cx="19907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ea typeface="D2Coding" panose="020B0609020101020101" pitchFamily="49" charset="-127"/>
              </a:rPr>
              <a:t>출처 </a:t>
            </a:r>
            <a:r>
              <a:rPr lang="en-US" altLang="ko-KR" sz="1400" dirty="0">
                <a:ea typeface="D2Coding" panose="020B0609020101020101" pitchFamily="49" charset="-127"/>
              </a:rPr>
              <a:t>: </a:t>
            </a:r>
            <a:r>
              <a:rPr lang="en-US" altLang="ko-KR" sz="1400" dirty="0" err="1">
                <a:ea typeface="D2Coding" panose="020B0609020101020101" pitchFamily="49" charset="-127"/>
              </a:rPr>
              <a:t>chatGPT</a:t>
            </a:r>
            <a:endParaRPr lang="ko-KR" altLang="en-US" sz="1400" dirty="0"/>
          </a:p>
        </p:txBody>
      </p:sp>
      <p:sp>
        <p:nvSpPr>
          <p:cNvPr id="3" name="슬라이드 번호 개체 틀 7">
            <a:extLst>
              <a:ext uri="{FF2B5EF4-FFF2-40B4-BE49-F238E27FC236}">
                <a16:creationId xmlns:a16="http://schemas.microsoft.com/office/drawing/2014/main" id="{6F3884BD-9432-B359-D8A2-461A76146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02111984F56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66260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FD5A9-C56E-63E5-B2BD-786EFB613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D507766-4152-3DA9-7BBC-ADB92DD336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630" y="591324"/>
            <a:ext cx="8306033" cy="5386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3200" dirty="0">
                <a:ea typeface="D2Coding" panose="020B0609020101020101" pitchFamily="49" charset="-127"/>
              </a:rPr>
              <a:t>경복대학교 </a:t>
            </a:r>
            <a:r>
              <a:rPr lang="en-US" altLang="ko-KR" sz="3200" dirty="0">
                <a:ea typeface="D2Coding" panose="020B0609020101020101" pitchFamily="49" charset="-127"/>
              </a:rPr>
              <a:t>2025</a:t>
            </a:r>
            <a:r>
              <a:rPr lang="ko-KR" altLang="en-US" sz="3200" dirty="0">
                <a:ea typeface="D2Coding" panose="020B0609020101020101" pitchFamily="49" charset="-127"/>
              </a:rPr>
              <a:t>년도 </a:t>
            </a:r>
            <a:r>
              <a:rPr lang="en-US" altLang="ko-KR" sz="3200" dirty="0"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Capstone Design</a:t>
            </a:r>
            <a:endParaRPr kumimoji="0" lang="en-US" altLang="ko-KR" sz="3200" i="0" u="none" strike="noStrike" cap="none" normalizeH="0" baseline="0" dirty="0">
              <a:ln>
                <a:noFill/>
              </a:ln>
              <a:effectLst/>
              <a:ea typeface="D2Coding" panose="020B0609020101020101" pitchFamily="49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E734ED-2621-5DED-140A-B165B868E48D}"/>
              </a:ext>
            </a:extLst>
          </p:cNvPr>
          <p:cNvSpPr txBox="1"/>
          <p:nvPr/>
        </p:nvSpPr>
        <p:spPr>
          <a:xfrm>
            <a:off x="1724025" y="2057400"/>
            <a:ext cx="6615914" cy="27921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400" dirty="0">
                <a:ea typeface="D2Coding" panose="020B0609020101020101" pitchFamily="49" charset="-127"/>
              </a:rPr>
              <a:t>한국어</a:t>
            </a:r>
            <a:r>
              <a:rPr lang="en-US" altLang="ko-KR" sz="2400" dirty="0">
                <a:ea typeface="D2Coding" panose="020B0609020101020101" pitchFamily="49" charset="-127"/>
              </a:rPr>
              <a:t> </a:t>
            </a:r>
            <a:r>
              <a:rPr lang="ko-KR" altLang="en-US" sz="2400" dirty="0">
                <a:ea typeface="D2Coding" panose="020B0609020101020101" pitchFamily="49" charset="-127"/>
              </a:rPr>
              <a:t>음성</a:t>
            </a:r>
            <a:r>
              <a:rPr lang="en-US" altLang="ko-KR" sz="2400" dirty="0">
                <a:ea typeface="D2Coding" panose="020B0609020101020101" pitchFamily="49" charset="-127"/>
              </a:rPr>
              <a:t> </a:t>
            </a:r>
            <a:r>
              <a:rPr lang="ko-KR" altLang="en-US" sz="2400" dirty="0">
                <a:ea typeface="D2Coding" panose="020B0609020101020101" pitchFamily="49" charset="-127"/>
              </a:rPr>
              <a:t>및 </a:t>
            </a:r>
            <a:r>
              <a:rPr lang="ko-KR" altLang="en-US" sz="2400" dirty="0" err="1">
                <a:ea typeface="D2Coding" panose="020B0609020101020101" pitchFamily="49" charset="-127"/>
              </a:rPr>
              <a:t>제스쳐</a:t>
            </a:r>
            <a:r>
              <a:rPr lang="ko-KR" altLang="en-US" sz="2400" dirty="0">
                <a:ea typeface="D2Coding" panose="020B0609020101020101" pitchFamily="49" charset="-127"/>
              </a:rPr>
              <a:t> 인식 제어 </a:t>
            </a:r>
            <a:r>
              <a:rPr lang="ko-KR" altLang="en-US" sz="2400" dirty="0" err="1">
                <a:ea typeface="D2Coding" panose="020B0609020101020101" pitchFamily="49" charset="-127"/>
              </a:rPr>
              <a:t>드론</a:t>
            </a:r>
            <a:endParaRPr lang="en-US" altLang="ko-KR" sz="2400" dirty="0">
              <a:ea typeface="D2Coding" panose="020B0609020101020101" pitchFamily="49" charset="-127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400" dirty="0">
                <a:ea typeface="D2Coding" panose="020B0609020101020101" pitchFamily="49" charset="-127"/>
              </a:rPr>
              <a:t>자율주행 자동차</a:t>
            </a:r>
            <a:endParaRPr lang="en-US" altLang="ko-KR" sz="2400" dirty="0">
              <a:ea typeface="D2Coding" panose="020B0609020101020101" pitchFamily="49" charset="-127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400" dirty="0">
                <a:ea typeface="D2Coding" panose="020B0609020101020101" pitchFamily="49" charset="-127"/>
              </a:rPr>
              <a:t>스마트 홈 </a:t>
            </a:r>
            <a:r>
              <a:rPr lang="en-US" altLang="ko-KR" sz="2400" dirty="0">
                <a:ea typeface="D2Coding" panose="020B0609020101020101" pitchFamily="49" charset="-127"/>
              </a:rPr>
              <a:t>(</a:t>
            </a:r>
            <a:r>
              <a:rPr lang="ko-KR" altLang="en-US" sz="2400" dirty="0">
                <a:ea typeface="D2Coding" panose="020B0609020101020101" pitchFamily="49" charset="-127"/>
              </a:rPr>
              <a:t>얼굴인식 기반 출입 제어 시스템</a:t>
            </a:r>
            <a:r>
              <a:rPr lang="en-US" altLang="ko-KR" sz="2400" dirty="0">
                <a:ea typeface="D2Coding" panose="020B0609020101020101" pitchFamily="49" charset="-127"/>
              </a:rPr>
              <a:t>)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dirty="0">
                <a:ea typeface="D2Coding" panose="020B0609020101020101" pitchFamily="49" charset="-127"/>
              </a:rPr>
              <a:t>IoT </a:t>
            </a:r>
            <a:r>
              <a:rPr lang="ko-KR" altLang="en-US" sz="2400" dirty="0">
                <a:ea typeface="D2Coding" panose="020B0609020101020101" pitchFamily="49" charset="-127"/>
              </a:rPr>
              <a:t>낙상감지 시스템</a:t>
            </a:r>
            <a:endParaRPr lang="en-US" altLang="ko-KR" sz="2400" dirty="0">
              <a:ea typeface="D2Coding" panose="020B0609020101020101" pitchFamily="49" charset="-127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dirty="0">
                <a:ea typeface="D2Coding" panose="020B0609020101020101" pitchFamily="49" charset="-127"/>
              </a:rPr>
              <a:t>AI Tutor</a:t>
            </a:r>
            <a:endParaRPr lang="ko-KR" altLang="en-US" sz="2400" dirty="0">
              <a:ea typeface="D2Coding" panose="020B0609020101020101" pitchFamily="49" charset="-127"/>
            </a:endParaRPr>
          </a:p>
        </p:txBody>
      </p:sp>
      <p:sp>
        <p:nvSpPr>
          <p:cNvPr id="4" name="슬라이드 번호 개체 틀 7">
            <a:extLst>
              <a:ext uri="{FF2B5EF4-FFF2-40B4-BE49-F238E27FC236}">
                <a16:creationId xmlns:a16="http://schemas.microsoft.com/office/drawing/2014/main" id="{CB561670-C5CD-E5BC-54A8-31A4C3FF6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02111984F56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7464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E5465-0296-58A4-1609-BC499EAA4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1BDD706-3BEF-315C-7A5B-9ACDA8062DD8}"/>
              </a:ext>
            </a:extLst>
          </p:cNvPr>
          <p:cNvSpPr/>
          <p:nvPr/>
        </p:nvSpPr>
        <p:spPr>
          <a:xfrm>
            <a:off x="1104900" y="2165446"/>
            <a:ext cx="6629399" cy="6096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265B2D2-DBE0-432F-23E6-60D3E3A6ED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030" y="586381"/>
            <a:ext cx="8825658" cy="609600"/>
          </a:xfrm>
        </p:spPr>
        <p:txBody>
          <a:bodyPr/>
          <a:lstStyle/>
          <a:p>
            <a:r>
              <a:rPr lang="en-US" altLang="ko-KR" sz="4400" dirty="0"/>
              <a:t>Contents</a:t>
            </a:r>
            <a:endParaRPr lang="ko-KR" altLang="en-US" sz="4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F020FC3-9A7D-CA21-9CC1-2714D64B4D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4055" y="1452837"/>
            <a:ext cx="7627095" cy="365016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AI </a:t>
            </a:r>
            <a:r>
              <a:rPr lang="ko-KR" altLang="en-US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기술 </a:t>
            </a:r>
            <a:r>
              <a:rPr lang="en-US" altLang="ko-KR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Trends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AI </a:t>
            </a:r>
            <a:r>
              <a:rPr lang="ko-KR" altLang="en-US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문해력</a:t>
            </a:r>
            <a:r>
              <a:rPr lang="en-US" altLang="ko-KR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(AI Literacy)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Machine/Deep Learning </a:t>
            </a:r>
            <a:r>
              <a:rPr lang="ko-KR" altLang="en-US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이해</a:t>
            </a:r>
            <a:endParaRPr lang="en-US" altLang="ko-KR" sz="2400" cap="none" dirty="0">
              <a:solidFill>
                <a:schemeClr val="tx1"/>
              </a:solidFill>
              <a:latin typeface="+mn-lt"/>
              <a:ea typeface="D2Coding" panose="020B0609020101020101" pitchFamily="49" charset="-127"/>
            </a:endParaRP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ko-KR" altLang="en-US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생성형 </a:t>
            </a:r>
            <a:r>
              <a:rPr lang="en-US" altLang="ko-KR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AI(Generative</a:t>
            </a:r>
            <a:r>
              <a:rPr lang="ko-KR" altLang="en-US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 </a:t>
            </a:r>
            <a:r>
              <a:rPr lang="en-US" altLang="ko-KR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AI)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ko-KR" altLang="en-US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직업의</a:t>
            </a:r>
            <a:r>
              <a:rPr lang="en-US" altLang="ko-KR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 </a:t>
            </a:r>
            <a:r>
              <a:rPr lang="ko-KR" altLang="en-US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변화</a:t>
            </a:r>
            <a:endParaRPr lang="en-US" altLang="ko-KR" sz="2400" cap="none" dirty="0">
              <a:solidFill>
                <a:schemeClr val="tx1"/>
              </a:solidFill>
              <a:latin typeface="+mn-lt"/>
              <a:ea typeface="D2Coding" panose="020B0609020101020101" pitchFamily="49" charset="-127"/>
            </a:endParaRP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ko-KR" altLang="en-US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교육의 변화</a:t>
            </a:r>
            <a:endParaRPr lang="en-US" altLang="ko-KR" sz="2400" cap="none" dirty="0">
              <a:solidFill>
                <a:schemeClr val="tx1"/>
              </a:solidFill>
              <a:latin typeface="+mn-lt"/>
              <a:ea typeface="D2Coding" panose="020B0609020101020101" pitchFamily="49" charset="-127"/>
            </a:endParaRP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ko-KR" altLang="en-US" sz="2400" cap="none" dirty="0">
              <a:solidFill>
                <a:schemeClr val="tx1"/>
              </a:solidFill>
              <a:latin typeface="+mn-lt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767028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2B19C-A0CB-1C03-E942-FDEE22652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0D59C107-F17B-9522-C972-A56F19675E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8229" y="1321458"/>
            <a:ext cx="9994572" cy="4439262"/>
          </a:xfrm>
        </p:spPr>
        <p:txBody>
          <a:bodyPr>
            <a:normAutofit/>
          </a:bodyPr>
          <a:lstStyle/>
          <a:p>
            <a:pPr marL="0" indent="0">
              <a:lnSpc>
                <a:spcPct val="200000"/>
              </a:lnSpc>
              <a:buClr>
                <a:srgbClr val="FFC000"/>
              </a:buClr>
              <a:buNone/>
            </a:pPr>
            <a:r>
              <a:rPr lang="en-US" altLang="ko-KR" sz="2800" dirty="0">
                <a:latin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 Literacy</a:t>
            </a:r>
            <a:r>
              <a:rPr lang="ko-KR" altLang="en-US" sz="2800" dirty="0">
                <a:latin typeface="+mn-lt"/>
              </a:rPr>
              <a:t>는</a:t>
            </a:r>
            <a:r>
              <a:rPr lang="en-US" altLang="ko-KR" sz="2800" dirty="0">
                <a:latin typeface="+mn-lt"/>
              </a:rPr>
              <a:t> </a:t>
            </a:r>
            <a:r>
              <a:rPr lang="ko-KR" altLang="en-US" sz="2800" dirty="0">
                <a:latin typeface="+mn-lt"/>
              </a:rPr>
              <a:t>개인</a:t>
            </a:r>
            <a:r>
              <a:rPr lang="en-US" altLang="ko-KR" sz="2800" dirty="0">
                <a:latin typeface="+mn-lt"/>
              </a:rPr>
              <a:t> </a:t>
            </a:r>
            <a:r>
              <a:rPr lang="ko-KR" altLang="en-US" sz="2800" dirty="0">
                <a:latin typeface="+mn-lt"/>
              </a:rPr>
              <a:t>역량</a:t>
            </a:r>
            <a:r>
              <a:rPr lang="en-US" altLang="ko-KR" sz="2800" dirty="0">
                <a:latin typeface="+mn-lt"/>
              </a:rPr>
              <a:t>(competencies ) :</a:t>
            </a:r>
          </a:p>
          <a:p>
            <a:pPr marL="914400" lvl="1" indent="-457200">
              <a:lnSpc>
                <a:spcPct val="200000"/>
              </a:lnSpc>
              <a:buClr>
                <a:srgbClr val="FFC000"/>
              </a:buClr>
              <a:buFont typeface="+mj-lt"/>
              <a:buAutoNum type="arabicParenR"/>
            </a:pPr>
            <a:r>
              <a:rPr lang="en-US" altLang="ko-KR" sz="2400" dirty="0">
                <a:latin typeface="+mn-lt"/>
                <a:ea typeface="D2Coding" panose="020B0609020101020101" pitchFamily="49" charset="-127"/>
              </a:rPr>
              <a:t>AI </a:t>
            </a:r>
            <a:r>
              <a:rPr lang="ko-KR" altLang="en-US" sz="2400" dirty="0">
                <a:latin typeface="+mn-lt"/>
                <a:ea typeface="D2Coding" panose="020B0609020101020101" pitchFamily="49" charset="-127"/>
              </a:rPr>
              <a:t>기술을 비판적으로 평가하고</a:t>
            </a:r>
            <a:r>
              <a:rPr lang="en-US" altLang="ko-KR" sz="2400" dirty="0">
                <a:latin typeface="+mn-lt"/>
                <a:ea typeface="D2Coding" panose="020B0609020101020101" pitchFamily="49" charset="-127"/>
              </a:rPr>
              <a:t>,</a:t>
            </a:r>
            <a:endParaRPr lang="en-US" altLang="ko-KR" sz="2400" dirty="0">
              <a:latin typeface="+mn-lt"/>
            </a:endParaRPr>
          </a:p>
          <a:p>
            <a:pPr marL="914400" lvl="1" indent="-457200">
              <a:lnSpc>
                <a:spcPct val="200000"/>
              </a:lnSpc>
              <a:buClr>
                <a:srgbClr val="FFC000"/>
              </a:buClr>
              <a:buFont typeface="+mj-lt"/>
              <a:buAutoNum type="arabicParenR"/>
            </a:pPr>
            <a:r>
              <a:rPr lang="en-US" altLang="ko-KR" sz="2400" dirty="0">
                <a:latin typeface="+mn-lt"/>
                <a:ea typeface="D2Coding" panose="020B0609020101020101" pitchFamily="49" charset="-127"/>
              </a:rPr>
              <a:t>AI</a:t>
            </a:r>
            <a:r>
              <a:rPr lang="ko-KR" altLang="en-US" sz="2400" dirty="0">
                <a:latin typeface="+mn-lt"/>
                <a:ea typeface="D2Coding" panose="020B0609020101020101" pitchFamily="49" charset="-127"/>
              </a:rPr>
              <a:t>와 효과적으로 소통하고 협업하며</a:t>
            </a:r>
            <a:r>
              <a:rPr lang="en-US" altLang="ko-KR" sz="2400" dirty="0">
                <a:latin typeface="+mn-lt"/>
                <a:ea typeface="D2Coding" panose="020B0609020101020101" pitchFamily="49" charset="-127"/>
              </a:rPr>
              <a:t>,</a:t>
            </a:r>
            <a:endParaRPr lang="en-US" altLang="ko-KR" sz="2400" dirty="0">
              <a:latin typeface="+mn-lt"/>
            </a:endParaRPr>
          </a:p>
          <a:p>
            <a:pPr marL="914400" lvl="1" indent="-457200">
              <a:lnSpc>
                <a:spcPct val="200000"/>
              </a:lnSpc>
              <a:buClr>
                <a:srgbClr val="FFC000"/>
              </a:buClr>
              <a:buFont typeface="+mj-lt"/>
              <a:buAutoNum type="arabicParenR"/>
            </a:pPr>
            <a:r>
              <a:rPr lang="ko-KR" altLang="en-US" sz="2400" dirty="0">
                <a:latin typeface="+mn-lt"/>
                <a:ea typeface="D2Coding" panose="020B0609020101020101" pitchFamily="49" charset="-127"/>
              </a:rPr>
              <a:t>가정 및 직장에서 </a:t>
            </a:r>
            <a:r>
              <a:rPr lang="en-US" altLang="ko-KR" sz="2400" dirty="0">
                <a:latin typeface="+mn-lt"/>
                <a:ea typeface="D2Coding" panose="020B0609020101020101" pitchFamily="49" charset="-127"/>
              </a:rPr>
              <a:t>AI</a:t>
            </a:r>
            <a:r>
              <a:rPr lang="ko-KR" altLang="en-US" sz="2400" dirty="0">
                <a:latin typeface="+mn-lt"/>
                <a:ea typeface="D2Coding" panose="020B0609020101020101" pitchFamily="49" charset="-127"/>
              </a:rPr>
              <a:t>를 도구로 사용할 수 있는 역량</a:t>
            </a:r>
            <a:endParaRPr lang="en-US" altLang="ko-KR" sz="2400" dirty="0">
              <a:latin typeface="+mn-lt"/>
              <a:ea typeface="D2Coding" panose="020B0609020101020101" pitchFamily="49" charset="-127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7619B255-3DEB-799D-160F-BF51B59DF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48761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1DE87-18C1-4A10-0DE4-7C7455CCC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AB387351-8197-8E76-6BD6-4BEFA7A74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+mn-lt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 Literacy</a:t>
            </a:r>
            <a:endParaRPr lang="ko-KR" altLang="en-US" b="1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CC9A12E8-488F-3C2C-F0A7-31AB22F75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10</a:t>
            </a:fld>
            <a:endParaRPr lang="en-US" dirty="0"/>
          </a:p>
        </p:txBody>
      </p:sp>
      <p:pic>
        <p:nvPicPr>
          <p:cNvPr id="10" name="그래픽 9" descr="실행">
            <a:extLst>
              <a:ext uri="{FF2B5EF4-FFF2-40B4-BE49-F238E27FC236}">
                <a16:creationId xmlns:a16="http://schemas.microsoft.com/office/drawing/2014/main" id="{D9816C35-8601-DC34-18BB-C496603BBB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22823" y="1740039"/>
            <a:ext cx="1688960" cy="1688960"/>
          </a:xfrm>
          <a:prstGeom prst="rect">
            <a:avLst/>
          </a:prstGeom>
        </p:spPr>
      </p:pic>
      <p:pic>
        <p:nvPicPr>
          <p:cNvPr id="1026" name="Picture 2" descr="▲Chatgpt , Gemini 외의 대화형 생성 AI는 생소하다. &quot;한국형 AI&quot;  네이버 Clova X,  카카오 AskUp, 뤼튼 Wrtn도 애정을 가지고 활용해보자..">
            <a:extLst>
              <a:ext uri="{FF2B5EF4-FFF2-40B4-BE49-F238E27FC236}">
                <a16:creationId xmlns:a16="http://schemas.microsoft.com/office/drawing/2014/main" id="{F5E219D3-0BC1-AEB4-C1AD-A518CC4F00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040457"/>
            <a:ext cx="4977170" cy="2885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십자형 10">
            <a:extLst>
              <a:ext uri="{FF2B5EF4-FFF2-40B4-BE49-F238E27FC236}">
                <a16:creationId xmlns:a16="http://schemas.microsoft.com/office/drawing/2014/main" id="{00F4E7D9-7E53-71CA-3BF0-42FC1849E503}"/>
              </a:ext>
            </a:extLst>
          </p:cNvPr>
          <p:cNvSpPr/>
          <p:nvPr/>
        </p:nvSpPr>
        <p:spPr>
          <a:xfrm rot="2797774">
            <a:off x="4301866" y="2927253"/>
            <a:ext cx="964781" cy="964496"/>
          </a:xfrm>
          <a:prstGeom prst="plus">
            <a:avLst>
              <a:gd name="adj" fmla="val 39483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래픽 12" descr="기는 아기">
            <a:extLst>
              <a:ext uri="{FF2B5EF4-FFF2-40B4-BE49-F238E27FC236}">
                <a16:creationId xmlns:a16="http://schemas.microsoft.com/office/drawing/2014/main" id="{FBF4451E-6A2F-DCC4-B4A2-F6BFBFBF487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57703" y="4150961"/>
            <a:ext cx="1301680" cy="130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439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F87B5-1A89-D3F8-3C70-DED895D1A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23EF3D5-91C3-8814-1048-E29B81F18A08}"/>
              </a:ext>
            </a:extLst>
          </p:cNvPr>
          <p:cNvSpPr/>
          <p:nvPr/>
        </p:nvSpPr>
        <p:spPr>
          <a:xfrm>
            <a:off x="1104900" y="2841721"/>
            <a:ext cx="6629399" cy="6096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3CAA8B2-B23D-7FB1-3069-7C9FADA91A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030" y="586381"/>
            <a:ext cx="8825658" cy="609600"/>
          </a:xfrm>
        </p:spPr>
        <p:txBody>
          <a:bodyPr/>
          <a:lstStyle/>
          <a:p>
            <a:r>
              <a:rPr lang="en-US" altLang="ko-KR" sz="4400" dirty="0"/>
              <a:t>Contents</a:t>
            </a:r>
            <a:endParaRPr lang="ko-KR" altLang="en-US" sz="4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D79E083-24E4-3ABC-B0F4-41E2DAE794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4055" y="1452837"/>
            <a:ext cx="7627095" cy="365016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AI </a:t>
            </a:r>
            <a:r>
              <a:rPr lang="ko-KR" altLang="en-US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기술 </a:t>
            </a:r>
            <a:r>
              <a:rPr lang="en-US" altLang="ko-KR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Trends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AI </a:t>
            </a:r>
            <a:r>
              <a:rPr lang="ko-KR" altLang="en-US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문해력</a:t>
            </a:r>
            <a:r>
              <a:rPr lang="en-US" altLang="ko-KR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(AI Literacy)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Machine/Deep Learning </a:t>
            </a:r>
            <a:r>
              <a:rPr lang="ko-KR" altLang="en-US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이해</a:t>
            </a:r>
            <a:endParaRPr lang="en-US" altLang="ko-KR" sz="2400" cap="none" dirty="0">
              <a:solidFill>
                <a:schemeClr val="tx1"/>
              </a:solidFill>
              <a:latin typeface="+mn-lt"/>
              <a:ea typeface="D2Coding" panose="020B0609020101020101" pitchFamily="49" charset="-127"/>
            </a:endParaRP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ko-KR" altLang="en-US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생성형 </a:t>
            </a:r>
            <a:r>
              <a:rPr lang="en-US" altLang="ko-KR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AI(Generative</a:t>
            </a:r>
            <a:r>
              <a:rPr lang="ko-KR" altLang="en-US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 </a:t>
            </a:r>
            <a:r>
              <a:rPr lang="en-US" altLang="ko-KR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AI)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ko-KR" altLang="en-US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직업의</a:t>
            </a:r>
            <a:r>
              <a:rPr lang="en-US" altLang="ko-KR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 </a:t>
            </a:r>
            <a:r>
              <a:rPr lang="ko-KR" altLang="en-US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변화</a:t>
            </a:r>
            <a:endParaRPr lang="en-US" altLang="ko-KR" sz="2400" cap="none" dirty="0">
              <a:solidFill>
                <a:schemeClr val="tx1"/>
              </a:solidFill>
              <a:latin typeface="+mn-lt"/>
              <a:ea typeface="D2Coding" panose="020B0609020101020101" pitchFamily="49" charset="-127"/>
            </a:endParaRP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ko-KR" altLang="en-US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교육의 변화</a:t>
            </a:r>
            <a:endParaRPr lang="en-US" altLang="ko-KR" sz="2400" cap="none" dirty="0">
              <a:solidFill>
                <a:schemeClr val="tx1"/>
              </a:solidFill>
              <a:latin typeface="+mn-lt"/>
              <a:ea typeface="D2Coding" panose="020B0609020101020101" pitchFamily="49" charset="-127"/>
            </a:endParaRP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ko-KR" altLang="en-US" sz="2400" cap="none" dirty="0">
              <a:solidFill>
                <a:schemeClr val="tx1"/>
              </a:solidFill>
              <a:latin typeface="+mn-lt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130864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B39CB-29A8-D30A-CCE8-BFC53D818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1DC10F64-F249-B0BF-30B8-1D6290B0A2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9909" y="679572"/>
            <a:ext cx="9781212" cy="1078842"/>
          </a:xfrm>
        </p:spPr>
        <p:txBody>
          <a:bodyPr>
            <a:normAutofit/>
          </a:bodyPr>
          <a:lstStyle/>
          <a:p>
            <a:pPr>
              <a:lnSpc>
                <a:spcPct val="170000"/>
              </a:lnSpc>
              <a:buClr>
                <a:srgbClr val="FFC000"/>
              </a:buClr>
              <a:buFont typeface="Wingdings" panose="05000000000000000000" pitchFamily="2" charset="2"/>
              <a:buChar char="v"/>
            </a:pPr>
            <a:r>
              <a:rPr lang="ko-KR" altLang="en-US" dirty="0" err="1">
                <a:latin typeface="+mn-lt"/>
                <a:ea typeface="D2Coding" panose="020B0609020101020101" pitchFamily="49" charset="-127"/>
              </a:rPr>
              <a:t>머신러닝이전</a:t>
            </a:r>
            <a:r>
              <a:rPr lang="ko-KR" altLang="en-US" dirty="0">
                <a:latin typeface="+mn-lt"/>
                <a:ea typeface="D2Coding" panose="020B0609020101020101" pitchFamily="49" charset="-127"/>
              </a:rPr>
              <a:t> 시대에는</a:t>
            </a:r>
            <a:r>
              <a:rPr lang="en-US" altLang="ko-KR" dirty="0">
                <a:latin typeface="+mn-lt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+mn-lt"/>
                <a:ea typeface="D2Coding" panose="020B0609020101020101" pitchFamily="49" charset="-127"/>
              </a:rPr>
              <a:t>관측된</a:t>
            </a:r>
            <a:r>
              <a:rPr lang="en-US" altLang="ko-KR" dirty="0">
                <a:latin typeface="+mn-lt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+mn-lt"/>
                <a:ea typeface="D2Coding" panose="020B0609020101020101" pitchFamily="49" charset="-127"/>
              </a:rPr>
              <a:t>데이터에 존재하는 규칙성</a:t>
            </a:r>
            <a:r>
              <a:rPr lang="en-US" altLang="ko-KR" dirty="0">
                <a:latin typeface="+mn-lt"/>
                <a:ea typeface="D2Coding" panose="020B0609020101020101" pitchFamily="49" charset="-127"/>
              </a:rPr>
              <a:t>(Regularities,  Patterns)</a:t>
            </a:r>
            <a:r>
              <a:rPr lang="ko-KR" altLang="en-US" dirty="0">
                <a:latin typeface="+mn-lt"/>
                <a:ea typeface="D2Coding" panose="020B0609020101020101" pitchFamily="49" charset="-127"/>
              </a:rPr>
              <a:t>을 사람이 직접 궁리하고 발견하여 새로운 데이터를 예측 </a:t>
            </a:r>
            <a:r>
              <a:rPr lang="en-US" altLang="ko-KR" dirty="0">
                <a:latin typeface="+mn-lt"/>
                <a:ea typeface="D2Coding" panose="020B0609020101020101" pitchFamily="49" charset="-127"/>
              </a:rPr>
              <a:t>(</a:t>
            </a:r>
            <a:r>
              <a:rPr lang="ko-KR" altLang="en-US" dirty="0">
                <a:latin typeface="+mn-lt"/>
                <a:ea typeface="D2Coding" panose="020B0609020101020101" pitchFamily="49" charset="-127"/>
              </a:rPr>
              <a:t>귀납법</a:t>
            </a:r>
            <a:r>
              <a:rPr lang="en-US" altLang="ko-KR" dirty="0">
                <a:latin typeface="+mn-lt"/>
                <a:ea typeface="D2Coding" panose="020B0609020101020101" pitchFamily="49" charset="-127"/>
              </a:rPr>
              <a:t>)</a:t>
            </a:r>
            <a:endParaRPr lang="en-US" altLang="ko-KR" sz="1400" dirty="0">
              <a:latin typeface="+mn-lt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1FE32C0B-E627-1492-21C2-F2E2E347D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12</a:t>
            </a:fld>
            <a:endParaRPr 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A43203B-3F4D-82D3-E6A0-3CFC22A8DF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217" y="2261017"/>
            <a:ext cx="3420004" cy="371590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59046B17-37E0-4F85-CF1F-E2D0D24355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998" y="2261017"/>
            <a:ext cx="4582787" cy="2210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16733E6-D0A6-586E-F781-8DD0117624C1}"/>
              </a:ext>
            </a:extLst>
          </p:cNvPr>
          <p:cNvSpPr txBox="1"/>
          <p:nvPr/>
        </p:nvSpPr>
        <p:spPr>
          <a:xfrm>
            <a:off x="860423" y="4520705"/>
            <a:ext cx="410210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/>
              <a:t>방대하고 정밀한 데이터들을 직접 수년간 궁리하고 계산</a:t>
            </a:r>
            <a:r>
              <a:rPr lang="en-US" altLang="ko-KR" sz="1400" dirty="0"/>
              <a:t>(</a:t>
            </a:r>
            <a:r>
              <a:rPr lang="ko-KR" altLang="en-US" sz="1400" dirty="0"/>
              <a:t>귀납법</a:t>
            </a:r>
            <a:r>
              <a:rPr lang="en-US" altLang="ko-KR" sz="1400" dirty="0"/>
              <a:t>)</a:t>
            </a:r>
            <a:r>
              <a:rPr lang="ko-KR" altLang="en-US" sz="1400" dirty="0"/>
              <a:t>한 끝에</a:t>
            </a:r>
            <a:r>
              <a:rPr lang="en-US" altLang="ko-KR" sz="1400" dirty="0"/>
              <a:t>, </a:t>
            </a:r>
            <a:r>
              <a:rPr lang="ko-KR" altLang="en-US" sz="1400" dirty="0"/>
              <a:t>행성이 원이 아닌 </a:t>
            </a:r>
            <a:r>
              <a:rPr lang="en-US" altLang="ko-KR" sz="1400" dirty="0"/>
              <a:t>'</a:t>
            </a:r>
            <a:r>
              <a:rPr lang="ko-KR" altLang="en-US" sz="1400" dirty="0"/>
              <a:t>타원 궤도</a:t>
            </a:r>
            <a:r>
              <a:rPr lang="en-US" altLang="ko-KR" sz="1400" dirty="0"/>
              <a:t>'</a:t>
            </a:r>
            <a:r>
              <a:rPr lang="ko-KR" altLang="en-US" sz="1400" dirty="0"/>
              <a:t>로 공전한다는 규칙성을 발견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65FD66-367E-4CF8-6DC4-51918DBDF02D}"/>
              </a:ext>
            </a:extLst>
          </p:cNvPr>
          <p:cNvSpPr txBox="1"/>
          <p:nvPr/>
        </p:nvSpPr>
        <p:spPr>
          <a:xfrm>
            <a:off x="10148610" y="4591922"/>
            <a:ext cx="191724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/>
              <a:t>변광성의 밝기가 변하는 </a:t>
            </a:r>
            <a:r>
              <a:rPr lang="en-US" altLang="ko-KR" sz="1400" dirty="0"/>
              <a:t>'</a:t>
            </a:r>
            <a:r>
              <a:rPr lang="ko-KR" altLang="en-US" sz="1400" dirty="0"/>
              <a:t>주기</a:t>
            </a:r>
            <a:r>
              <a:rPr lang="en-US" altLang="ko-KR" sz="1400" dirty="0"/>
              <a:t>'</a:t>
            </a:r>
            <a:r>
              <a:rPr lang="ko-KR" altLang="en-US" sz="1400" dirty="0"/>
              <a:t>와 실제 별의 </a:t>
            </a:r>
            <a:r>
              <a:rPr lang="en-US" altLang="ko-KR" sz="1400" dirty="0"/>
              <a:t>'</a:t>
            </a:r>
            <a:r>
              <a:rPr lang="ko-KR" altLang="en-US" sz="1400" dirty="0"/>
              <a:t>밝기</a:t>
            </a:r>
            <a:r>
              <a:rPr lang="en-US" altLang="ko-KR" sz="1400" dirty="0"/>
              <a:t>(</a:t>
            </a:r>
            <a:r>
              <a:rPr lang="ko-KR" altLang="en-US" sz="1400" dirty="0"/>
              <a:t>광도</a:t>
            </a:r>
            <a:r>
              <a:rPr lang="en-US" altLang="ko-KR" sz="1400" dirty="0"/>
              <a:t>)' </a:t>
            </a:r>
            <a:r>
              <a:rPr lang="ko-KR" altLang="en-US" sz="1400" dirty="0"/>
              <a:t>사이에 일정한 선형적 관계</a:t>
            </a:r>
            <a:r>
              <a:rPr lang="en-US" altLang="ko-KR" sz="1400" dirty="0"/>
              <a:t>(</a:t>
            </a:r>
            <a:r>
              <a:rPr lang="ko-KR" altLang="en-US" sz="1400" dirty="0"/>
              <a:t>패턴</a:t>
            </a:r>
            <a:r>
              <a:rPr lang="en-US" altLang="ko-KR" sz="1400" dirty="0"/>
              <a:t>)</a:t>
            </a:r>
            <a:r>
              <a:rPr lang="ko-KR" altLang="en-US" sz="1400" dirty="0"/>
              <a:t>가 있음을 직접 발견</a:t>
            </a:r>
          </a:p>
        </p:txBody>
      </p:sp>
    </p:spTree>
    <p:extLst>
      <p:ext uri="{BB962C8B-B14F-4D97-AF65-F5344CB8AC3E}">
        <p14:creationId xmlns:p14="http://schemas.microsoft.com/office/powerpoint/2010/main" val="27626642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89F7D-60F0-C169-8829-01C8F6C7A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9482F125-32B2-400E-E458-E0980BA02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278" y="723232"/>
            <a:ext cx="9299247" cy="10951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v"/>
            </a:pPr>
            <a:r>
              <a:rPr lang="ko-KR" altLang="en-US" sz="1800" dirty="0">
                <a:latin typeface="+mn-lt"/>
                <a:ea typeface="D2Coding" panose="020B0609020101020101" pitchFamily="49" charset="-127"/>
              </a:rPr>
              <a:t>과거</a:t>
            </a:r>
            <a:r>
              <a:rPr lang="en-US" altLang="ko-KR" sz="1800" dirty="0">
                <a:latin typeface="+mn-lt"/>
                <a:ea typeface="D2Coding" panose="020B0609020101020101" pitchFamily="49" charset="-127"/>
              </a:rPr>
              <a:t> </a:t>
            </a:r>
            <a:r>
              <a:rPr lang="ko-KR" altLang="en-US" sz="1800" dirty="0">
                <a:latin typeface="+mn-lt"/>
                <a:ea typeface="D2Coding" panose="020B0609020101020101" pitchFamily="49" charset="-127"/>
              </a:rPr>
              <a:t>데이터에 존재하는 규칙성</a:t>
            </a:r>
            <a:r>
              <a:rPr lang="en-US" altLang="ko-KR" sz="1800" dirty="0">
                <a:latin typeface="+mn-lt"/>
                <a:ea typeface="D2Coding" panose="020B0609020101020101" pitchFamily="49" charset="-127"/>
              </a:rPr>
              <a:t>(Regularities,  Patterns)</a:t>
            </a:r>
            <a:r>
              <a:rPr lang="ko-KR" altLang="en-US" sz="1800" dirty="0">
                <a:latin typeface="+mn-lt"/>
                <a:ea typeface="D2Coding" panose="020B0609020101020101" pitchFamily="49" charset="-127"/>
              </a:rPr>
              <a:t>을 컴퓨터가 발견하게 하여 새로운 데이터를 예측하는 것이 </a:t>
            </a:r>
            <a:r>
              <a:rPr lang="en-US" altLang="ko-KR" sz="1800" dirty="0">
                <a:latin typeface="+mn-lt"/>
                <a:ea typeface="D2Coding" panose="020B0609020101020101" pitchFamily="49" charset="-127"/>
              </a:rPr>
              <a:t>Machine Learning</a:t>
            </a:r>
            <a:r>
              <a:rPr lang="ko-KR" altLang="en-US" sz="1800" dirty="0">
                <a:latin typeface="+mn-lt"/>
                <a:ea typeface="D2Coding" panose="020B0609020101020101" pitchFamily="49" charset="-127"/>
              </a:rPr>
              <a:t> </a:t>
            </a:r>
            <a:r>
              <a:rPr lang="en-US" altLang="ko-KR" sz="1800" dirty="0">
                <a:latin typeface="+mn-lt"/>
                <a:ea typeface="D2Coding" panose="020B0609020101020101" pitchFamily="49" charset="-127"/>
              </a:rPr>
              <a:t>(New</a:t>
            </a:r>
            <a:r>
              <a:rPr lang="ko-KR" altLang="en-US" sz="1800" dirty="0">
                <a:latin typeface="+mn-lt"/>
                <a:ea typeface="D2Coding" panose="020B0609020101020101" pitchFamily="49" charset="-127"/>
              </a:rPr>
              <a:t> </a:t>
            </a:r>
            <a:r>
              <a:rPr lang="en-US" altLang="ko-KR" sz="1800" dirty="0">
                <a:latin typeface="+mn-lt"/>
                <a:ea typeface="D2Coding" panose="020B0609020101020101" pitchFamily="49" charset="-127"/>
              </a:rPr>
              <a:t>Paradigm)</a:t>
            </a: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38757285-31DC-BA9E-AB21-460B69252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13</a:t>
            </a:fld>
            <a:endParaRPr 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8E86B95-670E-D3FF-A272-083E38C1053E}"/>
              </a:ext>
            </a:extLst>
          </p:cNvPr>
          <p:cNvSpPr/>
          <p:nvPr/>
        </p:nvSpPr>
        <p:spPr>
          <a:xfrm>
            <a:off x="4683760" y="2305685"/>
            <a:ext cx="2641600" cy="118872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ea typeface="+mj-ea"/>
              </a:rPr>
              <a:t>Classical </a:t>
            </a:r>
          </a:p>
          <a:p>
            <a:pPr algn="ctr"/>
            <a:r>
              <a:rPr lang="en-US" altLang="ko-KR" sz="2000" b="1" dirty="0">
                <a:solidFill>
                  <a:schemeClr val="bg1"/>
                </a:solidFill>
                <a:ea typeface="+mj-ea"/>
              </a:rPr>
              <a:t>Programming</a:t>
            </a:r>
            <a:endParaRPr lang="ko-KR" altLang="en-US" sz="2000" b="1" dirty="0">
              <a:solidFill>
                <a:schemeClr val="bg1"/>
              </a:solidFill>
              <a:ea typeface="+mj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F460C2E-420B-007D-0A66-5D8980373754}"/>
              </a:ext>
            </a:extLst>
          </p:cNvPr>
          <p:cNvSpPr/>
          <p:nvPr/>
        </p:nvSpPr>
        <p:spPr>
          <a:xfrm>
            <a:off x="4683760" y="4399280"/>
            <a:ext cx="2641600" cy="118872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ea typeface="+mj-ea"/>
              </a:rPr>
              <a:t>Machine </a:t>
            </a:r>
          </a:p>
          <a:p>
            <a:pPr algn="ctr"/>
            <a:r>
              <a:rPr lang="en-US" altLang="ko-KR" sz="2000" b="1" dirty="0">
                <a:solidFill>
                  <a:schemeClr val="bg1"/>
                </a:solidFill>
                <a:ea typeface="+mj-ea"/>
              </a:rPr>
              <a:t>Learning</a:t>
            </a:r>
            <a:endParaRPr lang="ko-KR" altLang="en-US" sz="2000" b="1" dirty="0">
              <a:solidFill>
                <a:schemeClr val="bg1"/>
              </a:solidFill>
              <a:ea typeface="+mj-ea"/>
            </a:endParaRPr>
          </a:p>
        </p:txBody>
      </p:sp>
      <p:pic>
        <p:nvPicPr>
          <p:cNvPr id="11" name="그래픽 10" descr="줄 화살표: 일자형">
            <a:extLst>
              <a:ext uri="{FF2B5EF4-FFF2-40B4-BE49-F238E27FC236}">
                <a16:creationId xmlns:a16="http://schemas.microsoft.com/office/drawing/2014/main" id="{09056CBC-03F5-03D5-ED50-D6ADD7E6D8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3664901" y="2285365"/>
            <a:ext cx="701040" cy="701040"/>
          </a:xfrm>
          <a:prstGeom prst="rect">
            <a:avLst/>
          </a:prstGeom>
        </p:spPr>
      </p:pic>
      <p:pic>
        <p:nvPicPr>
          <p:cNvPr id="12" name="그래픽 11" descr="줄 화살표: 일자형">
            <a:extLst>
              <a:ext uri="{FF2B5EF4-FFF2-40B4-BE49-F238E27FC236}">
                <a16:creationId xmlns:a16="http://schemas.microsoft.com/office/drawing/2014/main" id="{88FF5411-4130-3777-7D53-1E224D37C9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3664901" y="2854326"/>
            <a:ext cx="701040" cy="701040"/>
          </a:xfrm>
          <a:prstGeom prst="rect">
            <a:avLst/>
          </a:prstGeom>
        </p:spPr>
      </p:pic>
      <p:pic>
        <p:nvPicPr>
          <p:cNvPr id="13" name="그래픽 12" descr="줄 화살표: 일자형">
            <a:extLst>
              <a:ext uri="{FF2B5EF4-FFF2-40B4-BE49-F238E27FC236}">
                <a16:creationId xmlns:a16="http://schemas.microsoft.com/office/drawing/2014/main" id="{87088843-587D-1401-6690-C72E0ED6C3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7643179" y="2515975"/>
            <a:ext cx="701040" cy="70104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49BE911-9A4F-E3BA-8E49-B09C896D3772}"/>
              </a:ext>
            </a:extLst>
          </p:cNvPr>
          <p:cNvSpPr txBox="1"/>
          <p:nvPr/>
        </p:nvSpPr>
        <p:spPr>
          <a:xfrm>
            <a:off x="2466983" y="2385180"/>
            <a:ext cx="11979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ea typeface="+mj-ea"/>
              </a:rPr>
              <a:t>Rules</a:t>
            </a:r>
            <a:endParaRPr lang="ko-KR" altLang="en-US" sz="2000" dirty="0"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150AB2-2227-53AF-DD6D-436584B1B6E1}"/>
              </a:ext>
            </a:extLst>
          </p:cNvPr>
          <p:cNvSpPr txBox="1"/>
          <p:nvPr/>
        </p:nvSpPr>
        <p:spPr>
          <a:xfrm>
            <a:off x="2466983" y="3023474"/>
            <a:ext cx="11979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ea typeface="+mj-ea"/>
              </a:rPr>
              <a:t>Data</a:t>
            </a:r>
            <a:endParaRPr lang="ko-KR" altLang="en-US" sz="2000" dirty="0"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C3B341-3B7F-88C1-9D36-F37088448565}"/>
              </a:ext>
            </a:extLst>
          </p:cNvPr>
          <p:cNvSpPr txBox="1"/>
          <p:nvPr/>
        </p:nvSpPr>
        <p:spPr>
          <a:xfrm>
            <a:off x="8649500" y="2640968"/>
            <a:ext cx="11979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ea typeface="+mj-ea"/>
              </a:rPr>
              <a:t>Answer</a:t>
            </a:r>
            <a:endParaRPr lang="ko-KR" altLang="en-US" sz="2000" dirty="0">
              <a:ea typeface="+mj-ea"/>
            </a:endParaRPr>
          </a:p>
        </p:txBody>
      </p:sp>
      <p:pic>
        <p:nvPicPr>
          <p:cNvPr id="21" name="그래픽 20" descr="줄 화살표: 일자형">
            <a:extLst>
              <a:ext uri="{FF2B5EF4-FFF2-40B4-BE49-F238E27FC236}">
                <a16:creationId xmlns:a16="http://schemas.microsoft.com/office/drawing/2014/main" id="{C8335104-6DF7-9D56-5664-2071F7A995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3664901" y="4368800"/>
            <a:ext cx="701040" cy="701040"/>
          </a:xfrm>
          <a:prstGeom prst="rect">
            <a:avLst/>
          </a:prstGeom>
        </p:spPr>
      </p:pic>
      <p:pic>
        <p:nvPicPr>
          <p:cNvPr id="22" name="그래픽 21" descr="줄 화살표: 일자형">
            <a:extLst>
              <a:ext uri="{FF2B5EF4-FFF2-40B4-BE49-F238E27FC236}">
                <a16:creationId xmlns:a16="http://schemas.microsoft.com/office/drawing/2014/main" id="{BE0C5C2E-828A-9865-FF5F-8C6ABFF951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3664901" y="4937761"/>
            <a:ext cx="701040" cy="701040"/>
          </a:xfrm>
          <a:prstGeom prst="rect">
            <a:avLst/>
          </a:prstGeom>
        </p:spPr>
      </p:pic>
      <p:pic>
        <p:nvPicPr>
          <p:cNvPr id="23" name="그래픽 22" descr="줄 화살표: 일자형">
            <a:extLst>
              <a:ext uri="{FF2B5EF4-FFF2-40B4-BE49-F238E27FC236}">
                <a16:creationId xmlns:a16="http://schemas.microsoft.com/office/drawing/2014/main" id="{9FC00F16-A2DA-3008-8AAE-8B25695D1A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7643179" y="4599410"/>
            <a:ext cx="701040" cy="70104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60011B80-7168-1EB9-CD9E-A16AC80B4122}"/>
              </a:ext>
            </a:extLst>
          </p:cNvPr>
          <p:cNvSpPr txBox="1"/>
          <p:nvPr/>
        </p:nvSpPr>
        <p:spPr>
          <a:xfrm>
            <a:off x="2466983" y="4468615"/>
            <a:ext cx="11979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ea typeface="+mj-ea"/>
              </a:rPr>
              <a:t>Rules</a:t>
            </a:r>
            <a:endParaRPr lang="ko-KR" altLang="en-US" sz="2000" dirty="0"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A8209D8-FE31-F600-8EDD-F6DD758FA4B8}"/>
              </a:ext>
            </a:extLst>
          </p:cNvPr>
          <p:cNvSpPr txBox="1"/>
          <p:nvPr/>
        </p:nvSpPr>
        <p:spPr>
          <a:xfrm>
            <a:off x="2466983" y="5106909"/>
            <a:ext cx="11979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ea typeface="+mj-ea"/>
              </a:rPr>
              <a:t>Answer</a:t>
            </a:r>
            <a:endParaRPr lang="ko-KR" altLang="en-US" sz="2000" dirty="0">
              <a:ea typeface="+mj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FBA574E-16F2-5E7D-6791-9DF613B23231}"/>
              </a:ext>
            </a:extLst>
          </p:cNvPr>
          <p:cNvSpPr txBox="1"/>
          <p:nvPr/>
        </p:nvSpPr>
        <p:spPr>
          <a:xfrm>
            <a:off x="8649500" y="4724403"/>
            <a:ext cx="11979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ea typeface="+mj-ea"/>
              </a:rPr>
              <a:t>Rules</a:t>
            </a:r>
            <a:endParaRPr lang="ko-KR" altLang="en-US" sz="2000" dirty="0"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46344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4" grpId="0"/>
      <p:bldP spid="25" grpId="0"/>
      <p:bldP spid="2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55D84-9CA0-9A89-9AE8-5048EF8C2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F684C827-6112-6784-ADED-E4B41E9CC4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4453" y="1971006"/>
            <a:ext cx="10213647" cy="374399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Clr>
                <a:srgbClr val="FFC000"/>
              </a:buClr>
              <a:buNone/>
            </a:pPr>
            <a:r>
              <a:rPr lang="ko-KR" altLang="en-US" sz="2400" dirty="0" err="1">
                <a:latin typeface="+mn-lt"/>
              </a:rPr>
              <a:t>머신러닝</a:t>
            </a:r>
            <a:r>
              <a:rPr lang="ko-KR" altLang="en-US" sz="2400" dirty="0">
                <a:latin typeface="+mn-lt"/>
              </a:rPr>
              <a:t> 시대의 인간은 </a:t>
            </a:r>
            <a:r>
              <a:rPr lang="en-US" altLang="ko-KR" sz="2400" dirty="0">
                <a:latin typeface="+mn-lt"/>
              </a:rPr>
              <a:t>'</a:t>
            </a:r>
            <a:r>
              <a:rPr lang="ko-KR" altLang="en-US" sz="2400" dirty="0">
                <a:latin typeface="+mn-lt"/>
              </a:rPr>
              <a:t>규칙을 계산하는 계산원</a:t>
            </a:r>
            <a:r>
              <a:rPr lang="en-US" altLang="ko-KR" sz="2400" dirty="0">
                <a:latin typeface="+mn-lt"/>
              </a:rPr>
              <a:t>'</a:t>
            </a:r>
            <a:r>
              <a:rPr lang="ko-KR" altLang="en-US" sz="2400" dirty="0">
                <a:latin typeface="+mn-lt"/>
              </a:rPr>
              <a:t>이 아니라</a:t>
            </a:r>
            <a:r>
              <a:rPr lang="en-US" altLang="ko-KR" sz="2400" dirty="0">
                <a:latin typeface="+mn-lt"/>
              </a:rPr>
              <a:t>, </a:t>
            </a:r>
          </a:p>
          <a:p>
            <a:pPr marL="0" indent="0">
              <a:lnSpc>
                <a:spcPct val="150000"/>
              </a:lnSpc>
              <a:buClr>
                <a:srgbClr val="FFC000"/>
              </a:buClr>
              <a:buNone/>
            </a:pPr>
            <a:r>
              <a:rPr lang="ko-KR" altLang="en-US" sz="2400" dirty="0">
                <a:latin typeface="+mn-lt"/>
              </a:rPr>
              <a:t>문제를 올바르게 정의하고</a:t>
            </a:r>
            <a:r>
              <a:rPr lang="en-US" altLang="ko-KR" sz="2400" dirty="0">
                <a:latin typeface="+mn-lt"/>
              </a:rPr>
              <a:t>(</a:t>
            </a:r>
            <a:r>
              <a:rPr lang="ko-KR" altLang="en-US" sz="2400" dirty="0">
                <a:latin typeface="+mn-lt"/>
              </a:rPr>
              <a:t>출발점</a:t>
            </a:r>
            <a:r>
              <a:rPr lang="en-US" altLang="ko-KR" sz="2400" dirty="0">
                <a:latin typeface="+mn-lt"/>
              </a:rPr>
              <a:t>), </a:t>
            </a:r>
          </a:p>
          <a:p>
            <a:pPr marL="0" indent="0">
              <a:lnSpc>
                <a:spcPct val="150000"/>
              </a:lnSpc>
              <a:buClr>
                <a:srgbClr val="FFC000"/>
              </a:buClr>
              <a:buNone/>
            </a:pPr>
            <a:r>
              <a:rPr lang="en-US" altLang="ko-KR" sz="2400" dirty="0">
                <a:latin typeface="+mn-lt"/>
              </a:rPr>
              <a:t>AI</a:t>
            </a:r>
            <a:r>
              <a:rPr lang="ko-KR" altLang="en-US" sz="2400" dirty="0">
                <a:latin typeface="+mn-lt"/>
              </a:rPr>
              <a:t>의 결과를 비판적으로 검증하며</a:t>
            </a:r>
            <a:r>
              <a:rPr lang="en-US" altLang="ko-KR" sz="2400" dirty="0">
                <a:latin typeface="+mn-lt"/>
              </a:rPr>
              <a:t>(</a:t>
            </a:r>
            <a:r>
              <a:rPr lang="ko-KR" altLang="en-US" sz="2400" dirty="0">
                <a:latin typeface="+mn-lt"/>
              </a:rPr>
              <a:t>과정</a:t>
            </a:r>
            <a:r>
              <a:rPr lang="en-US" altLang="ko-KR" sz="2400" dirty="0">
                <a:latin typeface="+mn-lt"/>
              </a:rPr>
              <a:t>), </a:t>
            </a:r>
          </a:p>
          <a:p>
            <a:pPr marL="0" indent="0">
              <a:lnSpc>
                <a:spcPct val="150000"/>
              </a:lnSpc>
              <a:buClr>
                <a:srgbClr val="FFC000"/>
              </a:buClr>
              <a:buNone/>
            </a:pPr>
            <a:r>
              <a:rPr lang="ko-KR" altLang="en-US" sz="2400" dirty="0">
                <a:latin typeface="+mn-lt"/>
              </a:rPr>
              <a:t>이를 윤리적이고 가치 있게 세상에 적용하는</a:t>
            </a:r>
            <a:r>
              <a:rPr lang="en-US" altLang="ko-KR" sz="2400" dirty="0">
                <a:latin typeface="+mn-lt"/>
              </a:rPr>
              <a:t>(</a:t>
            </a:r>
            <a:r>
              <a:rPr lang="ko-KR" altLang="en-US" sz="2400" dirty="0">
                <a:latin typeface="+mn-lt"/>
              </a:rPr>
              <a:t>도착점</a:t>
            </a:r>
            <a:r>
              <a:rPr lang="en-US" altLang="ko-KR" sz="2400" dirty="0">
                <a:latin typeface="+mn-lt"/>
              </a:rPr>
              <a:t>) '</a:t>
            </a:r>
            <a:r>
              <a:rPr lang="ko-KR" altLang="en-US" sz="2400" dirty="0">
                <a:latin typeface="+mn-lt"/>
              </a:rPr>
              <a:t>감독관이자 설계자</a:t>
            </a:r>
            <a:r>
              <a:rPr lang="en-US" altLang="ko-KR" sz="2400" dirty="0">
                <a:latin typeface="+mn-lt"/>
              </a:rPr>
              <a:t>'</a:t>
            </a:r>
            <a:r>
              <a:rPr lang="ko-KR" altLang="en-US" sz="2400" dirty="0">
                <a:latin typeface="+mn-lt"/>
              </a:rPr>
              <a:t>로서의 역량이 필요</a:t>
            </a:r>
            <a:endParaRPr lang="en-US" altLang="ko-KR" sz="2400" dirty="0">
              <a:latin typeface="+mn-lt"/>
              <a:ea typeface="D2Coding" panose="020B0609020101020101" pitchFamily="49" charset="-127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9807ABBE-926F-4674-3DF9-5C66AEAB7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2133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C482E-F37B-B678-C5D1-F9772C34B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4030FC98-3D23-ED2E-9EC4-CB3098C3A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15</a:t>
            </a:fld>
            <a:endParaRPr lang="en-US" dirty="0"/>
          </a:p>
        </p:txBody>
      </p:sp>
      <p:pic>
        <p:nvPicPr>
          <p:cNvPr id="2" name="Picture 2" descr="아기가 부모를 알아보는 시기는 언제일까?">
            <a:extLst>
              <a:ext uri="{FF2B5EF4-FFF2-40B4-BE49-F238E27FC236}">
                <a16:creationId xmlns:a16="http://schemas.microsoft.com/office/drawing/2014/main" id="{3AC7B627-77E3-1217-FF4B-1F06205BFB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383" y="2490937"/>
            <a:ext cx="4607639" cy="3068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DC40886-4069-981E-A8D7-A1350274BA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8980" y="2490937"/>
            <a:ext cx="4743582" cy="306868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9237E07-93B0-6B8B-E648-59C25C7967F5}"/>
              </a:ext>
            </a:extLst>
          </p:cNvPr>
          <p:cNvSpPr txBox="1"/>
          <p:nvPr/>
        </p:nvSpPr>
        <p:spPr>
          <a:xfrm>
            <a:off x="1910080" y="1963712"/>
            <a:ext cx="11074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/>
              <a:t>Human</a:t>
            </a:r>
            <a:endParaRPr lang="ko-KR" altLang="en-US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20B54C-2C31-787C-E855-B061F83F6C39}"/>
              </a:ext>
            </a:extLst>
          </p:cNvPr>
          <p:cNvSpPr txBox="1"/>
          <p:nvPr/>
        </p:nvSpPr>
        <p:spPr>
          <a:xfrm>
            <a:off x="8004451" y="1963712"/>
            <a:ext cx="20726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/>
              <a:t>Deep</a:t>
            </a:r>
            <a:r>
              <a:rPr lang="ko-KR" altLang="en-US" sz="2000" dirty="0"/>
              <a:t> </a:t>
            </a:r>
            <a:r>
              <a:rPr lang="en-US" altLang="ko-KR" sz="2000" dirty="0"/>
              <a:t>Learning</a:t>
            </a:r>
            <a:endParaRPr lang="ko-KR" altLang="en-US" sz="2000" dirty="0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89398C86-972C-45A1-5439-DD236129E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cap="none" dirty="0">
                <a:latin typeface="+mn-lt"/>
                <a:cs typeface="Times New Roman" panose="02020603050405020304" pitchFamily="18" charset="0"/>
              </a:rPr>
              <a:t>How to classify ?</a:t>
            </a:r>
            <a:endParaRPr lang="ko-KR" altLang="en-US" b="1" cap="none" dirty="0">
              <a:latin typeface="+mn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29632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88379-B0F0-E75F-55B5-46A9B2033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01BF6F47-E1D7-3404-6D26-B63F40AA3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+mn-lt"/>
                <a:cs typeface="Times New Roman" panose="02020603050405020304" pitchFamily="18" charset="0"/>
              </a:rPr>
              <a:t>Supervised Learning(</a:t>
            </a:r>
            <a:r>
              <a:rPr lang="ko-KR" altLang="en-US" b="1" dirty="0">
                <a:latin typeface="+mn-lt"/>
                <a:cs typeface="Times New Roman" panose="02020603050405020304" pitchFamily="18" charset="0"/>
              </a:rPr>
              <a:t>지도학습</a:t>
            </a:r>
            <a:r>
              <a:rPr lang="en-US" altLang="ko-KR" b="1" dirty="0">
                <a:latin typeface="+mn-lt"/>
                <a:cs typeface="Times New Roman" panose="02020603050405020304" pitchFamily="18" charset="0"/>
              </a:rPr>
              <a:t>) </a:t>
            </a:r>
            <a:endParaRPr lang="ko-KR" altLang="en-US" b="1" cap="none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C1CAE8AD-8B03-DB93-B617-909AAC92E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16</a:t>
            </a:fld>
            <a:endParaRPr lang="en-US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810CAA31-8D8A-5DC1-2D9F-A0DABDC7E4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623" y="1461700"/>
            <a:ext cx="6169702" cy="4975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>
            <a:extLst>
              <a:ext uri="{FF2B5EF4-FFF2-40B4-BE49-F238E27FC236}">
                <a16:creationId xmlns:a16="http://schemas.microsoft.com/office/drawing/2014/main" id="{7DCCF53D-4218-0676-F2D7-8EE3EC269C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1653" y="2274888"/>
            <a:ext cx="6590347" cy="2465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BB7762A-F77E-C397-01D9-B049ED94B47A}"/>
              </a:ext>
            </a:extLst>
          </p:cNvPr>
          <p:cNvSpPr txBox="1"/>
          <p:nvPr/>
        </p:nvSpPr>
        <p:spPr>
          <a:xfrm>
            <a:off x="4458305" y="1469097"/>
            <a:ext cx="11433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>
                <a:solidFill>
                  <a:schemeClr val="bg1"/>
                </a:solidFill>
                <a:cs typeface="Times New Roman" panose="02020603050405020304" pitchFamily="18" charset="0"/>
              </a:rPr>
              <a:t>(</a:t>
            </a:r>
            <a:r>
              <a:rPr lang="ko-KR" altLang="en-US" sz="2400" b="1" dirty="0">
                <a:solidFill>
                  <a:schemeClr val="bg1"/>
                </a:solidFill>
                <a:cs typeface="Times New Roman" panose="02020603050405020304" pitchFamily="18" charset="0"/>
              </a:rPr>
              <a:t>회귀</a:t>
            </a:r>
            <a:r>
              <a:rPr lang="en-US" altLang="ko-KR" sz="2400" b="1" dirty="0">
                <a:solidFill>
                  <a:schemeClr val="bg1"/>
                </a:solidFill>
                <a:cs typeface="Times New Roman" panose="02020603050405020304" pitchFamily="18" charset="0"/>
              </a:rPr>
              <a:t>)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C5F081-78EC-A7B8-D1D6-1CAEC7000201}"/>
              </a:ext>
            </a:extLst>
          </p:cNvPr>
          <p:cNvSpPr txBox="1"/>
          <p:nvPr/>
        </p:nvSpPr>
        <p:spPr>
          <a:xfrm>
            <a:off x="4553555" y="4202772"/>
            <a:ext cx="11433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>
                <a:solidFill>
                  <a:schemeClr val="bg1"/>
                </a:solidFill>
                <a:cs typeface="Times New Roman" panose="02020603050405020304" pitchFamily="18" charset="0"/>
              </a:rPr>
              <a:t>(</a:t>
            </a:r>
            <a:r>
              <a:rPr lang="ko-KR" altLang="en-US" sz="2400" b="1" dirty="0">
                <a:solidFill>
                  <a:schemeClr val="bg1"/>
                </a:solidFill>
                <a:cs typeface="Times New Roman" panose="02020603050405020304" pitchFamily="18" charset="0"/>
              </a:rPr>
              <a:t>분류</a:t>
            </a:r>
            <a:r>
              <a:rPr lang="en-US" altLang="ko-KR" sz="2400" b="1" dirty="0">
                <a:solidFill>
                  <a:schemeClr val="bg1"/>
                </a:solidFill>
                <a:cs typeface="Times New Roman" panose="02020603050405020304" pitchFamily="18" charset="0"/>
              </a:rPr>
              <a:t>)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521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322E1-8746-1FA5-3263-79DB08BE5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6826FB85-6160-EEBB-0430-C6E64E5D7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+mn-lt"/>
                <a:cs typeface="Times New Roman" panose="02020603050405020304" pitchFamily="18" charset="0"/>
              </a:rPr>
              <a:t>Unsupervised Learning(</a:t>
            </a:r>
            <a:r>
              <a:rPr lang="ko-KR" altLang="en-US" b="1" dirty="0">
                <a:latin typeface="+mn-lt"/>
                <a:cs typeface="Times New Roman" panose="02020603050405020304" pitchFamily="18" charset="0"/>
              </a:rPr>
              <a:t>비지도학습</a:t>
            </a:r>
            <a:r>
              <a:rPr lang="en-US" altLang="ko-KR" b="1" dirty="0">
                <a:latin typeface="+mn-lt"/>
                <a:cs typeface="Times New Roman" panose="02020603050405020304" pitchFamily="18" charset="0"/>
              </a:rPr>
              <a:t>)</a:t>
            </a:r>
            <a:endParaRPr lang="ko-KR" altLang="en-US" b="1" cap="none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D8A78BED-627D-BA03-659E-24AB85F20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17</a:t>
            </a:fld>
            <a:endParaRPr lang="en-US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7716E59A-2168-065A-1BF4-6C98A7F8E3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900" y="1177290"/>
            <a:ext cx="6878657" cy="257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8" name="Picture 2">
            <a:extLst>
              <a:ext uri="{FF2B5EF4-FFF2-40B4-BE49-F238E27FC236}">
                <a16:creationId xmlns:a16="http://schemas.microsoft.com/office/drawing/2014/main" id="{8379BF96-2686-6187-65D2-FFD8B245F4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941830"/>
            <a:ext cx="5613400" cy="4490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9E93246-86F7-392C-B5AA-61C126567EE0}"/>
              </a:ext>
            </a:extLst>
          </p:cNvPr>
          <p:cNvSpPr txBox="1"/>
          <p:nvPr/>
        </p:nvSpPr>
        <p:spPr>
          <a:xfrm>
            <a:off x="8344505" y="1366291"/>
            <a:ext cx="21615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>
                <a:cs typeface="Times New Roman" panose="02020603050405020304" pitchFamily="18" charset="0"/>
              </a:rPr>
              <a:t>Cluster(</a:t>
            </a:r>
            <a:r>
              <a:rPr lang="ko-KR" altLang="en-US" sz="2400" b="1" dirty="0">
                <a:cs typeface="Times New Roman" panose="02020603050405020304" pitchFamily="18" charset="0"/>
              </a:rPr>
              <a:t>군집</a:t>
            </a:r>
            <a:r>
              <a:rPr lang="en-US" altLang="ko-KR" sz="2400" b="1" dirty="0">
                <a:cs typeface="Times New Roman" panose="02020603050405020304" pitchFamily="18" charset="0"/>
              </a:rPr>
              <a:t>)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971323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0153F-16C7-748C-F783-C532A61BE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99CE90B8-75C0-B59B-FBB8-B7DD34F69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+mn-lt"/>
                <a:cs typeface="Times New Roman" panose="02020603050405020304" pitchFamily="18" charset="0"/>
              </a:rPr>
              <a:t>Deep Learning </a:t>
            </a:r>
            <a:endParaRPr lang="ko-KR" altLang="en-US" b="1" cap="none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1AE2235D-A43D-7415-FE91-BE648204E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18</a:t>
            </a:fld>
            <a:endParaRPr lang="en-US" dirty="0"/>
          </a:p>
        </p:txBody>
      </p:sp>
      <p:pic>
        <p:nvPicPr>
          <p:cNvPr id="2" name="그림 1">
            <a:hlinkClick r:id="rId2"/>
            <a:extLst>
              <a:ext uri="{FF2B5EF4-FFF2-40B4-BE49-F238E27FC236}">
                <a16:creationId xmlns:a16="http://schemas.microsoft.com/office/drawing/2014/main" id="{B652CA2C-25BA-4D97-1A1A-0D71F4AC45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884" y="1348552"/>
            <a:ext cx="8880719" cy="499983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07A1C21-60E2-96BE-1490-7A8F393B4D42}"/>
              </a:ext>
            </a:extLst>
          </p:cNvPr>
          <p:cNvSpPr txBox="1"/>
          <p:nvPr/>
        </p:nvSpPr>
        <p:spPr>
          <a:xfrm>
            <a:off x="2963332" y="6348383"/>
            <a:ext cx="83893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rgbClr val="FFFF00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https://www.youtube.com/watch?v=aircAruvnKk&amp;list=PLZHQObOWTQDNU6R1_67000Dx_ZCJB-3pi</a:t>
            </a:r>
            <a:r>
              <a:rPr lang="ko-KR" altLang="en-US" sz="1200" dirty="0">
                <a:solidFill>
                  <a:srgbClr val="FFFF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B41EFCE3-4B25-5327-400F-6F094507C9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5395" y="1350237"/>
            <a:ext cx="2392925" cy="2342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D1FC4B4-4383-2C54-E75C-938D44A203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019" y="1348551"/>
            <a:ext cx="2702488" cy="2342495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0B1E103A-3B02-4BCF-B1FA-7E25E3E7EB62}"/>
              </a:ext>
            </a:extLst>
          </p:cNvPr>
          <p:cNvSpPr/>
          <p:nvPr/>
        </p:nvSpPr>
        <p:spPr>
          <a:xfrm>
            <a:off x="4224111" y="1642533"/>
            <a:ext cx="1058031" cy="9490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DADF67FD-3150-733B-AB4E-DC4133CECA39}"/>
              </a:ext>
            </a:extLst>
          </p:cNvPr>
          <p:cNvCxnSpPr>
            <a:cxnSpLocks/>
          </p:cNvCxnSpPr>
          <p:nvPr/>
        </p:nvCxnSpPr>
        <p:spPr>
          <a:xfrm flipH="1" flipV="1">
            <a:off x="2889217" y="1346865"/>
            <a:ext cx="2382568" cy="29566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EF892D3-7093-5D1A-355A-73EE10E488DF}"/>
              </a:ext>
            </a:extLst>
          </p:cNvPr>
          <p:cNvCxnSpPr>
            <a:cxnSpLocks/>
          </p:cNvCxnSpPr>
          <p:nvPr/>
        </p:nvCxnSpPr>
        <p:spPr>
          <a:xfrm flipH="1">
            <a:off x="2889217" y="2591553"/>
            <a:ext cx="2392925" cy="109949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D78FFEF-A7A3-0EE4-C4A7-1AB34273502C}"/>
              </a:ext>
            </a:extLst>
          </p:cNvPr>
          <p:cNvSpPr txBox="1"/>
          <p:nvPr/>
        </p:nvSpPr>
        <p:spPr>
          <a:xfrm>
            <a:off x="3052949" y="3771056"/>
            <a:ext cx="167224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  <a:cs typeface="Times New Roman" panose="02020603050405020304" pitchFamily="18" charset="0"/>
              </a:rPr>
              <a:t>28 by 28 pixel</a:t>
            </a:r>
          </a:p>
          <a:p>
            <a:endParaRPr lang="en-US" altLang="ko-KR" sz="1600" b="1" dirty="0">
              <a:latin typeface="D2Coding" panose="020B0609020101020101" pitchFamily="49" charset="-127"/>
              <a:ea typeface="D2Coding" panose="020B0609020101020101" pitchFamily="49" charset="-127"/>
              <a:cs typeface="Times New Roman" panose="02020603050405020304" pitchFamily="18" charset="0"/>
            </a:endParaRPr>
          </a:p>
          <a:p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  <a:cs typeface="Times New Roman" panose="02020603050405020304" pitchFamily="18" charset="0"/>
              </a:rPr>
              <a:t>784 pixel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45125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F5E29-3325-DDA9-94E0-C37DAE8A4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3A6B3467-9A3A-1146-0E36-B8C6FF89A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19</a:t>
            </a:fld>
            <a:endParaRPr lang="en-US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96B0A45F-78D4-5488-697F-BCBCAA9D77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266" y="1287277"/>
            <a:ext cx="8937812" cy="3385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37EF5665-33F9-B25F-D9CB-DFD2F5A2F6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266" y="1339918"/>
            <a:ext cx="8937812" cy="3790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>
            <a:extLst>
              <a:ext uri="{FF2B5EF4-FFF2-40B4-BE49-F238E27FC236}">
                <a16:creationId xmlns:a16="http://schemas.microsoft.com/office/drawing/2014/main" id="{20E0872F-FDAF-76DB-22F8-7B195997A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265" y="1287277"/>
            <a:ext cx="9170349" cy="4589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D2826CD-001A-7C9F-4E5F-11E33E7B8FFE}"/>
              </a:ext>
            </a:extLst>
          </p:cNvPr>
          <p:cNvSpPr txBox="1"/>
          <p:nvPr/>
        </p:nvSpPr>
        <p:spPr>
          <a:xfrm>
            <a:off x="461669" y="638629"/>
            <a:ext cx="98908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ea typeface="D2Coding" panose="020B0609020101020101" pitchFamily="49" charset="-127"/>
              </a:rPr>
              <a:t>컴퓨터가 </a:t>
            </a:r>
            <a:r>
              <a:rPr lang="en-US" altLang="ko-KR" sz="2000" dirty="0">
                <a:ea typeface="D2Coding" panose="020B0609020101020101" pitchFamily="49" charset="-127"/>
              </a:rPr>
              <a:t>Image</a:t>
            </a:r>
            <a:r>
              <a:rPr lang="ko-KR" altLang="en-US" sz="2000" dirty="0">
                <a:ea typeface="D2Coding" panose="020B0609020101020101" pitchFamily="49" charset="-127"/>
              </a:rPr>
              <a:t>를 분류</a:t>
            </a:r>
            <a:r>
              <a:rPr lang="en-US" altLang="ko-KR" sz="2000" dirty="0">
                <a:ea typeface="D2Coding" panose="020B0609020101020101" pitchFamily="49" charset="-127"/>
              </a:rPr>
              <a:t>(Classification)</a:t>
            </a:r>
            <a:r>
              <a:rPr lang="ko-KR" altLang="en-US" sz="2000" dirty="0">
                <a:ea typeface="D2Coding" panose="020B0609020101020101" pitchFamily="49" charset="-127"/>
              </a:rPr>
              <a:t> </a:t>
            </a:r>
            <a:r>
              <a:rPr lang="en-US" altLang="ko-KR" sz="2000" dirty="0">
                <a:ea typeface="D2Coding" panose="020B0609020101020101" pitchFamily="49" charset="-127"/>
              </a:rPr>
              <a:t>:</a:t>
            </a:r>
            <a:r>
              <a:rPr lang="ko-KR" altLang="en-US" sz="2000" dirty="0">
                <a:ea typeface="D2Coding" panose="020B0609020101020101" pitchFamily="49" charset="-127"/>
              </a:rPr>
              <a:t> </a:t>
            </a:r>
            <a:r>
              <a:rPr lang="en-US" altLang="ko-KR" sz="2000" dirty="0">
                <a:ea typeface="D2Coding" panose="020B0609020101020101" pitchFamily="49" charset="-127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https://cs231n.stanford.edu/</a:t>
            </a:r>
            <a:endParaRPr lang="ko-KR" altLang="en-US" sz="2000" dirty="0"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13221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320F6-70E4-E079-4BE5-ACBC974DB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4ED35559-0750-49BE-F3C9-8704B52BB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20</a:t>
            </a:fld>
            <a:endParaRPr lang="en-US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A5C20774-166D-3FEB-AA9C-C47EAECC6F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900" y="1962230"/>
            <a:ext cx="3749142" cy="337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AA6A2D44-A405-2D37-5810-6908991E81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0683" y="1962230"/>
            <a:ext cx="3749142" cy="337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EB781AD-11EE-9278-9E0B-41CE20B3DE3A}"/>
              </a:ext>
            </a:extLst>
          </p:cNvPr>
          <p:cNvSpPr txBox="1"/>
          <p:nvPr/>
        </p:nvSpPr>
        <p:spPr>
          <a:xfrm>
            <a:off x="1981200" y="1615559"/>
            <a:ext cx="1905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Input(Feature)</a:t>
            </a:r>
            <a:endParaRPr lang="ko-KR" altLang="en-US" dirty="0"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269930-8CA1-A79B-1B2B-7589AB02D8A7}"/>
              </a:ext>
            </a:extLst>
          </p:cNvPr>
          <p:cNvSpPr txBox="1"/>
          <p:nvPr/>
        </p:nvSpPr>
        <p:spPr>
          <a:xfrm>
            <a:off x="7105202" y="1650520"/>
            <a:ext cx="1859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Output(Target)</a:t>
            </a:r>
            <a:endParaRPr lang="ko-KR" altLang="en-US" dirty="0"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B309DC-B6A2-0609-8030-1474ECA0D5C1}"/>
              </a:ext>
            </a:extLst>
          </p:cNvPr>
          <p:cNvSpPr txBox="1"/>
          <p:nvPr/>
        </p:nvSpPr>
        <p:spPr>
          <a:xfrm>
            <a:off x="2057400" y="5465264"/>
            <a:ext cx="1905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</a:t>
            </a:r>
            <a:endParaRPr lang="ko-KR" altLang="en-US" dirty="0"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F2B5F1-AC90-008D-96EE-070CCD18B12F}"/>
              </a:ext>
            </a:extLst>
          </p:cNvPr>
          <p:cNvSpPr txBox="1"/>
          <p:nvPr/>
        </p:nvSpPr>
        <p:spPr>
          <a:xfrm>
            <a:off x="7264666" y="5408114"/>
            <a:ext cx="1124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y=[1,2,3]</a:t>
            </a:r>
            <a:endParaRPr lang="ko-KR" altLang="en-US" dirty="0"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DA77265B-2E48-6320-1E96-6213A2C2B1A3}"/>
              </a:ext>
            </a:extLst>
          </p:cNvPr>
          <p:cNvCxnSpPr>
            <a:cxnSpLocks/>
          </p:cNvCxnSpPr>
          <p:nvPr/>
        </p:nvCxnSpPr>
        <p:spPr>
          <a:xfrm>
            <a:off x="4966726" y="3794342"/>
            <a:ext cx="116205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58ADFB7-373F-B475-0418-D4A56D676777}"/>
              </a:ext>
            </a:extLst>
          </p:cNvPr>
          <p:cNvSpPr txBox="1"/>
          <p:nvPr/>
        </p:nvSpPr>
        <p:spPr>
          <a:xfrm>
            <a:off x="5091112" y="3244334"/>
            <a:ext cx="952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f(X)</a:t>
            </a:r>
            <a:endParaRPr lang="ko-KR" altLang="en-US" dirty="0"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C6E1EF-7362-B4D4-8179-EF97DB755BE6}"/>
              </a:ext>
            </a:extLst>
          </p:cNvPr>
          <p:cNvSpPr txBox="1"/>
          <p:nvPr/>
        </p:nvSpPr>
        <p:spPr>
          <a:xfrm>
            <a:off x="7467600" y="3543001"/>
            <a:ext cx="1905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ko-KR" sz="1800" b="0" i="0" dirty="0">
                <a:solidFill>
                  <a:schemeClr val="bg1"/>
                </a:solidFill>
                <a:effectLst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 (foreground)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F9F665-2560-1968-A2BF-38CACC4F891D}"/>
              </a:ext>
            </a:extLst>
          </p:cNvPr>
          <p:cNvSpPr txBox="1"/>
          <p:nvPr/>
        </p:nvSpPr>
        <p:spPr>
          <a:xfrm rot="19245108">
            <a:off x="7909786" y="4467346"/>
            <a:ext cx="13964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ko-KR" sz="1800" b="0" i="0" dirty="0">
                <a:effectLst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3 (contour)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9FE2AF5-A808-96F0-F4B3-AE1CB2E01413}"/>
              </a:ext>
            </a:extLst>
          </p:cNvPr>
          <p:cNvSpPr txBox="1"/>
          <p:nvPr/>
        </p:nvSpPr>
        <p:spPr>
          <a:xfrm>
            <a:off x="6473236" y="2117141"/>
            <a:ext cx="18192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ko-KR" sz="1800" b="0" i="0" dirty="0">
                <a:effectLst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 (background)</a:t>
            </a:r>
          </a:p>
        </p:txBody>
      </p:sp>
      <p:sp>
        <p:nvSpPr>
          <p:cNvPr id="20" name="제목 1">
            <a:extLst>
              <a:ext uri="{FF2B5EF4-FFF2-40B4-BE49-F238E27FC236}">
                <a16:creationId xmlns:a16="http://schemas.microsoft.com/office/drawing/2014/main" id="{8FE60CC7-0E88-D026-73D5-668A52A77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Segmentation 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49255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E2467-5EB9-C685-A299-2EEB8BD08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20193A81-B263-33EA-AC53-8F102D519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21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2E49D3-1702-B39F-259C-E2B40D0E35A8}"/>
              </a:ext>
            </a:extLst>
          </p:cNvPr>
          <p:cNvSpPr txBox="1"/>
          <p:nvPr/>
        </p:nvSpPr>
        <p:spPr>
          <a:xfrm>
            <a:off x="1545401" y="1372995"/>
            <a:ext cx="1905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Input(Feature)</a:t>
            </a:r>
            <a:endParaRPr lang="ko-KR" altLang="en-US" dirty="0"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3ED103-4CC7-3525-0C64-F07A40470B54}"/>
              </a:ext>
            </a:extLst>
          </p:cNvPr>
          <p:cNvSpPr txBox="1"/>
          <p:nvPr/>
        </p:nvSpPr>
        <p:spPr>
          <a:xfrm>
            <a:off x="7020035" y="1398653"/>
            <a:ext cx="1859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Output(Target)</a:t>
            </a:r>
            <a:endParaRPr lang="ko-KR" altLang="en-US" dirty="0"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E1F18D-75DC-360D-FF35-5C8E545D1AAE}"/>
              </a:ext>
            </a:extLst>
          </p:cNvPr>
          <p:cNvSpPr txBox="1"/>
          <p:nvPr/>
        </p:nvSpPr>
        <p:spPr>
          <a:xfrm>
            <a:off x="9620250" y="2261116"/>
            <a:ext cx="22479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altLang="ko-KR" b="0" i="0" dirty="0">
                <a:effectLst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 (foreground)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altLang="ko-KR" b="0" i="0" dirty="0">
                <a:effectLst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 (background)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altLang="ko-KR" b="0" i="0" dirty="0">
                <a:effectLst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3 (contour)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5EC3F1-8C41-C890-A751-98FCC6A945B3}"/>
              </a:ext>
            </a:extLst>
          </p:cNvPr>
          <p:cNvSpPr txBox="1"/>
          <p:nvPr/>
        </p:nvSpPr>
        <p:spPr>
          <a:xfrm>
            <a:off x="2057400" y="5465264"/>
            <a:ext cx="1905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</a:t>
            </a:r>
            <a:endParaRPr lang="ko-KR" altLang="en-US" dirty="0"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6DE053-0025-18D3-0223-5D2D7C1DCDC9}"/>
              </a:ext>
            </a:extLst>
          </p:cNvPr>
          <p:cNvSpPr txBox="1"/>
          <p:nvPr/>
        </p:nvSpPr>
        <p:spPr>
          <a:xfrm>
            <a:off x="7264666" y="5408114"/>
            <a:ext cx="1124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y=[1,2,3]</a:t>
            </a:r>
            <a:endParaRPr lang="ko-KR" altLang="en-US" dirty="0"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C3794176-D717-4B6F-F62D-C98A47F441E3}"/>
              </a:ext>
            </a:extLst>
          </p:cNvPr>
          <p:cNvCxnSpPr>
            <a:cxnSpLocks/>
          </p:cNvCxnSpPr>
          <p:nvPr/>
        </p:nvCxnSpPr>
        <p:spPr>
          <a:xfrm>
            <a:off x="4695825" y="3819525"/>
            <a:ext cx="116205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7712384-FF73-1B78-943A-D1719CE93F3C}"/>
              </a:ext>
            </a:extLst>
          </p:cNvPr>
          <p:cNvSpPr txBox="1"/>
          <p:nvPr/>
        </p:nvSpPr>
        <p:spPr>
          <a:xfrm>
            <a:off x="4958818" y="3248047"/>
            <a:ext cx="1905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f(X)</a:t>
            </a:r>
            <a:endParaRPr lang="ko-KR" altLang="en-US" dirty="0"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E1D67749-C473-9D24-467A-27F4BD2FCF11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6110348" y="2417293"/>
            <a:ext cx="3509902" cy="2746474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15A8CA57-80F8-80D7-280A-EA5A00F751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1866248"/>
            <a:ext cx="3509902" cy="3465018"/>
          </a:xfrm>
          <a:prstGeom prst="rect">
            <a:avLst/>
          </a:prstGeom>
        </p:spPr>
      </p:pic>
      <p:sp>
        <p:nvSpPr>
          <p:cNvPr id="23" name="제목 1">
            <a:extLst>
              <a:ext uri="{FF2B5EF4-FFF2-40B4-BE49-F238E27FC236}">
                <a16:creationId xmlns:a16="http://schemas.microsoft.com/office/drawing/2014/main" id="{419C8791-2659-0D29-CFCA-56FC19AD8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+mn-lt"/>
                <a:cs typeface="Times New Roman" panose="02020603050405020304" pitchFamily="18" charset="0"/>
              </a:rPr>
              <a:t>Image Segmentation </a:t>
            </a:r>
            <a:endParaRPr lang="ko-KR" altLang="en-US" b="1" cap="none" dirty="0">
              <a:latin typeface="+mn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77130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C405B-AF14-B2C8-689A-F6492F268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AE79183E-E6F4-4214-DD0E-8C1A51209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22</a:t>
            </a:fld>
            <a:endParaRPr 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A5A2CB2E-8468-AEE1-580A-8B67C66160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168" y="472685"/>
            <a:ext cx="10629571" cy="118146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100" dirty="0">
                <a:latin typeface="+mn-lt"/>
                <a:ea typeface="D2Coding" panose="020B0609020101020101" pitchFamily="49" charset="-127"/>
              </a:rPr>
              <a:t>컴퓨터의 학습은 </a:t>
            </a:r>
            <a:r>
              <a:rPr lang="en-US" altLang="ko-KR" sz="2100" dirty="0">
                <a:latin typeface="+mn-lt"/>
                <a:ea typeface="D2Coding" panose="020B0609020101020101" pitchFamily="49" charset="-127"/>
              </a:rPr>
              <a:t>Pattern Recognition(</a:t>
            </a:r>
            <a:r>
              <a:rPr lang="ko-KR" altLang="en-US" sz="2100" dirty="0">
                <a:latin typeface="+mn-lt"/>
                <a:ea typeface="D2Coding" panose="020B0609020101020101" pitchFamily="49" charset="-127"/>
              </a:rPr>
              <a:t>패턴 인식</a:t>
            </a:r>
            <a:r>
              <a:rPr lang="en-US" altLang="ko-KR" sz="2100" dirty="0">
                <a:latin typeface="+mn-lt"/>
                <a:ea typeface="D2Coding" panose="020B0609020101020101" pitchFamily="49" charset="-127"/>
              </a:rPr>
              <a:t>)</a:t>
            </a:r>
            <a:r>
              <a:rPr lang="ko-KR" altLang="en-US" sz="2100" dirty="0">
                <a:latin typeface="+mn-lt"/>
                <a:ea typeface="D2Coding" panose="020B0609020101020101" pitchFamily="49" charset="-127"/>
              </a:rPr>
              <a:t>으로 </a:t>
            </a:r>
            <a:r>
              <a:rPr lang="en-US" altLang="ko-KR" sz="2100" dirty="0">
                <a:latin typeface="+mn-lt"/>
                <a:ea typeface="D2Coding" panose="020B0609020101020101" pitchFamily="49" charset="-127"/>
              </a:rPr>
              <a:t>“</a:t>
            </a:r>
            <a:r>
              <a:rPr lang="ko-KR" altLang="en-US" sz="2100" dirty="0">
                <a:latin typeface="+mn-lt"/>
                <a:ea typeface="D2Coding" panose="020B0609020101020101" pitchFamily="49" charset="-127"/>
              </a:rPr>
              <a:t>복잡한 함수를 찾는 과정</a:t>
            </a:r>
            <a:r>
              <a:rPr lang="en-US" altLang="ko-KR" sz="2100" dirty="0">
                <a:latin typeface="+mn-lt"/>
                <a:ea typeface="D2Coding" panose="020B0609020101020101" pitchFamily="49" charset="-127"/>
              </a:rPr>
              <a:t>”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100" dirty="0">
                <a:latin typeface="+mn-lt"/>
                <a:ea typeface="D2Coding" panose="020B0609020101020101" pitchFamily="49" charset="-127"/>
              </a:rPr>
              <a:t>입력</a:t>
            </a:r>
            <a:r>
              <a:rPr lang="en-US" altLang="ko-KR" sz="2100" dirty="0">
                <a:latin typeface="+mn-lt"/>
                <a:ea typeface="D2Coding" panose="020B0609020101020101" pitchFamily="49" charset="-127"/>
              </a:rPr>
              <a:t>(Input)</a:t>
            </a:r>
            <a:r>
              <a:rPr lang="ko-KR" altLang="en-US" sz="2100" dirty="0">
                <a:latin typeface="+mn-lt"/>
                <a:ea typeface="D2Coding" panose="020B0609020101020101" pitchFamily="49" charset="-127"/>
              </a:rPr>
              <a:t>을 출력</a:t>
            </a:r>
            <a:r>
              <a:rPr lang="en-US" altLang="ko-KR" sz="2100" dirty="0">
                <a:latin typeface="+mn-lt"/>
                <a:ea typeface="D2Coding" panose="020B0609020101020101" pitchFamily="49" charset="-127"/>
              </a:rPr>
              <a:t>(Output)</a:t>
            </a:r>
            <a:r>
              <a:rPr lang="ko-KR" altLang="en-US" sz="2100" dirty="0">
                <a:latin typeface="+mn-lt"/>
                <a:ea typeface="D2Coding" panose="020B0609020101020101" pitchFamily="49" charset="-127"/>
              </a:rPr>
              <a:t>에 </a:t>
            </a:r>
            <a:r>
              <a:rPr lang="ko-KR" altLang="en-US" sz="2100" dirty="0" err="1">
                <a:latin typeface="+mn-lt"/>
                <a:ea typeface="D2Coding" panose="020B0609020101020101" pitchFamily="49" charset="-127"/>
              </a:rPr>
              <a:t>점대점</a:t>
            </a:r>
            <a:r>
              <a:rPr lang="en-US" altLang="ko-KR" sz="2100" dirty="0">
                <a:latin typeface="+mn-lt"/>
                <a:ea typeface="D2Coding" panose="020B0609020101020101" pitchFamily="49" charset="-127"/>
              </a:rPr>
              <a:t>(point by point)</a:t>
            </a:r>
            <a:r>
              <a:rPr lang="ko-KR" altLang="en-US" sz="2100" dirty="0">
                <a:latin typeface="+mn-lt"/>
                <a:ea typeface="D2Coding" panose="020B0609020101020101" pitchFamily="49" charset="-127"/>
              </a:rPr>
              <a:t>으로 매핑하는 작업만을 학습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5FE2DA27-6599-B042-D667-9FEEEADD3271}"/>
              </a:ext>
            </a:extLst>
          </p:cNvPr>
          <p:cNvGrpSpPr/>
          <p:nvPr/>
        </p:nvGrpSpPr>
        <p:grpSpPr>
          <a:xfrm>
            <a:off x="1043685" y="2774418"/>
            <a:ext cx="3509265" cy="2656715"/>
            <a:chOff x="1611231" y="3054515"/>
            <a:chExt cx="2905125" cy="2082470"/>
          </a:xfrm>
        </p:grpSpPr>
        <p:sp>
          <p:nvSpPr>
            <p:cNvPr id="16" name="이등변 삼각형 15">
              <a:extLst>
                <a:ext uri="{FF2B5EF4-FFF2-40B4-BE49-F238E27FC236}">
                  <a16:creationId xmlns:a16="http://schemas.microsoft.com/office/drawing/2014/main" id="{012E2A5C-B7F7-E780-9A16-A12FFD94EF3A}"/>
                </a:ext>
              </a:extLst>
            </p:cNvPr>
            <p:cNvSpPr/>
            <p:nvPr/>
          </p:nvSpPr>
          <p:spPr>
            <a:xfrm rot="10800000">
              <a:off x="1835069" y="3054515"/>
              <a:ext cx="914400" cy="691820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이등변 삼각형 16">
              <a:extLst>
                <a:ext uri="{FF2B5EF4-FFF2-40B4-BE49-F238E27FC236}">
                  <a16:creationId xmlns:a16="http://schemas.microsoft.com/office/drawing/2014/main" id="{E51B1900-13D2-F7A2-C1F6-7FDE07AD0377}"/>
                </a:ext>
              </a:extLst>
            </p:cNvPr>
            <p:cNvSpPr/>
            <p:nvPr/>
          </p:nvSpPr>
          <p:spPr>
            <a:xfrm>
              <a:off x="3497179" y="4445165"/>
              <a:ext cx="914400" cy="691820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5289895E-86ED-62DF-6A92-6F97D35A61A2}"/>
                </a:ext>
              </a:extLst>
            </p:cNvPr>
            <p:cNvSpPr/>
            <p:nvPr/>
          </p:nvSpPr>
          <p:spPr>
            <a:xfrm>
              <a:off x="1611231" y="3429000"/>
              <a:ext cx="2905125" cy="132397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8E47953-F99A-8AD9-CEC2-D58732A98A45}"/>
                  </a:ext>
                </a:extLst>
              </p:cNvPr>
              <p:cNvSpPr txBox="1"/>
              <p:nvPr/>
            </p:nvSpPr>
            <p:spPr>
              <a:xfrm>
                <a:off x="688177" y="2242920"/>
                <a:ext cx="198736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2000" dirty="0">
                    <a:solidFill>
                      <a:schemeClr val="tx1"/>
                    </a:solidFill>
                  </a:rPr>
                  <a:t>Input (</a:t>
                </a:r>
                <a14:m>
                  <m:oMath xmlns:m="http://schemas.openxmlformats.org/officeDocument/2006/math">
                    <m:r>
                      <a:rPr lang="ko-KR" altLang="en-US" sz="2000" i="1" dirty="0">
                        <a:solidFill>
                          <a:schemeClr val="tx1"/>
                        </a:solidFill>
                      </a:rPr>
                      <m:t>𝑥</m:t>
                    </m:r>
                  </m:oMath>
                </a14:m>
                <a:r>
                  <a:rPr lang="en-US" altLang="ko-KR" sz="2000" dirty="0">
                    <a:solidFill>
                      <a:schemeClr val="tx1"/>
                    </a:solidFill>
                  </a:rPr>
                  <a:t>)</a:t>
                </a:r>
                <a:endParaRPr lang="ko-KR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8E47953-F99A-8AD9-CEC2-D58732A98A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177" y="2242920"/>
                <a:ext cx="1987365" cy="400110"/>
              </a:xfrm>
              <a:prstGeom prst="rect">
                <a:avLst/>
              </a:prstGeom>
              <a:blipFill>
                <a:blip r:embed="rId2"/>
                <a:stretch>
                  <a:fillRect l="-3374" t="-9091" b="-2575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3C9AC3F-49D5-D340-C129-5C6FEBAEA67D}"/>
                  </a:ext>
                </a:extLst>
              </p:cNvPr>
              <p:cNvSpPr txBox="1"/>
              <p:nvPr/>
            </p:nvSpPr>
            <p:spPr>
              <a:xfrm>
                <a:off x="3749204" y="5585095"/>
                <a:ext cx="191626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2000" dirty="0">
                    <a:solidFill>
                      <a:schemeClr val="tx1"/>
                    </a:solidFill>
                  </a:rPr>
                  <a:t>Output : </a:t>
                </a:r>
                <a14:m>
                  <m:oMath xmlns:m="http://schemas.openxmlformats.org/officeDocument/2006/math">
                    <m:r>
                      <a:rPr lang="ko-KR" altLang="en-US" sz="2000" i="1" dirty="0">
                        <a:solidFill>
                          <a:schemeClr val="tx1"/>
                        </a:solidFill>
                      </a:rPr>
                      <m:t>𝑓</m:t>
                    </m:r>
                    <m:d>
                      <m:dPr>
                        <m:ctrlPr>
                          <a:rPr lang="ko-KR" altLang="en-US" sz="2000" i="1" dirty="0">
                            <a:solidFill>
                              <a:schemeClr val="tx1"/>
                            </a:solidFill>
                          </a:rPr>
                        </m:ctrlPr>
                      </m:dPr>
                      <m:e>
                        <m:r>
                          <a:rPr lang="ko-KR" altLang="en-US" sz="2000" i="1" dirty="0">
                            <a:solidFill>
                              <a:schemeClr val="tx1"/>
                            </a:solidFill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ko-KR" sz="2000" dirty="0">
                    <a:solidFill>
                      <a:schemeClr val="tx1"/>
                    </a:solidFill>
                  </a:rPr>
                  <a:t> </a:t>
                </a:r>
                <a:endParaRPr lang="ko-KR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3C9AC3F-49D5-D340-C129-5C6FEBAEA6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9204" y="5585095"/>
                <a:ext cx="1916266" cy="400110"/>
              </a:xfrm>
              <a:prstGeom prst="rect">
                <a:avLst/>
              </a:prstGeom>
              <a:blipFill>
                <a:blip r:embed="rId3"/>
                <a:stretch>
                  <a:fillRect l="-3185" t="-7576" b="-2575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5A5AF3B-51AA-AB25-7F34-2B64B350963D}"/>
                  </a:ext>
                </a:extLst>
              </p:cNvPr>
              <p:cNvSpPr txBox="1"/>
              <p:nvPr/>
            </p:nvSpPr>
            <p:spPr>
              <a:xfrm>
                <a:off x="1574577" y="3714345"/>
                <a:ext cx="92558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3200" i="1" dirty="0" smtClean="0">
                          <a:solidFill>
                            <a:schemeClr val="bg1"/>
                          </a:solidFill>
                        </a:rPr>
                        <m:t>𝑓</m:t>
                      </m:r>
                      <m:d>
                        <m:dPr>
                          <m:ctrlPr>
                            <a:rPr lang="ko-KR" altLang="en-US" sz="3200" i="1" dirty="0">
                              <a:solidFill>
                                <a:schemeClr val="bg1"/>
                              </a:solidFill>
                            </a:rPr>
                          </m:ctrlPr>
                        </m:dPr>
                        <m:e/>
                      </m:d>
                    </m:oMath>
                  </m:oMathPara>
                </a14:m>
                <a:endParaRPr lang="ko-KR" altLang="en-US" sz="32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5A5AF3B-51AA-AB25-7F34-2B64B35096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4577" y="3714345"/>
                <a:ext cx="925580" cy="584775"/>
              </a:xfrm>
              <a:prstGeom prst="rect">
                <a:avLst/>
              </a:prstGeom>
              <a:blipFill>
                <a:blip r:embed="rId4"/>
                <a:stretch>
                  <a:fillRect r="-986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2" descr="▲Chatgpt , Gemini 외의 대화형 생성 AI는 생소하다. &quot;한국형 AI&quot;  네이버 Clova X,  카카오 AskUp, 뤼튼 Wrtn도 애정을 가지고 활용해보자..">
            <a:extLst>
              <a:ext uri="{FF2B5EF4-FFF2-40B4-BE49-F238E27FC236}">
                <a16:creationId xmlns:a16="http://schemas.microsoft.com/office/drawing/2014/main" id="{D4A5A6DF-637F-9EB9-0208-7DA17FB410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5470" y="2703842"/>
            <a:ext cx="3509264" cy="2605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4EE8FA4-FC86-A298-E904-0492EF29D9E5}"/>
                  </a:ext>
                </a:extLst>
              </p:cNvPr>
              <p:cNvSpPr txBox="1"/>
              <p:nvPr/>
            </p:nvSpPr>
            <p:spPr>
              <a:xfrm>
                <a:off x="9460999" y="5453688"/>
                <a:ext cx="26212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 dirty="0" smtClean="0"/>
                        <m:t>𝑦</m:t>
                      </m:r>
                      <m:r>
                        <a:rPr lang="ko-KR" altLang="en-US" i="0" dirty="0"/>
                        <m:t>=</m:t>
                      </m:r>
                      <m:r>
                        <a:rPr lang="ko-KR" altLang="en-US" i="1" dirty="0"/>
                        <m:t>𝑓</m:t>
                      </m:r>
                      <m:d>
                        <m:dPr>
                          <m:ctrlPr>
                            <a:rPr lang="ko-KR" altLang="en-US" i="1" dirty="0"/>
                          </m:ctrlPr>
                        </m:dPr>
                        <m:e>
                          <m:r>
                            <a:rPr lang="ko-KR" altLang="en-US" i="1" dirty="0"/>
                            <m:t>𝑥</m:t>
                          </m:r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4EE8FA4-FC86-A298-E904-0492EF29D9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0999" y="5453688"/>
                <a:ext cx="2621280" cy="369332"/>
              </a:xfrm>
              <a:prstGeom prst="rect">
                <a:avLst/>
              </a:prstGeom>
              <a:blipFill>
                <a:blip r:embed="rId6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 descr="function">
            <a:extLst>
              <a:ext uri="{FF2B5EF4-FFF2-40B4-BE49-F238E27FC236}">
                <a16:creationId xmlns:a16="http://schemas.microsoft.com/office/drawing/2014/main" id="{BB6A124A-B08C-1255-891E-9860AECD58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8320" y="2703841"/>
            <a:ext cx="2605778" cy="2605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0734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DD944-819A-99A2-0021-8DFCD7A76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0A5631C7-C44C-1826-3DE3-E976FA254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23</a:t>
            </a:fld>
            <a:endParaRPr lang="en-US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D039A759-A092-CFD2-0D84-CA7A9F2248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100" y="1348885"/>
            <a:ext cx="10104502" cy="1893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C4CF98E-FB07-1F35-A45B-77E818B32C87}"/>
              </a:ext>
            </a:extLst>
          </p:cNvPr>
          <p:cNvSpPr txBox="1"/>
          <p:nvPr/>
        </p:nvSpPr>
        <p:spPr>
          <a:xfrm>
            <a:off x="491325" y="679572"/>
            <a:ext cx="106994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ea typeface="D2Coding" panose="020B0609020101020101" pitchFamily="49" charset="-127"/>
              </a:rPr>
              <a:t>컴퓨터가 </a:t>
            </a:r>
            <a:r>
              <a:rPr lang="en-US" altLang="ko-KR" sz="2000" dirty="0">
                <a:ea typeface="D2Coding" panose="020B0609020101020101" pitchFamily="49" charset="-127"/>
              </a:rPr>
              <a:t>Text</a:t>
            </a:r>
            <a:r>
              <a:rPr lang="ko-KR" altLang="en-US" sz="2000" dirty="0">
                <a:ea typeface="D2Coding" panose="020B0609020101020101" pitchFamily="49" charset="-127"/>
              </a:rPr>
              <a:t>를 처리하는 </a:t>
            </a:r>
            <a:r>
              <a:rPr lang="en-US" altLang="ko-KR" sz="2000" dirty="0">
                <a:ea typeface="D2Coding" panose="020B0609020101020101" pitchFamily="49" charset="-127"/>
              </a:rPr>
              <a:t>mechanism</a:t>
            </a:r>
            <a:r>
              <a:rPr lang="ko-KR" altLang="en-US" sz="2000" dirty="0">
                <a:ea typeface="D2Coding" panose="020B0609020101020101" pitchFamily="49" charset="-127"/>
              </a:rPr>
              <a:t> </a:t>
            </a:r>
            <a:r>
              <a:rPr lang="en-US" altLang="ko-KR" sz="2000" dirty="0">
                <a:ea typeface="D2Coding" panose="020B0609020101020101" pitchFamily="49" charset="-127"/>
              </a:rPr>
              <a:t>:</a:t>
            </a:r>
            <a:r>
              <a:rPr lang="en-US" altLang="ko-KR" sz="2000" dirty="0">
                <a:ea typeface="D2Coding" panose="020B0609020101020101" pitchFamily="49" charset="-127"/>
                <a:sym typeface="Wingdings" panose="05000000000000000000" pitchFamily="2" charset="2"/>
              </a:rPr>
              <a:t> </a:t>
            </a:r>
            <a:r>
              <a:rPr lang="en-US" altLang="ko-KR" sz="2000" dirty="0">
                <a:ea typeface="D2Coding" panose="020B0609020101020101" pitchFamily="49" charset="-127"/>
                <a:sym typeface="Wingdings" panose="05000000000000000000" pitchFamily="2" charset="2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https://word2vec.kr/search/</a:t>
            </a:r>
            <a:endParaRPr lang="ko-KR" altLang="en-US" sz="2000" dirty="0">
              <a:ea typeface="D2Coding" panose="020B0609020101020101" pitchFamily="49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21E80A2-DCA4-8DBF-8859-4701C2AF7E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8663" y="3346352"/>
            <a:ext cx="6911939" cy="3215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887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9C713-3A9E-1EB0-ABAE-019CE15E7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F503A4E1-378C-8C12-39F8-05F0DD5B1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24</a:t>
            </a:fld>
            <a:endParaRPr lang="en-US" dirty="0"/>
          </a:p>
        </p:txBody>
      </p:sp>
      <p:pic>
        <p:nvPicPr>
          <p:cNvPr id="8194" name="Picture 2" descr="Examples of Photorealistic GAN Generated Faces">
            <a:extLst>
              <a:ext uri="{FF2B5EF4-FFF2-40B4-BE49-F238E27FC236}">
                <a16:creationId xmlns:a16="http://schemas.microsoft.com/office/drawing/2014/main" id="{A04F284F-E9EB-A504-DA3A-9FA6D3FE7E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243906"/>
            <a:ext cx="6381750" cy="4766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A8C1D3A-0F11-1BE3-E1AE-2FFBFE242FAC}"/>
              </a:ext>
            </a:extLst>
          </p:cNvPr>
          <p:cNvSpPr txBox="1"/>
          <p:nvPr/>
        </p:nvSpPr>
        <p:spPr>
          <a:xfrm>
            <a:off x="971550" y="6086475"/>
            <a:ext cx="6477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0" i="0" dirty="0">
                <a:effectLst/>
                <a:latin typeface="Helvetica Neue"/>
              </a:rPr>
              <a:t>Examples of Photorealistic GAN-Generated </a:t>
            </a:r>
            <a:r>
              <a:rPr lang="en-US" altLang="ko-KR" sz="1100" b="0" i="0" dirty="0" err="1">
                <a:effectLst/>
                <a:latin typeface="Helvetica Neue"/>
              </a:rPr>
              <a:t>Faces.Taken</a:t>
            </a:r>
            <a:r>
              <a:rPr lang="en-US" altLang="ko-KR" sz="1100" b="0" i="0" dirty="0">
                <a:effectLst/>
                <a:latin typeface="Helvetica Neue"/>
              </a:rPr>
              <a:t> from Progressive Growing of GANs for Improved Quality, Stability, and Variation, 2017.</a:t>
            </a:r>
            <a:endParaRPr lang="ko-KR" altLang="en-US" sz="110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D5A61E4-270B-4EA8-8626-23E5E8E47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+mn-lt"/>
                <a:cs typeface="Times New Roman" panose="02020603050405020304" pitchFamily="18" charset="0"/>
              </a:rPr>
              <a:t>Generate Face Image  </a:t>
            </a:r>
            <a:endParaRPr lang="ko-KR" altLang="en-US" b="1" cap="none" dirty="0">
              <a:latin typeface="+mn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82427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09AAA-1F30-AE73-C38D-9C818C1B8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27988D7-267E-7FB5-32B6-D6E8A94E5889}"/>
              </a:ext>
            </a:extLst>
          </p:cNvPr>
          <p:cNvSpPr/>
          <p:nvPr/>
        </p:nvSpPr>
        <p:spPr>
          <a:xfrm>
            <a:off x="1104900" y="3537046"/>
            <a:ext cx="6629399" cy="6096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9C774A1-09F8-7B0A-48B8-92C9456D3A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030" y="586381"/>
            <a:ext cx="8825658" cy="609600"/>
          </a:xfrm>
        </p:spPr>
        <p:txBody>
          <a:bodyPr/>
          <a:lstStyle/>
          <a:p>
            <a:r>
              <a:rPr lang="en-US" altLang="ko-KR" sz="4400" dirty="0"/>
              <a:t>Contents</a:t>
            </a:r>
            <a:endParaRPr lang="ko-KR" altLang="en-US" sz="4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ECE4D27-B67D-DEEF-3BCB-55ABC0022B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4055" y="1452837"/>
            <a:ext cx="7627095" cy="365016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AI </a:t>
            </a:r>
            <a:r>
              <a:rPr lang="ko-KR" altLang="en-US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기술 </a:t>
            </a:r>
            <a:r>
              <a:rPr lang="en-US" altLang="ko-KR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Trends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AI </a:t>
            </a:r>
            <a:r>
              <a:rPr lang="ko-KR" altLang="en-US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문해력</a:t>
            </a:r>
            <a:r>
              <a:rPr lang="en-US" altLang="ko-KR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(AI Literacy)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Machine/Deep Learning </a:t>
            </a:r>
            <a:r>
              <a:rPr lang="ko-KR" altLang="en-US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이해</a:t>
            </a:r>
            <a:endParaRPr lang="en-US" altLang="ko-KR" sz="2400" cap="none" dirty="0">
              <a:solidFill>
                <a:schemeClr val="tx1"/>
              </a:solidFill>
              <a:latin typeface="+mn-lt"/>
              <a:ea typeface="D2Coding" panose="020B0609020101020101" pitchFamily="49" charset="-127"/>
            </a:endParaRP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ko-KR" altLang="en-US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생성형 </a:t>
            </a:r>
            <a:r>
              <a:rPr lang="en-US" altLang="ko-KR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AI(Generative</a:t>
            </a:r>
            <a:r>
              <a:rPr lang="ko-KR" altLang="en-US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 </a:t>
            </a:r>
            <a:r>
              <a:rPr lang="en-US" altLang="ko-KR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AI)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ko-KR" altLang="en-US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직업의</a:t>
            </a:r>
            <a:r>
              <a:rPr lang="en-US" altLang="ko-KR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 </a:t>
            </a:r>
            <a:r>
              <a:rPr lang="ko-KR" altLang="en-US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변화</a:t>
            </a:r>
            <a:endParaRPr lang="en-US" altLang="ko-KR" sz="2400" cap="none" dirty="0">
              <a:solidFill>
                <a:schemeClr val="tx1"/>
              </a:solidFill>
              <a:latin typeface="+mn-lt"/>
              <a:ea typeface="D2Coding" panose="020B0609020101020101" pitchFamily="49" charset="-127"/>
            </a:endParaRP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ko-KR" altLang="en-US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교육의 변화</a:t>
            </a:r>
            <a:endParaRPr lang="en-US" altLang="ko-KR" sz="2400" cap="none" dirty="0">
              <a:solidFill>
                <a:schemeClr val="tx1"/>
              </a:solidFill>
              <a:latin typeface="+mn-lt"/>
              <a:ea typeface="D2Coding" panose="020B0609020101020101" pitchFamily="49" charset="-127"/>
            </a:endParaRP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ko-KR" altLang="en-US" sz="2400" cap="none" dirty="0">
              <a:solidFill>
                <a:schemeClr val="tx1"/>
              </a:solidFill>
              <a:latin typeface="+mn-lt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433807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FA7E8-3898-1642-FC37-F3EC28839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2F7D7E62-88C0-2899-7D53-45B1AA80C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26</a:t>
            </a:fld>
            <a:endParaRPr lang="en-US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87DE6F0E-CC28-6D91-BE1E-0137F11B9842}"/>
              </a:ext>
            </a:extLst>
          </p:cNvPr>
          <p:cNvSpPr txBox="1">
            <a:spLocks/>
          </p:cNvSpPr>
          <p:nvPr/>
        </p:nvSpPr>
        <p:spPr>
          <a:xfrm>
            <a:off x="718606" y="2056645"/>
            <a:ext cx="6482087" cy="76643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Batang" panose="02030600000101010101" pitchFamily="18" charset="-127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ko-KR" altLang="en-US" sz="2800" dirty="0">
                <a:solidFill>
                  <a:srgbClr val="FFFFFF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블랙       </a:t>
            </a:r>
            <a:r>
              <a:rPr lang="en-US" altLang="ko-KR" sz="2800" dirty="0">
                <a:solidFill>
                  <a:srgbClr val="FFFFFF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          ?  </a:t>
            </a:r>
            <a:endParaRPr lang="ko-KR" altLang="en-US" sz="2800" dirty="0">
              <a:solidFill>
                <a:srgbClr val="FFFFFF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sp>
        <p:nvSpPr>
          <p:cNvPr id="7" name="화살표: 위로 구부러짐 6">
            <a:extLst>
              <a:ext uri="{FF2B5EF4-FFF2-40B4-BE49-F238E27FC236}">
                <a16:creationId xmlns:a16="http://schemas.microsoft.com/office/drawing/2014/main" id="{046724D1-DF42-06F1-FAF0-29BB8535327B}"/>
              </a:ext>
            </a:extLst>
          </p:cNvPr>
          <p:cNvSpPr/>
          <p:nvPr/>
        </p:nvSpPr>
        <p:spPr>
          <a:xfrm>
            <a:off x="1241773" y="2760525"/>
            <a:ext cx="1901477" cy="400337"/>
          </a:xfrm>
          <a:prstGeom prst="curved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85F735-0A6C-0262-ABC4-C7650839ABEA}"/>
              </a:ext>
            </a:extLst>
          </p:cNvPr>
          <p:cNvSpPr txBox="1"/>
          <p:nvPr/>
        </p:nvSpPr>
        <p:spPr>
          <a:xfrm>
            <a:off x="572955" y="697875"/>
            <a:ext cx="9694995" cy="87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데이터를 학습한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딥러닝은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b="1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이전 단어들을 기반으로 다음 단어를 확률적으로 예측하여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텍스트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이미지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음악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코드 등 새로운 콘텐츠를 생성하는 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LLM(Large Language Model)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7E723F44-9B2E-5BDF-A6E4-FC6EB276D266}"/>
              </a:ext>
            </a:extLst>
          </p:cNvPr>
          <p:cNvGrpSpPr/>
          <p:nvPr/>
        </p:nvGrpSpPr>
        <p:grpSpPr>
          <a:xfrm>
            <a:off x="2938879" y="1883378"/>
            <a:ext cx="5734688" cy="3866290"/>
            <a:chOff x="2938879" y="1883378"/>
            <a:chExt cx="5734688" cy="3866290"/>
          </a:xfrm>
        </p:grpSpPr>
        <p:sp>
          <p:nvSpPr>
            <p:cNvPr id="5" name="제목 1">
              <a:extLst>
                <a:ext uri="{FF2B5EF4-FFF2-40B4-BE49-F238E27FC236}">
                  <a16:creationId xmlns:a16="http://schemas.microsoft.com/office/drawing/2014/main" id="{611FA2E5-14CD-9CE6-B4C3-AB709E921D99}"/>
                </a:ext>
              </a:extLst>
            </p:cNvPr>
            <p:cNvSpPr txBox="1">
              <a:spLocks/>
            </p:cNvSpPr>
            <p:nvPr/>
          </p:nvSpPr>
          <p:spPr>
            <a:xfrm>
              <a:off x="2938879" y="2978137"/>
              <a:ext cx="2177317" cy="766439"/>
            </a:xfrm>
            <a:prstGeom prst="rect">
              <a:avLst/>
            </a:prstGeom>
            <a:effectLst>
              <a:outerShdw blurRad="25400" dir="17880000">
                <a:srgbClr val="000000">
                  <a:alpha val="46000"/>
                </a:srgbClr>
              </a:outerShdw>
            </a:effectLst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4572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32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2"/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Batang" panose="02030600000101010101" pitchFamily="18" charset="-127"/>
                  <a:ea typeface="Batang" panose="02030600000101010101" pitchFamily="18" charset="-127"/>
                  <a:cs typeface="Batang" panose="02030600000101010101" pitchFamily="18" charset="-127"/>
                </a:defRPr>
              </a:lvl1pPr>
              <a:lvl2pPr eaLnBrk="1" latinLnBrk="1" hangingPunct="1">
                <a:defRPr>
                  <a:solidFill>
                    <a:schemeClr val="tx2"/>
                  </a:solidFill>
                </a:defRPr>
              </a:lvl2pPr>
              <a:lvl3pPr eaLnBrk="1" latinLnBrk="1" hangingPunct="1">
                <a:defRPr>
                  <a:solidFill>
                    <a:schemeClr val="tx2"/>
                  </a:solidFill>
                </a:defRPr>
              </a:lvl3pPr>
              <a:lvl4pPr eaLnBrk="1" latinLnBrk="1" hangingPunct="1">
                <a:defRPr>
                  <a:solidFill>
                    <a:schemeClr val="tx2"/>
                  </a:solidFill>
                </a:defRPr>
              </a:lvl4pPr>
              <a:lvl5pPr eaLnBrk="1" latinLnBrk="1" hangingPunct="1">
                <a:defRPr>
                  <a:solidFill>
                    <a:schemeClr val="tx2"/>
                  </a:solidFill>
                </a:defRPr>
              </a:lvl5pPr>
              <a:lvl6pPr eaLnBrk="1" latinLnBrk="1" hangingPunct="1">
                <a:defRPr>
                  <a:solidFill>
                    <a:schemeClr val="tx2"/>
                  </a:solidFill>
                </a:defRPr>
              </a:lvl6pPr>
              <a:lvl7pPr eaLnBrk="1" latinLnBrk="1" hangingPunct="1">
                <a:defRPr>
                  <a:solidFill>
                    <a:schemeClr val="tx2"/>
                  </a:solidFill>
                </a:defRPr>
              </a:lvl7pPr>
              <a:lvl8pPr eaLnBrk="1" latinLnBrk="1" hangingPunct="1">
                <a:defRPr>
                  <a:solidFill>
                    <a:schemeClr val="tx2"/>
                  </a:solidFill>
                </a:defRPr>
              </a:lvl8pPr>
              <a:lvl9pPr eaLnBrk="1" latin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pPr algn="l"/>
              <a:r>
                <a:rPr lang="ko-KR" altLang="en-US" sz="2800" dirty="0">
                  <a:solidFill>
                    <a:srgbClr val="FFC000"/>
                  </a:solidFill>
                  <a:latin typeface="한컴 말랑말랑 Bold" panose="020F0803000000000000" pitchFamily="50" charset="-127"/>
                  <a:ea typeface="한컴 말랑말랑 Bold" panose="020F0803000000000000" pitchFamily="50" charset="-127"/>
                </a:rPr>
                <a:t>핑크</a:t>
              </a:r>
              <a:r>
                <a:rPr lang="en-US" altLang="ko-KR" sz="2800" dirty="0">
                  <a:latin typeface="한컴 말랑말랑 Bold" panose="020F0803000000000000" pitchFamily="50" charset="-127"/>
                  <a:ea typeface="한컴 말랑말랑 Bold" panose="020F0803000000000000" pitchFamily="50" charset="-127"/>
                </a:rPr>
                <a:t> </a:t>
              </a:r>
              <a:endParaRPr lang="ko-KR" altLang="en-US" sz="28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endParaRPr>
            </a:p>
          </p:txBody>
        </p:sp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31669C79-6E12-C653-721F-8A8D0705C0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03671" y="1883378"/>
              <a:ext cx="3569896" cy="3866290"/>
            </a:xfrm>
            <a:prstGeom prst="rect">
              <a:avLst/>
            </a:prstGeom>
          </p:spPr>
        </p:pic>
      </p:grpSp>
      <p:sp>
        <p:nvSpPr>
          <p:cNvPr id="9" name="제목 1">
            <a:extLst>
              <a:ext uri="{FF2B5EF4-FFF2-40B4-BE49-F238E27FC236}">
                <a16:creationId xmlns:a16="http://schemas.microsoft.com/office/drawing/2014/main" id="{990F8DB8-DDC4-EDCB-893F-F3EABAE4EA45}"/>
              </a:ext>
            </a:extLst>
          </p:cNvPr>
          <p:cNvSpPr txBox="1">
            <a:spLocks/>
          </p:cNvSpPr>
          <p:nvPr/>
        </p:nvSpPr>
        <p:spPr>
          <a:xfrm>
            <a:off x="2941695" y="4026310"/>
            <a:ext cx="2177317" cy="76643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Batang" panose="02030600000101010101" pitchFamily="18" charset="-127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ko-KR" altLang="en-US" sz="2800" dirty="0">
                <a:solidFill>
                  <a:srgbClr val="FFFF00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커피</a:t>
            </a:r>
            <a:r>
              <a:rPr lang="en-US" altLang="ko-KR" sz="28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endParaRPr lang="ko-KR" altLang="en-US" sz="2800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pic>
        <p:nvPicPr>
          <p:cNvPr id="6150" name="Picture 6" descr="커피가 담긴 화이트 세라믹 머그잔">
            <a:extLst>
              <a:ext uri="{FF2B5EF4-FFF2-40B4-BE49-F238E27FC236}">
                <a16:creationId xmlns:a16="http://schemas.microsoft.com/office/drawing/2014/main" id="{A505F6CD-DFF6-B16F-93A7-AEA63D5741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4075" y="2352675"/>
            <a:ext cx="2870160" cy="4305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A2BCF9E2-ED44-0CF7-2A28-6C73929297AE}"/>
              </a:ext>
            </a:extLst>
          </p:cNvPr>
          <p:cNvGrpSpPr/>
          <p:nvPr/>
        </p:nvGrpSpPr>
        <p:grpSpPr>
          <a:xfrm>
            <a:off x="2928225" y="3200636"/>
            <a:ext cx="8852915" cy="3104914"/>
            <a:chOff x="2928225" y="3200636"/>
            <a:chExt cx="8852915" cy="3104914"/>
          </a:xfrm>
        </p:grpSpPr>
        <p:sp>
          <p:nvSpPr>
            <p:cNvPr id="11" name="제목 1">
              <a:extLst>
                <a:ext uri="{FF2B5EF4-FFF2-40B4-BE49-F238E27FC236}">
                  <a16:creationId xmlns:a16="http://schemas.microsoft.com/office/drawing/2014/main" id="{C5B4E57A-7758-2A62-A476-E7A95EB53D66}"/>
                </a:ext>
              </a:extLst>
            </p:cNvPr>
            <p:cNvSpPr txBox="1">
              <a:spLocks/>
            </p:cNvSpPr>
            <p:nvPr/>
          </p:nvSpPr>
          <p:spPr>
            <a:xfrm>
              <a:off x="2928225" y="4983229"/>
              <a:ext cx="2177317" cy="766439"/>
            </a:xfrm>
            <a:prstGeom prst="rect">
              <a:avLst/>
            </a:prstGeom>
            <a:effectLst>
              <a:outerShdw blurRad="25400" dir="17880000">
                <a:srgbClr val="000000">
                  <a:alpha val="46000"/>
                </a:srgbClr>
              </a:outerShdw>
            </a:effectLst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4572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32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2"/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Batang" panose="02030600000101010101" pitchFamily="18" charset="-127"/>
                  <a:ea typeface="Batang" panose="02030600000101010101" pitchFamily="18" charset="-127"/>
                  <a:cs typeface="Batang" panose="02030600000101010101" pitchFamily="18" charset="-127"/>
                </a:defRPr>
              </a:lvl1pPr>
              <a:lvl2pPr eaLnBrk="1" latinLnBrk="1" hangingPunct="1">
                <a:defRPr>
                  <a:solidFill>
                    <a:schemeClr val="tx2"/>
                  </a:solidFill>
                </a:defRPr>
              </a:lvl2pPr>
              <a:lvl3pPr eaLnBrk="1" latinLnBrk="1" hangingPunct="1">
                <a:defRPr>
                  <a:solidFill>
                    <a:schemeClr val="tx2"/>
                  </a:solidFill>
                </a:defRPr>
              </a:lvl3pPr>
              <a:lvl4pPr eaLnBrk="1" latinLnBrk="1" hangingPunct="1">
                <a:defRPr>
                  <a:solidFill>
                    <a:schemeClr val="tx2"/>
                  </a:solidFill>
                </a:defRPr>
              </a:lvl4pPr>
              <a:lvl5pPr eaLnBrk="1" latinLnBrk="1" hangingPunct="1">
                <a:defRPr>
                  <a:solidFill>
                    <a:schemeClr val="tx2"/>
                  </a:solidFill>
                </a:defRPr>
              </a:lvl5pPr>
              <a:lvl6pPr eaLnBrk="1" latinLnBrk="1" hangingPunct="1">
                <a:defRPr>
                  <a:solidFill>
                    <a:schemeClr val="tx2"/>
                  </a:solidFill>
                </a:defRPr>
              </a:lvl6pPr>
              <a:lvl7pPr eaLnBrk="1" latinLnBrk="1" hangingPunct="1">
                <a:defRPr>
                  <a:solidFill>
                    <a:schemeClr val="tx2"/>
                  </a:solidFill>
                </a:defRPr>
              </a:lvl7pPr>
              <a:lvl8pPr eaLnBrk="1" latinLnBrk="1" hangingPunct="1">
                <a:defRPr>
                  <a:solidFill>
                    <a:schemeClr val="tx2"/>
                  </a:solidFill>
                </a:defRPr>
              </a:lvl8pPr>
              <a:lvl9pPr eaLnBrk="1" latin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pPr algn="l"/>
              <a:r>
                <a:rPr lang="ko-KR" altLang="en-US" sz="2800" dirty="0">
                  <a:solidFill>
                    <a:srgbClr val="FF0000"/>
                  </a:solidFill>
                  <a:latin typeface="한컴 말랑말랑 Bold" panose="020F0803000000000000" pitchFamily="50" charset="-127"/>
                  <a:ea typeface="한컴 말랑말랑 Bold" panose="020F0803000000000000" pitchFamily="50" charset="-127"/>
                </a:rPr>
                <a:t>홀</a:t>
              </a:r>
              <a:r>
                <a:rPr lang="en-US" altLang="ko-KR" sz="2800" dirty="0">
                  <a:solidFill>
                    <a:schemeClr val="tx1"/>
                  </a:solidFill>
                  <a:latin typeface="한컴 말랑말랑 Bold" panose="020F0803000000000000" pitchFamily="50" charset="-127"/>
                  <a:ea typeface="한컴 말랑말랑 Bold" panose="020F0803000000000000" pitchFamily="50" charset="-127"/>
                </a:rPr>
                <a:t> </a:t>
              </a:r>
              <a:endParaRPr lang="ko-KR" altLang="en-US" sz="2800" dirty="0">
                <a:solidFill>
                  <a:schemeClr val="tx1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endParaRPr>
            </a:p>
          </p:txBody>
        </p:sp>
        <p:pic>
          <p:nvPicPr>
            <p:cNvPr id="6148" name="Picture 4" descr="어둠 속에서 불의 고리가 보인다">
              <a:extLst>
                <a:ext uri="{FF2B5EF4-FFF2-40B4-BE49-F238E27FC236}">
                  <a16:creationId xmlns:a16="http://schemas.microsoft.com/office/drawing/2014/main" id="{E6DD4576-D0D2-F798-B847-A0C25AD5CE6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62730" y="3200636"/>
              <a:ext cx="5518410" cy="31049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722782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04049-3842-3F62-B21A-BD6507D0B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F02BC5E3-224A-24E3-5CD4-6E5BAB6EB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27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FD99B4-8E4E-4BDD-3CB8-D12EAE2B6F32}"/>
              </a:ext>
            </a:extLst>
          </p:cNvPr>
          <p:cNvSpPr txBox="1"/>
          <p:nvPr/>
        </p:nvSpPr>
        <p:spPr>
          <a:xfrm>
            <a:off x="572955" y="697875"/>
            <a:ext cx="9694995" cy="87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ea typeface="D2Coding" panose="020B0609020101020101" pitchFamily="49" charset="-127"/>
              </a:rPr>
              <a:t>데이터를 학습한 </a:t>
            </a:r>
            <a:r>
              <a:rPr lang="ko-KR" altLang="en-US" dirty="0" err="1">
                <a:ea typeface="D2Coding" panose="020B0609020101020101" pitchFamily="49" charset="-127"/>
              </a:rPr>
              <a:t>딥러닝은</a:t>
            </a:r>
            <a:r>
              <a:rPr lang="ko-KR" altLang="en-US" dirty="0">
                <a:ea typeface="D2Coding" panose="020B0609020101020101" pitchFamily="49" charset="-127"/>
              </a:rPr>
              <a:t> </a:t>
            </a:r>
            <a:r>
              <a:rPr lang="ko-KR" altLang="en-US" b="1" dirty="0">
                <a:solidFill>
                  <a:srgbClr val="FF0000"/>
                </a:solidFill>
                <a:ea typeface="D2Coding" panose="020B0609020101020101" pitchFamily="49" charset="-127"/>
              </a:rPr>
              <a:t>이전 픽셀들을 기반으로 다음 픽셀을 확률적으로 예측하여</a:t>
            </a:r>
            <a:r>
              <a:rPr lang="ko-KR" altLang="en-US" dirty="0">
                <a:ea typeface="D2Coding" panose="020B0609020101020101" pitchFamily="49" charset="-127"/>
              </a:rPr>
              <a:t> 텍스트</a:t>
            </a:r>
            <a:r>
              <a:rPr lang="en-US" altLang="ko-KR" dirty="0">
                <a:ea typeface="D2Coding" panose="020B0609020101020101" pitchFamily="49" charset="-127"/>
              </a:rPr>
              <a:t>, </a:t>
            </a:r>
            <a:r>
              <a:rPr lang="ko-KR" altLang="en-US" dirty="0">
                <a:ea typeface="D2Coding" panose="020B0609020101020101" pitchFamily="49" charset="-127"/>
              </a:rPr>
              <a:t>이미지</a:t>
            </a:r>
            <a:r>
              <a:rPr lang="en-US" altLang="ko-KR" dirty="0">
                <a:ea typeface="D2Coding" panose="020B0609020101020101" pitchFamily="49" charset="-127"/>
              </a:rPr>
              <a:t>, </a:t>
            </a:r>
            <a:r>
              <a:rPr lang="ko-KR" altLang="en-US" dirty="0">
                <a:ea typeface="D2Coding" panose="020B0609020101020101" pitchFamily="49" charset="-127"/>
              </a:rPr>
              <a:t>음악</a:t>
            </a:r>
            <a:r>
              <a:rPr lang="en-US" altLang="ko-KR" dirty="0">
                <a:ea typeface="D2Coding" panose="020B0609020101020101" pitchFamily="49" charset="-127"/>
              </a:rPr>
              <a:t>, </a:t>
            </a:r>
            <a:r>
              <a:rPr lang="ko-KR" altLang="en-US" dirty="0">
                <a:ea typeface="D2Coding" panose="020B0609020101020101" pitchFamily="49" charset="-127"/>
              </a:rPr>
              <a:t>코드 등 새로운 콘텐츠를 생성하는 </a:t>
            </a:r>
            <a:r>
              <a:rPr lang="en-US" altLang="ko-KR" b="1" dirty="0">
                <a:cs typeface="Times New Roman" panose="02020603050405020304" pitchFamily="18" charset="0"/>
              </a:rPr>
              <a:t>LLM(Large Language Model)</a:t>
            </a:r>
            <a:endParaRPr lang="ko-KR" altLang="en-US" dirty="0">
              <a:ea typeface="D2Coding" panose="020B0609020101020101" pitchFamily="49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274DC582-07A1-80C0-0395-B53ED416E5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17" y="2011520"/>
            <a:ext cx="10541521" cy="4335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5200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AEAFC-BE00-BAFE-D0FA-D525C3477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1A11FA24-C803-43CA-B36C-F6BBFD781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28</a:t>
            </a:fld>
            <a:endParaRPr lang="en-US" dirty="0"/>
          </a:p>
        </p:txBody>
      </p:sp>
      <p:pic>
        <p:nvPicPr>
          <p:cNvPr id="19" name="Picture 2" descr="코드에서 대화로: LLM은 어떻게 작동하나요?">
            <a:extLst>
              <a:ext uri="{FF2B5EF4-FFF2-40B4-BE49-F238E27FC236}">
                <a16:creationId xmlns:a16="http://schemas.microsoft.com/office/drawing/2014/main" id="{1FD4B2C6-0335-9409-DB54-C0E55819C4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3957" y="2547639"/>
            <a:ext cx="7624085" cy="4038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1DFEDB0-1965-79D2-75D3-9E3A6282EA84}"/>
              </a:ext>
            </a:extLst>
          </p:cNvPr>
          <p:cNvSpPr txBox="1">
            <a:spLocks/>
          </p:cNvSpPr>
          <p:nvPr/>
        </p:nvSpPr>
        <p:spPr>
          <a:xfrm>
            <a:off x="115115" y="355166"/>
            <a:ext cx="9308471" cy="76643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Batang" panose="02030600000101010101" pitchFamily="18" charset="-127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ko-KR" altLang="en-US" sz="2400" dirty="0">
                <a:solidFill>
                  <a:srgbClr val="FFFFFF"/>
                </a:solidFill>
                <a:latin typeface="+mn-lt"/>
                <a:ea typeface="D2Coding" panose="020B0609020101020101" pitchFamily="49" charset="-127"/>
              </a:rPr>
              <a:t>대규모 언어 모델 </a:t>
            </a:r>
            <a:r>
              <a:rPr lang="en-US" altLang="ko-KR" sz="2400" dirty="0">
                <a:solidFill>
                  <a:srgbClr val="FFFFFF"/>
                </a:solidFill>
                <a:latin typeface="+mn-lt"/>
                <a:ea typeface="D2Coding" panose="020B0609020101020101" pitchFamily="49" charset="-127"/>
              </a:rPr>
              <a:t>(Large Language Model, LLM)</a:t>
            </a:r>
            <a:endParaRPr lang="ko-KR" altLang="en-US" sz="2400" dirty="0">
              <a:solidFill>
                <a:srgbClr val="FFFFFF"/>
              </a:solidFill>
              <a:latin typeface="+mn-lt"/>
              <a:ea typeface="D2Coding" panose="020B0609020101020101" pitchFamily="49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B4EC25-E590-3BDF-7682-BBA1C5D7A3FF}"/>
              </a:ext>
            </a:extLst>
          </p:cNvPr>
          <p:cNvSpPr txBox="1"/>
          <p:nvPr/>
        </p:nvSpPr>
        <p:spPr>
          <a:xfrm>
            <a:off x="471797" y="994854"/>
            <a:ext cx="9308471" cy="1296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FFFF"/>
                </a:solidFill>
                <a:ea typeface="D2Coding" panose="020B0609020101020101" pitchFamily="49" charset="-127"/>
              </a:rPr>
              <a:t>수십억 개의 단어를 학습하여 사람처럼 자연스럽게 언어를 생성하는 인공지능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FFFF"/>
                </a:solidFill>
                <a:ea typeface="D2Coding" panose="020B0609020101020101" pitchFamily="49" charset="-127"/>
              </a:rPr>
              <a:t>신경망</a:t>
            </a:r>
            <a:r>
              <a:rPr lang="en-US" altLang="ko-KR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FFFF"/>
                </a:solidFill>
                <a:ea typeface="D2Coding" panose="020B0609020101020101" pitchFamily="49" charset="-127"/>
              </a:rPr>
              <a:t>(Neural Network) </a:t>
            </a:r>
            <a:r>
              <a:rPr lang="ko-KR" altLang="en-US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FFFF"/>
                </a:solidFill>
                <a:ea typeface="D2Coding" panose="020B0609020101020101" pitchFamily="49" charset="-127"/>
              </a:rPr>
              <a:t>기반으로 문맥을 이해하고 논리적 답변 생성 가능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FFFF"/>
                </a:solidFill>
                <a:ea typeface="D2Coding" panose="020B0609020101020101" pitchFamily="49" charset="-127"/>
              </a:rPr>
              <a:t>대표 모델</a:t>
            </a:r>
            <a:r>
              <a:rPr lang="en-US" altLang="ko-KR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FFFF"/>
                </a:solidFill>
                <a:ea typeface="D2Coding" panose="020B0609020101020101" pitchFamily="49" charset="-127"/>
              </a:rPr>
              <a:t>: GPT-4, Claude, Gemini, </a:t>
            </a:r>
            <a:r>
              <a:rPr lang="en-US" altLang="ko-KR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FFFF"/>
                </a:solidFill>
                <a:ea typeface="D2Coding" panose="020B0609020101020101" pitchFamily="49" charset="-127"/>
              </a:rPr>
              <a:t>LLaMA</a:t>
            </a:r>
            <a:r>
              <a:rPr lang="en-US" altLang="ko-KR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FFFF"/>
                </a:solidFill>
                <a:ea typeface="D2Coding" panose="020B0609020101020101" pitchFamily="49" charset="-127"/>
              </a:rPr>
              <a:t> </a:t>
            </a:r>
            <a:r>
              <a:rPr lang="ko-KR" altLang="en-US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FFFF"/>
                </a:solidFill>
                <a:ea typeface="D2Coding" panose="020B0609020101020101" pitchFamily="49" charset="-127"/>
              </a:rPr>
              <a:t>등</a:t>
            </a:r>
            <a:endParaRPr lang="en-US" altLang="ko-KR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rgbClr val="FFFFFF"/>
              </a:solidFill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451129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46662-7D95-C9B3-62AA-957CAF4E0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82A79256-9618-23AF-842D-9DC6D75C8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29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6F99FA-1063-9B3E-6B8A-D5378429B1A2}"/>
              </a:ext>
            </a:extLst>
          </p:cNvPr>
          <p:cNvSpPr txBox="1"/>
          <p:nvPr/>
        </p:nvSpPr>
        <p:spPr>
          <a:xfrm>
            <a:off x="371475" y="852542"/>
            <a:ext cx="48109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Major Large Language Models (LLMs)</a:t>
            </a:r>
            <a:endParaRPr lang="ko-KR" altLang="en-US" sz="20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45488D2-788A-A220-F5B8-D703537CAE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7465" y="1252652"/>
            <a:ext cx="9179802" cy="5309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1085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56AF1-F8C9-8291-F0B2-96E71B84C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C7250011-D450-6D2E-FA8A-A2C134975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30</a:t>
            </a:fld>
            <a:endParaRPr lang="en-US" dirty="0"/>
          </a:p>
        </p:txBody>
      </p:sp>
      <p:pic>
        <p:nvPicPr>
          <p:cNvPr id="8194" name="Picture 2" descr="글 내용">
            <a:extLst>
              <a:ext uri="{FF2B5EF4-FFF2-40B4-BE49-F238E27FC236}">
                <a16:creationId xmlns:a16="http://schemas.microsoft.com/office/drawing/2014/main" id="{0F3AB0BC-D160-0A6E-E2DD-556A5D7591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0" y="152400"/>
            <a:ext cx="6935470" cy="655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90763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B5748-9A97-E469-5E70-624969003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97105A62-C109-8869-51D9-44353E913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31</a:t>
            </a:fld>
            <a:endParaRPr lang="en-US" dirty="0"/>
          </a:p>
        </p:txBody>
      </p:sp>
      <p:pic>
        <p:nvPicPr>
          <p:cNvPr id="8196" name="Picture 4">
            <a:extLst>
              <a:ext uri="{FF2B5EF4-FFF2-40B4-BE49-F238E27FC236}">
                <a16:creationId xmlns:a16="http://schemas.microsoft.com/office/drawing/2014/main" id="{41486B11-1D22-2746-6822-E1FBA2BA6F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9238" y="518408"/>
            <a:ext cx="8253412" cy="5821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51674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891C0-09A2-FBF5-D85B-F929E86B1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E15BFE62-C839-E465-CB29-E8EBA793E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32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62149A-A199-CCC2-90FE-DA283B99BD0E}"/>
              </a:ext>
            </a:extLst>
          </p:cNvPr>
          <p:cNvSpPr txBox="1"/>
          <p:nvPr/>
        </p:nvSpPr>
        <p:spPr>
          <a:xfrm>
            <a:off x="572955" y="697875"/>
            <a:ext cx="9694995" cy="87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ea typeface="D2Coding" panose="020B0609020101020101" pitchFamily="49" charset="-127"/>
              </a:rPr>
              <a:t>데이터를 학습한 </a:t>
            </a:r>
            <a:r>
              <a:rPr lang="ko-KR" altLang="en-US" dirty="0" err="1">
                <a:ea typeface="D2Coding" panose="020B0609020101020101" pitchFamily="49" charset="-127"/>
              </a:rPr>
              <a:t>딥러닝은</a:t>
            </a:r>
            <a:r>
              <a:rPr lang="ko-KR" altLang="en-US" dirty="0">
                <a:ea typeface="D2Coding" panose="020B0609020101020101" pitchFamily="49" charset="-127"/>
              </a:rPr>
              <a:t> 이전 단어들을 기반으로 다음 단어를 확률적으로 예측하여 텍스트</a:t>
            </a:r>
            <a:r>
              <a:rPr lang="en-US" altLang="ko-KR" dirty="0">
                <a:ea typeface="D2Coding" panose="020B0609020101020101" pitchFamily="49" charset="-127"/>
              </a:rPr>
              <a:t>, </a:t>
            </a:r>
            <a:r>
              <a:rPr lang="ko-KR" altLang="en-US" dirty="0">
                <a:ea typeface="D2Coding" panose="020B0609020101020101" pitchFamily="49" charset="-127"/>
              </a:rPr>
              <a:t>이미지</a:t>
            </a:r>
            <a:r>
              <a:rPr lang="en-US" altLang="ko-KR" dirty="0">
                <a:ea typeface="D2Coding" panose="020B0609020101020101" pitchFamily="49" charset="-127"/>
              </a:rPr>
              <a:t>, </a:t>
            </a:r>
            <a:r>
              <a:rPr lang="ko-KR" altLang="en-US" dirty="0">
                <a:ea typeface="D2Coding" panose="020B0609020101020101" pitchFamily="49" charset="-127"/>
              </a:rPr>
              <a:t>음악</a:t>
            </a:r>
            <a:r>
              <a:rPr lang="en-US" altLang="ko-KR" dirty="0">
                <a:ea typeface="D2Coding" panose="020B0609020101020101" pitchFamily="49" charset="-127"/>
              </a:rPr>
              <a:t>, </a:t>
            </a:r>
            <a:r>
              <a:rPr lang="ko-KR" altLang="en-US" dirty="0">
                <a:ea typeface="D2Coding" panose="020B0609020101020101" pitchFamily="49" charset="-127"/>
              </a:rPr>
              <a:t>코드 등 새로운 콘텐츠를 생성하는 </a:t>
            </a:r>
            <a:r>
              <a:rPr lang="en-US" altLang="ko-KR" b="1" dirty="0">
                <a:cs typeface="Times New Roman" panose="02020603050405020304" pitchFamily="18" charset="0"/>
              </a:rPr>
              <a:t>LLM(Large Language Model)</a:t>
            </a:r>
            <a:endParaRPr lang="ko-KR" altLang="en-US" dirty="0">
              <a:ea typeface="D2Coding" panose="020B0609020101020101" pitchFamily="49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903CC034-95A1-22B6-813A-A9AEF578AA6E}"/>
              </a:ext>
            </a:extLst>
          </p:cNvPr>
          <p:cNvGrpSpPr/>
          <p:nvPr/>
        </p:nvGrpSpPr>
        <p:grpSpPr>
          <a:xfrm>
            <a:off x="630711" y="2050117"/>
            <a:ext cx="8621503" cy="4008020"/>
            <a:chOff x="1159339" y="601426"/>
            <a:chExt cx="8621503" cy="4008020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53063706-CD35-9C6A-4CB6-80ED3CE4BE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59339" y="601427"/>
              <a:ext cx="8621503" cy="4008019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36575486-E78F-E443-AA75-0A87FF1774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75880" y="1466342"/>
              <a:ext cx="5366966" cy="2971188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D9D8F261-C778-0BEE-19FF-56F5F5EC48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07302" y="601426"/>
              <a:ext cx="1268392" cy="3836103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F6A4B8B2-3F5F-A57F-814F-8B9D867214DC}"/>
              </a:ext>
            </a:extLst>
          </p:cNvPr>
          <p:cNvSpPr txBox="1"/>
          <p:nvPr/>
        </p:nvSpPr>
        <p:spPr>
          <a:xfrm>
            <a:off x="572955" y="6110338"/>
            <a:ext cx="51276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FF00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한컴 말랑말랑 Bold" panose="020F0803000000000000" pitchFamily="50" charset="-127"/>
                <a:ea typeface="한컴 말랑말랑 Bold" panose="020F0803000000000000" pitchFamily="50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https://huggingface.co/learn/nlp-course/chapter1/4?fw=pt</a:t>
            </a:r>
            <a:r>
              <a:rPr lang="en-US" altLang="ko-KR" sz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FF00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endParaRPr lang="ko-KR" altLang="en-US" sz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rgbClr val="FFFF00"/>
              </a:solidFill>
              <a:effectLst>
                <a:outerShdw blurRad="9525" dist="25400" dir="14640000" algn="tl" rotWithShape="0">
                  <a:schemeClr val="bg1">
                    <a:alpha val="30000"/>
                  </a:schemeClr>
                </a:outerShdw>
              </a:effectLst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6CFBF25-FAF7-113C-B329-3B3290862E74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9494855" y="2073025"/>
            <a:ext cx="2550213" cy="321375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2897CF4-C106-CB2B-772B-10044F9CA7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8854" y="2201722"/>
            <a:ext cx="1150720" cy="66299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F0B4B90-10D3-CD96-7F65-13D0D48F669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4757" y="3202215"/>
            <a:ext cx="2289316" cy="784677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6CF73849-1994-6CC6-66C1-5F5DC3DEA56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51277" y="3202215"/>
            <a:ext cx="1150720" cy="647756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03B95147-8E14-88F2-AE54-F38A428C296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5795" y="4211009"/>
            <a:ext cx="3380148" cy="784677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B899A1B7-FDA2-A969-7E4F-1596039EF5D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02186" y="4144270"/>
            <a:ext cx="1356478" cy="777307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6E6B3DD4-1580-FB79-A68B-6B0312B8B2B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8774" y="5166032"/>
            <a:ext cx="4696050" cy="854554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35CB67AC-629A-E9B0-4DBA-A87BE860AA2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51277" y="5215876"/>
            <a:ext cx="891617" cy="66299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FFFE5D0-1147-B9EF-DACA-7CFB027D0670}"/>
              </a:ext>
            </a:extLst>
          </p:cNvPr>
          <p:cNvSpPr txBox="1"/>
          <p:nvPr/>
        </p:nvSpPr>
        <p:spPr>
          <a:xfrm>
            <a:off x="10648985" y="3218316"/>
            <a:ext cx="6238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name</a:t>
            </a:r>
            <a:endParaRPr lang="ko-KR" altLang="en-US" sz="1400" dirty="0">
              <a:solidFill>
                <a:schemeClr val="bg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407F6F-3FB3-E5C9-00C6-FCB477C1A2A1}"/>
              </a:ext>
            </a:extLst>
          </p:cNvPr>
          <p:cNvSpPr txBox="1"/>
          <p:nvPr/>
        </p:nvSpPr>
        <p:spPr>
          <a:xfrm>
            <a:off x="11326175" y="4057120"/>
            <a:ext cx="4315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girl</a:t>
            </a:r>
            <a:endParaRPr lang="ko-KR" altLang="en-US" sz="1400" dirty="0">
              <a:solidFill>
                <a:schemeClr val="bg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A09A9DB-AE7E-4B2B-74F9-74B691C5E350}"/>
              </a:ext>
            </a:extLst>
          </p:cNvPr>
          <p:cNvSpPr txBox="1"/>
          <p:nvPr/>
        </p:nvSpPr>
        <p:spPr>
          <a:xfrm>
            <a:off x="9591150" y="2379331"/>
            <a:ext cx="6559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house</a:t>
            </a:r>
            <a:endParaRPr lang="ko-KR" altLang="en-US" sz="1400" dirty="0">
              <a:solidFill>
                <a:schemeClr val="bg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B0C7E1F-8A86-36B2-6E45-AB7A32DAE995}"/>
              </a:ext>
            </a:extLst>
          </p:cNvPr>
          <p:cNvSpPr txBox="1"/>
          <p:nvPr/>
        </p:nvSpPr>
        <p:spPr>
          <a:xfrm>
            <a:off x="10584158" y="5904248"/>
            <a:ext cx="412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My</a:t>
            </a:r>
            <a:endParaRPr lang="ko-KR" altLang="en-US" sz="14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C26E32FF-72A5-ECB7-FE1A-1D6180C7DED7}"/>
              </a:ext>
            </a:extLst>
          </p:cNvPr>
          <p:cNvCxnSpPr>
            <a:cxnSpLocks/>
          </p:cNvCxnSpPr>
          <p:nvPr/>
        </p:nvCxnSpPr>
        <p:spPr>
          <a:xfrm flipV="1">
            <a:off x="10816670" y="5424217"/>
            <a:ext cx="0" cy="4620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1701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4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C0553-22BD-A141-661E-CFFF82AE7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8227804C-449C-463A-C5BE-8C503ABF0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33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969A97-C2BE-D9A0-A387-843BB3B69242}"/>
              </a:ext>
            </a:extLst>
          </p:cNvPr>
          <p:cNvSpPr txBox="1"/>
          <p:nvPr/>
        </p:nvSpPr>
        <p:spPr>
          <a:xfrm>
            <a:off x="572955" y="697875"/>
            <a:ext cx="9694995" cy="589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ea typeface="D2Coding" panose="020B0609020101020101" pitchFamily="49" charset="-127"/>
              </a:rPr>
              <a:t>확률적 언어모델을 가진 앵무새</a:t>
            </a:r>
            <a:r>
              <a:rPr lang="en-US" altLang="ko-KR" sz="2400" dirty="0">
                <a:ea typeface="D2Coding" panose="020B0609020101020101" pitchFamily="49" charset="-127"/>
              </a:rPr>
              <a:t>(Generative AI, LLM)</a:t>
            </a:r>
            <a:endParaRPr lang="ko-KR" altLang="en-US" sz="2400" dirty="0">
              <a:ea typeface="D2Coding" panose="020B0609020101020101" pitchFamily="49" charset="-127"/>
            </a:endParaRPr>
          </a:p>
        </p:txBody>
      </p:sp>
      <p:pic>
        <p:nvPicPr>
          <p:cNvPr id="2050" name="Picture 2" descr="나뭇가지에 주홍색 잉꼬 현관">
            <a:extLst>
              <a:ext uri="{FF2B5EF4-FFF2-40B4-BE49-F238E27FC236}">
                <a16:creationId xmlns:a16="http://schemas.microsoft.com/office/drawing/2014/main" id="{2E033474-6E41-5E4F-66B7-54A1F585CD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1836451"/>
            <a:ext cx="36576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1110A9A-7874-8257-1B97-39876E538845}"/>
              </a:ext>
            </a:extLst>
          </p:cNvPr>
          <p:cNvSpPr txBox="1"/>
          <p:nvPr/>
        </p:nvSpPr>
        <p:spPr>
          <a:xfrm>
            <a:off x="6673214" y="1851958"/>
            <a:ext cx="5290186" cy="3009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ea typeface="D2Coding" panose="020B0609020101020101" pitchFamily="49" charset="-127"/>
              </a:rPr>
              <a:t>대규모 언어 모델 </a:t>
            </a:r>
            <a:r>
              <a:rPr lang="en-US" altLang="ko-KR" sz="1600" dirty="0">
                <a:ea typeface="D2Coding" panose="020B0609020101020101" pitchFamily="49" charset="-127"/>
              </a:rPr>
              <a:t>(Large Language Model, LLM)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ea typeface="D2Coding" panose="020B0609020101020101" pitchFamily="49" charset="-127"/>
              </a:rPr>
              <a:t>수십억 개의 단어를 학습하여 사람처럼 자연스럽게 언어를 생성하는 인공지능</a:t>
            </a:r>
            <a:endParaRPr lang="en-US" altLang="ko-KR" sz="1600" dirty="0"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ko-KR" altLang="en-US" sz="1600" dirty="0"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ea typeface="D2Coding" panose="020B0609020101020101" pitchFamily="49" charset="-127"/>
              </a:rPr>
              <a:t>신경망</a:t>
            </a:r>
            <a:r>
              <a:rPr lang="en-US" altLang="ko-KR" sz="1600" dirty="0">
                <a:ea typeface="D2Coding" panose="020B0609020101020101" pitchFamily="49" charset="-127"/>
              </a:rPr>
              <a:t>(Neural Network) </a:t>
            </a:r>
            <a:r>
              <a:rPr lang="ko-KR" altLang="en-US" sz="1600" dirty="0">
                <a:ea typeface="D2Coding" panose="020B0609020101020101" pitchFamily="49" charset="-127"/>
              </a:rPr>
              <a:t>기반으로 문맥을 이해하고 논리적 답변 생성 가능</a:t>
            </a:r>
            <a:endParaRPr lang="en-US" altLang="ko-KR" sz="1600" dirty="0"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ko-KR" altLang="en-US" sz="1600" dirty="0"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ea typeface="D2Coding" panose="020B0609020101020101" pitchFamily="49" charset="-127"/>
              </a:rPr>
              <a:t>대표 모델</a:t>
            </a:r>
            <a:r>
              <a:rPr lang="en-US" altLang="ko-KR" sz="1600" dirty="0">
                <a:ea typeface="D2Coding" panose="020B0609020101020101" pitchFamily="49" charset="-127"/>
              </a:rPr>
              <a:t>: GPT-4, Claude, Gemini, </a:t>
            </a:r>
            <a:r>
              <a:rPr lang="en-US" altLang="ko-KR" sz="1600" dirty="0" err="1">
                <a:ea typeface="D2Coding" panose="020B0609020101020101" pitchFamily="49" charset="-127"/>
              </a:rPr>
              <a:t>LLaMA</a:t>
            </a:r>
            <a:r>
              <a:rPr lang="en-US" altLang="ko-KR" sz="1600" dirty="0"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ea typeface="D2Coding" panose="020B0609020101020101" pitchFamily="49" charset="-127"/>
              </a:rPr>
              <a:t>등</a:t>
            </a:r>
            <a:endParaRPr lang="en-US" altLang="ko-KR" sz="1600" dirty="0"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618167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8C289-FB36-0F26-D9B4-AE7777DE8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294798AA-0B60-9394-D1EE-42D1F0EE3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34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25A948-FA2A-62F4-707C-F357C4E527CF}"/>
              </a:ext>
            </a:extLst>
          </p:cNvPr>
          <p:cNvSpPr txBox="1"/>
          <p:nvPr/>
        </p:nvSpPr>
        <p:spPr>
          <a:xfrm>
            <a:off x="218291" y="247650"/>
            <a:ext cx="10354460" cy="1254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ea typeface="D2Coding" panose="020B0609020101020101" pitchFamily="49" charset="-127"/>
                <a:cs typeface="+mj-cs"/>
              </a:rPr>
              <a:t>LLM</a:t>
            </a:r>
            <a:r>
              <a:rPr lang="ko-KR" altLang="en-US" sz="2000" dirty="0">
                <a:ea typeface="D2Coding" panose="020B0609020101020101" pitchFamily="49" charset="-127"/>
                <a:cs typeface="+mj-cs"/>
              </a:rPr>
              <a:t>의 한계는 정보 검색</a:t>
            </a:r>
            <a:r>
              <a:rPr lang="en-US" altLang="ko-KR" sz="2000" dirty="0">
                <a:ea typeface="D2Coding" panose="020B0609020101020101" pitchFamily="49" charset="-127"/>
                <a:cs typeface="+mj-cs"/>
              </a:rPr>
              <a:t>(Information Retrieval)</a:t>
            </a:r>
            <a:r>
              <a:rPr lang="ko-KR" altLang="en-US" sz="2000" dirty="0">
                <a:ea typeface="D2Coding" panose="020B0609020101020101" pitchFamily="49" charset="-127"/>
                <a:cs typeface="+mj-cs"/>
              </a:rPr>
              <a:t>만 잘함</a:t>
            </a:r>
            <a:endParaRPr lang="en-US" altLang="ko-KR" dirty="0">
              <a:ea typeface="D2Coding" panose="020B0609020101020101" pitchFamily="49" charset="-127"/>
              <a:cs typeface="+mj-cs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ea typeface="D2Coding" panose="020B0609020101020101" pitchFamily="49" charset="-127"/>
                <a:cs typeface="+mj-cs"/>
              </a:rPr>
              <a:t>학습 중에 접했던 패턴과 매우 유사한 패턴을 인식하거나 생성해 내며 본질적으로 새로운 상황에 적응하는 능력이 떨어짐 </a:t>
            </a:r>
            <a:r>
              <a:rPr lang="en-US" altLang="ko-KR" sz="1600" dirty="0">
                <a:ea typeface="D2Coding" panose="020B0609020101020101" pitchFamily="49" charset="-127"/>
                <a:cs typeface="+mj-cs"/>
              </a:rPr>
              <a:t>(</a:t>
            </a:r>
            <a:r>
              <a:rPr lang="ko-KR" altLang="en-US" sz="1600" dirty="0">
                <a:ea typeface="D2Coding" panose="020B0609020101020101" pitchFamily="49" charset="-127"/>
                <a:cs typeface="+mj-cs"/>
              </a:rPr>
              <a:t>아래 그림 </a:t>
            </a:r>
            <a:r>
              <a:rPr lang="en-US" altLang="ko-KR" sz="1600" dirty="0">
                <a:ea typeface="D2Coding" panose="020B0609020101020101" pitchFamily="49" charset="-127"/>
                <a:cs typeface="+mj-cs"/>
              </a:rPr>
              <a:t>An easy yet novel puzzle)</a:t>
            </a:r>
            <a:endParaRPr lang="ko-KR" altLang="en-US" sz="1600" dirty="0">
              <a:ea typeface="D2Coding" panose="020B0609020101020101" pitchFamily="49" charset="-127"/>
              <a:cs typeface="+mj-cs"/>
            </a:endParaRPr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27CDEEFE-CC04-501A-16E8-419D499415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759" y="1742079"/>
            <a:ext cx="8340091" cy="4602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41239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81F98-2A90-A1E0-3E6D-AFF6D2CE3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6390EEC5-D3FB-1EBC-028E-E1677E27F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35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E69FA9-C66D-8B99-1236-5A901EB63D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2128" y="970346"/>
            <a:ext cx="9727744" cy="49173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ko-K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kumimoji="0" lang="ko-KR" altLang="ko-K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Gary</a:t>
            </a:r>
            <a:r>
              <a:rPr kumimoji="0" lang="ko-KR" altLang="ko-K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kumimoji="0" lang="ko-KR" altLang="ko-K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Marcus</a:t>
            </a: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: "</a:t>
            </a:r>
            <a:r>
              <a:rPr kumimoji="0" lang="ko-KR" altLang="ko-K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LLMs</a:t>
            </a: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kumimoji="0" lang="ko-KR" altLang="ko-K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are</a:t>
            </a: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kumimoji="0" lang="ko-KR" altLang="ko-K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fluent</a:t>
            </a: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kumimoji="0" lang="ko-KR" altLang="ko-K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bullshitters</a:t>
            </a: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." </a:t>
            </a:r>
            <a:endParaRPr kumimoji="0" lang="en-US" altLang="ko-K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742950" lvl="1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ko-KR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언어적 유창성은 뛰어나나 사실 검증 메커니즘이 없음</a:t>
            </a:r>
            <a:endParaRPr kumimoji="0" lang="en-US" altLang="ko-K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ko-KR" altLang="ko-K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ko-K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kumimoji="0" lang="ko-KR" altLang="ko-K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Yejin</a:t>
            </a:r>
            <a:r>
              <a:rPr kumimoji="0" lang="ko-KR" altLang="ko-K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kumimoji="0" lang="ko-KR" altLang="ko-K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Choi</a:t>
            </a: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: "</a:t>
            </a:r>
            <a:r>
              <a:rPr kumimoji="0" lang="ko-KR" altLang="ko-K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Commonsense</a:t>
            </a: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kumimoji="0" lang="ko-KR" altLang="ko-K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한컴 고딕" panose="02000500000000000000" pitchFamily="2" charset="-127"/>
              </a:rPr>
              <a:t>missing</a:t>
            </a: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kumimoji="0" lang="ko-KR" altLang="ko-K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therefore</a:t>
            </a: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kumimoji="0" lang="ko-KR" altLang="ko-K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bullshit-prone</a:t>
            </a: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“</a:t>
            </a:r>
            <a:endParaRPr kumimoji="0" lang="en-US" altLang="ko-K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742950" lvl="1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세상에 대한 상식 없이 말하기 때문에 자주 현실과 동떨어짐</a:t>
            </a:r>
            <a:endParaRPr kumimoji="0" lang="en-US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742950" lvl="1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ko-K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28575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코마에서 깨어난 신입사원 아인슈타인 </a:t>
            </a:r>
            <a:endParaRPr kumimoji="0" lang="en-US" altLang="ko-K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255912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9C88C-7C47-2D10-75EE-66FDB9AE2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7A93AD42-AECF-5143-57C1-6441628F8A52}"/>
              </a:ext>
            </a:extLst>
          </p:cNvPr>
          <p:cNvSpPr/>
          <p:nvPr/>
        </p:nvSpPr>
        <p:spPr>
          <a:xfrm>
            <a:off x="1104900" y="4213321"/>
            <a:ext cx="6629399" cy="6096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E81720D-CC00-D198-E6A6-46898C8A45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030" y="586381"/>
            <a:ext cx="8825658" cy="609600"/>
          </a:xfrm>
        </p:spPr>
        <p:txBody>
          <a:bodyPr/>
          <a:lstStyle/>
          <a:p>
            <a:r>
              <a:rPr lang="en-US" altLang="ko-KR" sz="4400" dirty="0"/>
              <a:t>Contents</a:t>
            </a:r>
            <a:endParaRPr lang="ko-KR" altLang="en-US" sz="4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648243B-71A2-F1CD-46B5-7E8BDAE377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4055" y="1452837"/>
            <a:ext cx="7627095" cy="365016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AI </a:t>
            </a:r>
            <a:r>
              <a:rPr lang="ko-KR" altLang="en-US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기술 </a:t>
            </a:r>
            <a:r>
              <a:rPr lang="en-US" altLang="ko-KR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Trends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AI Literacy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Understanding Machine/Deep Learning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ko-KR" altLang="en-US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생성형 </a:t>
            </a:r>
            <a:r>
              <a:rPr lang="en-US" altLang="ko-KR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AI(Generative</a:t>
            </a:r>
            <a:r>
              <a:rPr lang="ko-KR" altLang="en-US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AI)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ko-KR" altLang="en-US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직업의</a:t>
            </a:r>
            <a:r>
              <a:rPr lang="en-US" altLang="ko-KR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변화</a:t>
            </a:r>
            <a:endParaRPr lang="en-US" altLang="ko-KR" sz="2400" cap="none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ko-KR" altLang="en-US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교육의 변화</a:t>
            </a:r>
            <a:endParaRPr lang="en-US" altLang="ko-KR" sz="2400" cap="none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ko-KR" altLang="en-US" sz="2400" cap="none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255126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8D171-A75B-1896-3A05-AD961E168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8E4C5A8F-53E3-1448-6255-D083B9307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37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0E1D21-59E5-2096-DB0E-0448E7F788F1}"/>
              </a:ext>
            </a:extLst>
          </p:cNvPr>
          <p:cNvSpPr txBox="1"/>
          <p:nvPr/>
        </p:nvSpPr>
        <p:spPr>
          <a:xfrm>
            <a:off x="600802" y="1393200"/>
            <a:ext cx="10990395" cy="4200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v"/>
            </a:pPr>
            <a:r>
              <a:rPr lang="en-US" altLang="ko-KR" sz="2000" dirty="0">
                <a:ea typeface="D2Coding" panose="020B0609020101020101" pitchFamily="49" charset="-127"/>
              </a:rPr>
              <a:t>AI</a:t>
            </a:r>
            <a:r>
              <a:rPr lang="ko-KR" altLang="en-US" sz="2000" dirty="0">
                <a:ea typeface="D2Coding" panose="020B0609020101020101" pitchFamily="49" charset="-127"/>
              </a:rPr>
              <a:t>는 일자리를 없애기도 하고 업무 내용과 직업 구조를 바꾸고 새로운 직업도 만들 가능성이 증가</a:t>
            </a:r>
            <a:endParaRPr lang="en-US" altLang="ko-KR" sz="2000" dirty="0"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v"/>
            </a:pPr>
            <a:endParaRPr lang="en-US" altLang="ko-KR" sz="2000" dirty="0"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v"/>
            </a:pPr>
            <a:r>
              <a:rPr lang="ko-KR" altLang="en-US" sz="2000" dirty="0">
                <a:ea typeface="D2Coding" panose="020B0609020101020101" pitchFamily="49" charset="-127"/>
              </a:rPr>
              <a:t>반복적이고 규칙적인 업무는 자동화될 가능성이 높아짐 </a:t>
            </a:r>
            <a:endParaRPr lang="en-US" altLang="ko-KR" sz="2000" dirty="0"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v"/>
            </a:pPr>
            <a:endParaRPr lang="en-US" altLang="ko-KR" sz="2000" dirty="0"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v"/>
            </a:pPr>
            <a:r>
              <a:rPr lang="ko-KR" altLang="en-US" sz="2000" dirty="0">
                <a:ea typeface="D2Coding" panose="020B0609020101020101" pitchFamily="49" charset="-127"/>
              </a:rPr>
              <a:t>같은 직업 안에서도 일부 과업은 </a:t>
            </a:r>
            <a:r>
              <a:rPr lang="en-US" altLang="ko-KR" sz="2000" dirty="0">
                <a:ea typeface="D2Coding" panose="020B0609020101020101" pitchFamily="49" charset="-127"/>
              </a:rPr>
              <a:t>AI</a:t>
            </a:r>
            <a:r>
              <a:rPr lang="ko-KR" altLang="en-US" sz="2000" dirty="0">
                <a:ea typeface="D2Coding" panose="020B0609020101020101" pitchFamily="49" charset="-127"/>
              </a:rPr>
              <a:t>가 맡고</a:t>
            </a:r>
            <a:r>
              <a:rPr lang="en-US" altLang="ko-KR" sz="2000" dirty="0">
                <a:ea typeface="D2Coding" panose="020B0609020101020101" pitchFamily="49" charset="-127"/>
              </a:rPr>
              <a:t>, </a:t>
            </a:r>
            <a:r>
              <a:rPr lang="ko-KR" altLang="en-US" sz="2000" dirty="0">
                <a:ea typeface="D2Coding" panose="020B0609020101020101" pitchFamily="49" charset="-127"/>
              </a:rPr>
              <a:t>인간은 판단</a:t>
            </a:r>
            <a:r>
              <a:rPr lang="en-US" altLang="ko-KR" sz="2000" dirty="0">
                <a:ea typeface="D2Coding" panose="020B0609020101020101" pitchFamily="49" charset="-127"/>
              </a:rPr>
              <a:t>·</a:t>
            </a:r>
            <a:r>
              <a:rPr lang="ko-KR" altLang="en-US" sz="2000" dirty="0">
                <a:ea typeface="D2Coding" panose="020B0609020101020101" pitchFamily="49" charset="-127"/>
              </a:rPr>
              <a:t>소통</a:t>
            </a:r>
            <a:r>
              <a:rPr lang="en-US" altLang="ko-KR" sz="2000" dirty="0">
                <a:ea typeface="D2Coding" panose="020B0609020101020101" pitchFamily="49" charset="-127"/>
              </a:rPr>
              <a:t>·</a:t>
            </a:r>
            <a:r>
              <a:rPr lang="ko-KR" altLang="en-US" sz="2000" dirty="0">
                <a:ea typeface="D2Coding" panose="020B0609020101020101" pitchFamily="49" charset="-127"/>
              </a:rPr>
              <a:t>책임이 필요한 일에 더 집중하는 방식으로 변경</a:t>
            </a:r>
            <a:endParaRPr lang="en-US" altLang="ko-KR" sz="2000" dirty="0"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v"/>
            </a:pPr>
            <a:endParaRPr lang="en-US" altLang="ko-KR" sz="2000" dirty="0"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v"/>
            </a:pPr>
            <a:r>
              <a:rPr lang="en-US" altLang="ko-KR" sz="2000" dirty="0">
                <a:ea typeface="D2Coding" panose="020B0609020101020101" pitchFamily="49" charset="-127"/>
              </a:rPr>
              <a:t>AI</a:t>
            </a:r>
            <a:r>
              <a:rPr lang="ko-KR" altLang="en-US" sz="2000" dirty="0">
                <a:ea typeface="D2Coding" panose="020B0609020101020101" pitchFamily="49" charset="-127"/>
              </a:rPr>
              <a:t>를 다루는 능력이 중요한 역량이 되면서 재교육과 숙련 고도화가 더 중요해질 전망</a:t>
            </a:r>
            <a:endParaRPr lang="en-US" altLang="ko-KR" sz="2000" dirty="0"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234154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13697-43DB-9F4F-38B4-DBFF0586A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EC470CCA-3A31-E4DC-E8FA-9BB3541C2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38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7944D9-0762-7B01-45A8-54D01357E74B}"/>
              </a:ext>
            </a:extLst>
          </p:cNvPr>
          <p:cNvSpPr txBox="1"/>
          <p:nvPr/>
        </p:nvSpPr>
        <p:spPr>
          <a:xfrm>
            <a:off x="683529" y="679572"/>
            <a:ext cx="9917796" cy="880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0" i="0" dirty="0">
                <a:effectLst/>
                <a:ea typeface="D2Coding" panose="020B0609020101020101" pitchFamily="49" charset="-127"/>
              </a:rPr>
              <a:t>데이터 기반의 지식</a:t>
            </a:r>
            <a:r>
              <a:rPr lang="en-US" altLang="ko-KR" dirty="0">
                <a:ea typeface="D2Coding" panose="020B0609020101020101" pitchFamily="49" charset="-127"/>
              </a:rPr>
              <a:t>(</a:t>
            </a:r>
            <a:r>
              <a:rPr lang="ko-KR" altLang="en-US" dirty="0">
                <a:ea typeface="D2Coding" panose="020B0609020101020101" pitchFamily="49" charset="-127"/>
              </a:rPr>
              <a:t>육체</a:t>
            </a:r>
            <a:r>
              <a:rPr lang="en-US" altLang="ko-KR" dirty="0">
                <a:ea typeface="D2Coding" panose="020B0609020101020101" pitchFamily="49" charset="-127"/>
              </a:rPr>
              <a:t>) </a:t>
            </a:r>
            <a:r>
              <a:rPr lang="ko-KR" altLang="en-US" b="0" i="0" dirty="0">
                <a:effectLst/>
                <a:ea typeface="D2Coding" panose="020B0609020101020101" pitchFamily="49" charset="-127"/>
              </a:rPr>
              <a:t>노동이 중심이고</a:t>
            </a:r>
            <a:r>
              <a:rPr lang="en-US" altLang="ko-KR" b="0" i="0" dirty="0">
                <a:effectLst/>
                <a:ea typeface="D2Coding" panose="020B0609020101020101" pitchFamily="49" charset="-127"/>
              </a:rPr>
              <a:t>, </a:t>
            </a:r>
            <a:r>
              <a:rPr lang="ko-KR" altLang="en-US" b="0" i="0" dirty="0">
                <a:effectLst/>
                <a:ea typeface="D2Coding" panose="020B0609020101020101" pitchFamily="49" charset="-127"/>
              </a:rPr>
              <a:t>사람의 손길이 많이 필요한 분야로 정형화된 업무 패턴이 반복되는</a:t>
            </a:r>
            <a:r>
              <a:rPr lang="en-US" altLang="ko-KR" b="0" i="0" dirty="0">
                <a:effectLst/>
                <a:ea typeface="D2Coding" panose="020B0609020101020101" pitchFamily="49" charset="-127"/>
              </a:rPr>
              <a:t> </a:t>
            </a:r>
            <a:r>
              <a:rPr lang="ko-KR" altLang="en-US" b="0" i="0" dirty="0">
                <a:effectLst/>
                <a:ea typeface="D2Coding" panose="020B0609020101020101" pitchFamily="49" charset="-127"/>
              </a:rPr>
              <a:t>영역은 </a:t>
            </a:r>
            <a:r>
              <a:rPr lang="en-US" altLang="ko-KR" b="0" i="0" dirty="0">
                <a:effectLst/>
                <a:ea typeface="D2Coding" panose="020B0609020101020101" pitchFamily="49" charset="-127"/>
              </a:rPr>
              <a:t>AI</a:t>
            </a:r>
            <a:r>
              <a:rPr lang="ko-KR" altLang="en-US" b="0" i="0" dirty="0">
                <a:effectLst/>
                <a:ea typeface="D2Coding" panose="020B0609020101020101" pitchFamily="49" charset="-127"/>
              </a:rPr>
              <a:t>가 학습하기에 적합 </a:t>
            </a:r>
            <a:r>
              <a:rPr lang="en-US" altLang="ko-KR" b="0" i="0" dirty="0">
                <a:effectLst/>
                <a:ea typeface="D2Coding" panose="020B0609020101020101" pitchFamily="49" charset="-127"/>
              </a:rPr>
              <a:t>: AI</a:t>
            </a:r>
            <a:r>
              <a:rPr lang="ko-KR" altLang="en-US" b="0" i="0" dirty="0">
                <a:effectLst/>
                <a:ea typeface="D2Coding" panose="020B0609020101020101" pitchFamily="49" charset="-127"/>
              </a:rPr>
              <a:t>의 역할이 커질 것으로 예상</a:t>
            </a:r>
            <a:endParaRPr lang="ko-KR" altLang="en-US" dirty="0">
              <a:ea typeface="D2Coding" panose="020B0609020101020101" pitchFamily="49" charset="-127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FB7F9C79-AA65-D203-C85B-C3FFFE9EBD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5425" y="1766888"/>
            <a:ext cx="8401050" cy="4715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958CC8A-03F7-B968-1CB5-4317AAAD65A6}"/>
              </a:ext>
            </a:extLst>
          </p:cNvPr>
          <p:cNvSpPr txBox="1"/>
          <p:nvPr/>
        </p:nvSpPr>
        <p:spPr>
          <a:xfrm>
            <a:off x="1400175" y="6482677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/>
              <a:t>https://www.nanalyze.com/2017/05/artificial-intelligence-service-core-ai/</a:t>
            </a:r>
          </a:p>
        </p:txBody>
      </p:sp>
    </p:spTree>
    <p:extLst>
      <p:ext uri="{BB962C8B-B14F-4D97-AF65-F5344CB8AC3E}">
        <p14:creationId xmlns:p14="http://schemas.microsoft.com/office/powerpoint/2010/main" val="12794176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C30D0-C999-BD54-636A-85A0C63C2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80D8D1AA-910B-F359-7D57-B8AF49885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39</a:t>
            </a:fld>
            <a:endParaRPr 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40CE38CD-DCDF-D222-2214-8A5D1283AA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0567927"/>
              </p:ext>
            </p:extLst>
          </p:nvPr>
        </p:nvGraphicFramePr>
        <p:xfrm>
          <a:off x="712803" y="1504808"/>
          <a:ext cx="10450497" cy="4781691"/>
        </p:xfrm>
        <a:graphic>
          <a:graphicData uri="http://schemas.openxmlformats.org/drawingml/2006/table">
            <a:tbl>
              <a:tblPr/>
              <a:tblGrid>
                <a:gridCol w="2478072">
                  <a:extLst>
                    <a:ext uri="{9D8B030D-6E8A-4147-A177-3AD203B41FA5}">
                      <a16:colId xmlns:a16="http://schemas.microsoft.com/office/drawing/2014/main" val="1493199083"/>
                    </a:ext>
                  </a:extLst>
                </a:gridCol>
                <a:gridCol w="552887">
                  <a:extLst>
                    <a:ext uri="{9D8B030D-6E8A-4147-A177-3AD203B41FA5}">
                      <a16:colId xmlns:a16="http://schemas.microsoft.com/office/drawing/2014/main" val="2497752382"/>
                    </a:ext>
                  </a:extLst>
                </a:gridCol>
                <a:gridCol w="7419538">
                  <a:extLst>
                    <a:ext uri="{9D8B030D-6E8A-4147-A177-3AD203B41FA5}">
                      <a16:colId xmlns:a16="http://schemas.microsoft.com/office/drawing/2014/main" val="696736181"/>
                    </a:ext>
                  </a:extLst>
                </a:gridCol>
              </a:tblGrid>
              <a:tr h="53129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6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D2Coding" panose="020B0609020101020101" pitchFamily="49" charset="-127"/>
                        </a:rPr>
                        <a:t>학과</a:t>
                      </a:r>
                    </a:p>
                  </a:txBody>
                  <a:tcPr marL="32151" marR="32151" marT="32151" marB="3215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6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D2Coding" panose="020B0609020101020101" pitchFamily="49" charset="-127"/>
                        </a:rPr>
                        <a:t>순위</a:t>
                      </a:r>
                    </a:p>
                  </a:txBody>
                  <a:tcPr marL="32151" marR="32151" marT="32151" marB="3215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6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D2Coding" panose="020B0609020101020101" pitchFamily="49" charset="-127"/>
                        </a:rPr>
                        <a:t>바뀌는 방향</a:t>
                      </a:r>
                    </a:p>
                  </a:txBody>
                  <a:tcPr marL="32151" marR="32151" marT="32151" marB="3215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7723262"/>
                  </a:ext>
                </a:extLst>
              </a:tr>
              <a:tr h="53129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600" dirty="0" err="1">
                          <a:effectLst/>
                          <a:latin typeface="+mn-lt"/>
                          <a:ea typeface="D2Coding" panose="020B0609020101020101" pitchFamily="49" charset="-127"/>
                        </a:rPr>
                        <a:t>정보과</a:t>
                      </a:r>
                      <a:r>
                        <a:rPr lang="en-US" altLang="ko-KR" sz="1600" dirty="0">
                          <a:effectLst/>
                          <a:latin typeface="+mn-lt"/>
                          <a:ea typeface="D2Coding" panose="020B0609020101020101" pitchFamily="49" charset="-127"/>
                        </a:rPr>
                        <a:t>/</a:t>
                      </a:r>
                      <a:r>
                        <a:rPr lang="ko-KR" altLang="en-US" sz="1600" dirty="0">
                          <a:effectLst/>
                          <a:latin typeface="+mn-lt"/>
                          <a:ea typeface="D2Coding" panose="020B0609020101020101" pitchFamily="49" charset="-127"/>
                        </a:rPr>
                        <a:t>컴퓨터과</a:t>
                      </a:r>
                    </a:p>
                  </a:txBody>
                  <a:tcPr marL="32151" marR="32151" marT="32151" marB="3215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600" dirty="0">
                          <a:effectLst/>
                          <a:latin typeface="+mn-lt"/>
                          <a:ea typeface="D2Coding" panose="020B0609020101020101" pitchFamily="49" charset="-127"/>
                        </a:rPr>
                        <a:t>1</a:t>
                      </a:r>
                      <a:endParaRPr lang="ko-KR" altLang="en-US" sz="1600" dirty="0">
                        <a:effectLst/>
                        <a:latin typeface="+mn-lt"/>
                        <a:ea typeface="D2Coding" panose="020B0609020101020101" pitchFamily="49" charset="-127"/>
                      </a:endParaRPr>
                    </a:p>
                  </a:txBody>
                  <a:tcPr marL="32151" marR="32151" marT="32151" marB="3215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600" dirty="0">
                          <a:effectLst/>
                          <a:latin typeface="+mn-lt"/>
                          <a:ea typeface="D2Coding" panose="020B0609020101020101" pitchFamily="49" charset="-127"/>
                        </a:rPr>
                        <a:t>코딩만이 아니라 데이터</a:t>
                      </a:r>
                      <a:r>
                        <a:rPr lang="en-US" altLang="ko-KR" sz="1600" dirty="0">
                          <a:effectLst/>
                          <a:latin typeface="+mn-lt"/>
                          <a:ea typeface="D2Coding" panose="020B0609020101020101" pitchFamily="49" charset="-127"/>
                        </a:rPr>
                        <a:t>, AI </a:t>
                      </a:r>
                      <a:r>
                        <a:rPr lang="ko-KR" altLang="en-US" sz="1600" dirty="0">
                          <a:effectLst/>
                          <a:latin typeface="+mn-lt"/>
                          <a:ea typeface="D2Coding" panose="020B0609020101020101" pitchFamily="49" charset="-127"/>
                        </a:rPr>
                        <a:t>활용</a:t>
                      </a:r>
                      <a:r>
                        <a:rPr lang="en-US" altLang="ko-KR" sz="1600" dirty="0">
                          <a:effectLst/>
                          <a:latin typeface="+mn-lt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600" dirty="0">
                          <a:effectLst/>
                          <a:latin typeface="+mn-lt"/>
                          <a:ea typeface="D2Coding" panose="020B0609020101020101" pitchFamily="49" charset="-127"/>
                        </a:rPr>
                        <a:t>현장 학습</a:t>
                      </a:r>
                      <a:r>
                        <a:rPr lang="en-US" altLang="ko-KR" sz="1600" dirty="0">
                          <a:effectLst/>
                          <a:latin typeface="+mn-lt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600" dirty="0">
                          <a:effectLst/>
                          <a:latin typeface="+mn-lt"/>
                          <a:ea typeface="D2Coding" panose="020B0609020101020101" pitchFamily="49" charset="-127"/>
                        </a:rPr>
                        <a:t>자동화 도구 사용이 중요해짐</a:t>
                      </a:r>
                    </a:p>
                  </a:txBody>
                  <a:tcPr marL="32151" marR="32151" marT="32151" marB="3215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9243731"/>
                  </a:ext>
                </a:extLst>
              </a:tr>
              <a:tr h="53129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600" dirty="0" err="1">
                          <a:effectLst/>
                          <a:latin typeface="+mn-lt"/>
                          <a:ea typeface="D2Coding" panose="020B0609020101020101" pitchFamily="49" charset="-127"/>
                        </a:rPr>
                        <a:t>회계과</a:t>
                      </a:r>
                      <a:r>
                        <a:rPr lang="en-US" altLang="ko-KR" sz="1600" dirty="0">
                          <a:effectLst/>
                          <a:latin typeface="+mn-lt"/>
                          <a:ea typeface="D2Coding" panose="020B0609020101020101" pitchFamily="49" charset="-127"/>
                        </a:rPr>
                        <a:t>/</a:t>
                      </a:r>
                      <a:r>
                        <a:rPr lang="ko-KR" altLang="en-US" sz="1600" dirty="0" err="1">
                          <a:effectLst/>
                          <a:latin typeface="+mn-lt"/>
                          <a:ea typeface="D2Coding" panose="020B0609020101020101" pitchFamily="49" charset="-127"/>
                        </a:rPr>
                        <a:t>세무과</a:t>
                      </a:r>
                      <a:endParaRPr lang="ko-KR" altLang="en-US" sz="1600" dirty="0">
                        <a:effectLst/>
                        <a:latin typeface="+mn-lt"/>
                        <a:ea typeface="D2Coding" panose="020B0609020101020101" pitchFamily="49" charset="-127"/>
                      </a:endParaRPr>
                    </a:p>
                  </a:txBody>
                  <a:tcPr marL="32151" marR="32151" marT="32151" marB="3215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600" dirty="0">
                          <a:effectLst/>
                          <a:latin typeface="+mn-lt"/>
                          <a:ea typeface="D2Coding" panose="020B0609020101020101" pitchFamily="49" charset="-127"/>
                        </a:rPr>
                        <a:t>2</a:t>
                      </a:r>
                      <a:endParaRPr lang="ko-KR" altLang="en-US" sz="1600" dirty="0">
                        <a:effectLst/>
                        <a:latin typeface="+mn-lt"/>
                        <a:ea typeface="D2Coding" panose="020B0609020101020101" pitchFamily="49" charset="-127"/>
                      </a:endParaRPr>
                    </a:p>
                  </a:txBody>
                  <a:tcPr marL="32151" marR="32151" marT="32151" marB="3215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600" dirty="0">
                          <a:effectLst/>
                          <a:latin typeface="+mn-lt"/>
                          <a:ea typeface="D2Coding" panose="020B0609020101020101" pitchFamily="49" charset="-127"/>
                        </a:rPr>
                        <a:t>단순 전표 입력</a:t>
                      </a:r>
                      <a:r>
                        <a:rPr lang="en-US" altLang="ko-KR" sz="1600" dirty="0">
                          <a:effectLst/>
                          <a:latin typeface="+mn-lt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600" dirty="0">
                          <a:effectLst/>
                          <a:latin typeface="+mn-lt"/>
                          <a:ea typeface="D2Coding" panose="020B0609020101020101" pitchFamily="49" charset="-127"/>
                        </a:rPr>
                        <a:t>기초 정산은 줄고</a:t>
                      </a:r>
                      <a:r>
                        <a:rPr lang="en-US" altLang="ko-KR" sz="1600" dirty="0">
                          <a:effectLst/>
                          <a:latin typeface="+mn-lt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600" dirty="0">
                          <a:effectLst/>
                          <a:latin typeface="+mn-lt"/>
                          <a:ea typeface="D2Coding" panose="020B0609020101020101" pitchFamily="49" charset="-127"/>
                        </a:rPr>
                        <a:t>분석</a:t>
                      </a:r>
                      <a:r>
                        <a:rPr lang="en-US" altLang="ko-KR" sz="1600" dirty="0">
                          <a:effectLst/>
                          <a:latin typeface="+mn-lt"/>
                          <a:ea typeface="D2Coding" panose="020B0609020101020101" pitchFamily="49" charset="-127"/>
                        </a:rPr>
                        <a:t>·</a:t>
                      </a:r>
                      <a:r>
                        <a:rPr lang="ko-KR" altLang="en-US" sz="1600" dirty="0">
                          <a:effectLst/>
                          <a:latin typeface="+mn-lt"/>
                          <a:ea typeface="D2Coding" panose="020B0609020101020101" pitchFamily="49" charset="-127"/>
                        </a:rPr>
                        <a:t>검토</a:t>
                      </a:r>
                      <a:r>
                        <a:rPr lang="en-US" altLang="ko-KR" sz="1600" dirty="0">
                          <a:effectLst/>
                          <a:latin typeface="+mn-lt"/>
                          <a:ea typeface="D2Coding" panose="020B0609020101020101" pitchFamily="49" charset="-127"/>
                        </a:rPr>
                        <a:t>·</a:t>
                      </a:r>
                      <a:r>
                        <a:rPr lang="ko-KR" altLang="en-US" sz="1600" dirty="0">
                          <a:effectLst/>
                          <a:latin typeface="+mn-lt"/>
                          <a:ea typeface="D2Coding" panose="020B0609020101020101" pitchFamily="49" charset="-127"/>
                        </a:rPr>
                        <a:t>예외 처리 비중이 커짐</a:t>
                      </a:r>
                    </a:p>
                  </a:txBody>
                  <a:tcPr marL="32151" marR="32151" marT="32151" marB="3215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5436120"/>
                  </a:ext>
                </a:extLst>
              </a:tr>
              <a:tr h="53129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600">
                          <a:effectLst/>
                          <a:latin typeface="+mn-lt"/>
                          <a:ea typeface="D2Coding" panose="020B0609020101020101" pitchFamily="49" charset="-127"/>
                        </a:rPr>
                        <a:t>디자인과</a:t>
                      </a:r>
                    </a:p>
                  </a:txBody>
                  <a:tcPr marL="32151" marR="32151" marT="32151" marB="3215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600" dirty="0">
                          <a:effectLst/>
                          <a:latin typeface="+mn-lt"/>
                          <a:ea typeface="D2Coding" panose="020B0609020101020101" pitchFamily="49" charset="-127"/>
                        </a:rPr>
                        <a:t>3</a:t>
                      </a:r>
                      <a:endParaRPr lang="ko-KR" altLang="en-US" sz="1600" dirty="0">
                        <a:effectLst/>
                        <a:latin typeface="+mn-lt"/>
                        <a:ea typeface="D2Coding" panose="020B0609020101020101" pitchFamily="49" charset="-127"/>
                      </a:endParaRPr>
                    </a:p>
                  </a:txBody>
                  <a:tcPr marL="32151" marR="32151" marT="32151" marB="3215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600" dirty="0">
                          <a:effectLst/>
                          <a:latin typeface="+mn-lt"/>
                          <a:ea typeface="D2Coding" panose="020B0609020101020101" pitchFamily="49" charset="-127"/>
                        </a:rPr>
                        <a:t>기본 시안 제작은 </a:t>
                      </a:r>
                      <a:r>
                        <a:rPr lang="en-US" altLang="ko-KR" sz="1600" dirty="0">
                          <a:effectLst/>
                          <a:latin typeface="+mn-lt"/>
                          <a:ea typeface="D2Coding" panose="020B0609020101020101" pitchFamily="49" charset="-127"/>
                        </a:rPr>
                        <a:t>AI</a:t>
                      </a:r>
                      <a:r>
                        <a:rPr lang="ko-KR" altLang="en-US" sz="1600" dirty="0">
                          <a:effectLst/>
                          <a:latin typeface="+mn-lt"/>
                          <a:ea typeface="D2Coding" panose="020B0609020101020101" pitchFamily="49" charset="-127"/>
                        </a:rPr>
                        <a:t>가 보조하고</a:t>
                      </a:r>
                      <a:r>
                        <a:rPr lang="en-US" altLang="ko-KR" sz="1600" dirty="0">
                          <a:effectLst/>
                          <a:latin typeface="+mn-lt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600" dirty="0">
                          <a:effectLst/>
                          <a:latin typeface="+mn-lt"/>
                          <a:ea typeface="D2Coding" panose="020B0609020101020101" pitchFamily="49" charset="-127"/>
                        </a:rPr>
                        <a:t>창의적 기획</a:t>
                      </a:r>
                      <a:r>
                        <a:rPr lang="en-US" altLang="ko-KR" sz="1600" dirty="0">
                          <a:effectLst/>
                          <a:latin typeface="+mn-lt"/>
                          <a:ea typeface="D2Coding" panose="020B0609020101020101" pitchFamily="49" charset="-127"/>
                        </a:rPr>
                        <a:t>·</a:t>
                      </a:r>
                      <a:r>
                        <a:rPr lang="ko-KR" altLang="en-US" sz="1600" dirty="0">
                          <a:effectLst/>
                          <a:latin typeface="+mn-lt"/>
                          <a:ea typeface="D2Coding" panose="020B0609020101020101" pitchFamily="49" charset="-127"/>
                        </a:rPr>
                        <a:t>수정</a:t>
                      </a:r>
                      <a:r>
                        <a:rPr lang="en-US" altLang="ko-KR" sz="1600" dirty="0">
                          <a:effectLst/>
                          <a:latin typeface="+mn-lt"/>
                          <a:ea typeface="D2Coding" panose="020B0609020101020101" pitchFamily="49" charset="-127"/>
                        </a:rPr>
                        <a:t>·</a:t>
                      </a:r>
                      <a:r>
                        <a:rPr lang="ko-KR" altLang="en-US" sz="1600" dirty="0">
                          <a:effectLst/>
                          <a:latin typeface="+mn-lt"/>
                          <a:ea typeface="D2Coding" panose="020B0609020101020101" pitchFamily="49" charset="-127"/>
                        </a:rPr>
                        <a:t>브랜딩 역량이 중요해짐</a:t>
                      </a:r>
                    </a:p>
                  </a:txBody>
                  <a:tcPr marL="32151" marR="32151" marT="32151" marB="3215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751618"/>
                  </a:ext>
                </a:extLst>
              </a:tr>
              <a:tr h="53129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600">
                          <a:effectLst/>
                          <a:latin typeface="+mn-lt"/>
                          <a:ea typeface="D2Coding" panose="020B0609020101020101" pitchFamily="49" charset="-127"/>
                        </a:rPr>
                        <a:t>사무행정과</a:t>
                      </a:r>
                    </a:p>
                  </a:txBody>
                  <a:tcPr marL="32151" marR="32151" marT="32151" marB="3215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600" dirty="0">
                          <a:effectLst/>
                          <a:latin typeface="+mn-lt"/>
                          <a:ea typeface="D2Coding" panose="020B0609020101020101" pitchFamily="49" charset="-127"/>
                        </a:rPr>
                        <a:t>4</a:t>
                      </a:r>
                      <a:endParaRPr lang="ko-KR" altLang="en-US" sz="1600" dirty="0">
                        <a:effectLst/>
                        <a:latin typeface="+mn-lt"/>
                        <a:ea typeface="D2Coding" panose="020B0609020101020101" pitchFamily="49" charset="-127"/>
                      </a:endParaRPr>
                    </a:p>
                  </a:txBody>
                  <a:tcPr marL="32151" marR="32151" marT="32151" marB="3215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600" dirty="0">
                          <a:effectLst/>
                          <a:latin typeface="+mn-lt"/>
                          <a:ea typeface="D2Coding" panose="020B0609020101020101" pitchFamily="49" charset="-127"/>
                        </a:rPr>
                        <a:t>문서 작성</a:t>
                      </a:r>
                      <a:r>
                        <a:rPr lang="en-US" altLang="ko-KR" sz="1600" dirty="0">
                          <a:effectLst/>
                          <a:latin typeface="+mn-lt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600" dirty="0">
                          <a:effectLst/>
                          <a:latin typeface="+mn-lt"/>
                          <a:ea typeface="D2Coding" panose="020B0609020101020101" pitchFamily="49" charset="-127"/>
                        </a:rPr>
                        <a:t>정리</a:t>
                      </a:r>
                      <a:r>
                        <a:rPr lang="en-US" altLang="ko-KR" sz="1600" dirty="0">
                          <a:effectLst/>
                          <a:latin typeface="+mn-lt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600" dirty="0">
                          <a:effectLst/>
                          <a:latin typeface="+mn-lt"/>
                          <a:ea typeface="D2Coding" panose="020B0609020101020101" pitchFamily="49" charset="-127"/>
                        </a:rPr>
                        <a:t>일정 관리 같은 반복 업무가 크게 자동화됨</a:t>
                      </a:r>
                    </a:p>
                  </a:txBody>
                  <a:tcPr marL="32151" marR="32151" marT="32151" marB="3215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0544447"/>
                  </a:ext>
                </a:extLst>
              </a:tr>
              <a:tr h="53129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600" dirty="0" err="1">
                          <a:effectLst/>
                          <a:latin typeface="+mn-lt"/>
                          <a:ea typeface="D2Coding" panose="020B0609020101020101" pitchFamily="49" charset="-127"/>
                        </a:rPr>
                        <a:t>조리과</a:t>
                      </a:r>
                      <a:r>
                        <a:rPr lang="en-US" altLang="ko-KR" sz="1600" dirty="0">
                          <a:effectLst/>
                          <a:latin typeface="+mn-lt"/>
                          <a:ea typeface="D2Coding" panose="020B0609020101020101" pitchFamily="49" charset="-127"/>
                        </a:rPr>
                        <a:t>/</a:t>
                      </a:r>
                      <a:r>
                        <a:rPr lang="ko-KR" altLang="en-US" sz="1600" dirty="0">
                          <a:effectLst/>
                          <a:latin typeface="+mn-lt"/>
                          <a:ea typeface="D2Coding" panose="020B0609020101020101" pitchFamily="49" charset="-127"/>
                        </a:rPr>
                        <a:t>외식과</a:t>
                      </a:r>
                    </a:p>
                  </a:txBody>
                  <a:tcPr marL="32151" marR="32151" marT="32151" marB="3215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600" dirty="0">
                          <a:effectLst/>
                          <a:latin typeface="+mn-lt"/>
                          <a:ea typeface="D2Coding" panose="020B0609020101020101" pitchFamily="49" charset="-127"/>
                        </a:rPr>
                        <a:t>5</a:t>
                      </a:r>
                      <a:endParaRPr lang="ko-KR" altLang="en-US" sz="1600" dirty="0">
                        <a:effectLst/>
                        <a:latin typeface="+mn-lt"/>
                        <a:ea typeface="D2Coding" panose="020B0609020101020101" pitchFamily="49" charset="-127"/>
                      </a:endParaRPr>
                    </a:p>
                  </a:txBody>
                  <a:tcPr marL="32151" marR="32151" marT="32151" marB="3215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600" dirty="0">
                          <a:effectLst/>
                          <a:latin typeface="+mn-lt"/>
                          <a:ea typeface="D2Coding" panose="020B0609020101020101" pitchFamily="49" charset="-127"/>
                        </a:rPr>
                        <a:t>레시피 개발</a:t>
                      </a:r>
                      <a:r>
                        <a:rPr lang="en-US" altLang="ko-KR" sz="1600" dirty="0">
                          <a:effectLst/>
                          <a:latin typeface="+mn-lt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600" dirty="0">
                          <a:effectLst/>
                          <a:latin typeface="+mn-lt"/>
                          <a:ea typeface="D2Coding" panose="020B0609020101020101" pitchFamily="49" charset="-127"/>
                        </a:rPr>
                        <a:t>위생관리</a:t>
                      </a:r>
                      <a:r>
                        <a:rPr lang="en-US" altLang="ko-KR" sz="1600" dirty="0">
                          <a:effectLst/>
                          <a:latin typeface="+mn-lt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600" dirty="0">
                          <a:effectLst/>
                          <a:latin typeface="+mn-lt"/>
                          <a:ea typeface="D2Coding" panose="020B0609020101020101" pitchFamily="49" charset="-127"/>
                        </a:rPr>
                        <a:t>주문</a:t>
                      </a:r>
                      <a:r>
                        <a:rPr lang="en-US" altLang="ko-KR" sz="1600" dirty="0">
                          <a:effectLst/>
                          <a:latin typeface="+mn-lt"/>
                          <a:ea typeface="D2Coding" panose="020B0609020101020101" pitchFamily="49" charset="-127"/>
                        </a:rPr>
                        <a:t>·</a:t>
                      </a:r>
                      <a:r>
                        <a:rPr lang="ko-KR" altLang="en-US" sz="1600" dirty="0">
                          <a:effectLst/>
                          <a:latin typeface="+mn-lt"/>
                          <a:ea typeface="D2Coding" panose="020B0609020101020101" pitchFamily="49" charset="-127"/>
                        </a:rPr>
                        <a:t>재고 관리에 </a:t>
                      </a:r>
                      <a:r>
                        <a:rPr lang="en-US" altLang="ko-KR" sz="1600" dirty="0">
                          <a:effectLst/>
                          <a:latin typeface="+mn-lt"/>
                          <a:ea typeface="D2Coding" panose="020B0609020101020101" pitchFamily="49" charset="-127"/>
                        </a:rPr>
                        <a:t>AI </a:t>
                      </a:r>
                      <a:r>
                        <a:rPr lang="ko-KR" altLang="en-US" sz="1600" dirty="0">
                          <a:effectLst/>
                          <a:latin typeface="+mn-lt"/>
                          <a:ea typeface="D2Coding" panose="020B0609020101020101" pitchFamily="49" charset="-127"/>
                        </a:rPr>
                        <a:t>활용이 늘어남</a:t>
                      </a:r>
                    </a:p>
                  </a:txBody>
                  <a:tcPr marL="32151" marR="32151" marT="32151" marB="3215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6300657"/>
                  </a:ext>
                </a:extLst>
              </a:tr>
              <a:tr h="53129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600" dirty="0">
                          <a:effectLst/>
                          <a:latin typeface="+mn-lt"/>
                          <a:ea typeface="D2Coding" panose="020B0609020101020101" pitchFamily="49" charset="-127"/>
                        </a:rPr>
                        <a:t>기계과</a:t>
                      </a:r>
                      <a:r>
                        <a:rPr lang="en-US" altLang="ko-KR" sz="1600" dirty="0">
                          <a:effectLst/>
                          <a:latin typeface="+mn-lt"/>
                          <a:ea typeface="D2Coding" panose="020B0609020101020101" pitchFamily="49" charset="-127"/>
                        </a:rPr>
                        <a:t>/</a:t>
                      </a:r>
                      <a:r>
                        <a:rPr lang="ko-KR" altLang="en-US" sz="1600" dirty="0" err="1">
                          <a:effectLst/>
                          <a:latin typeface="+mn-lt"/>
                          <a:ea typeface="D2Coding" panose="020B0609020101020101" pitchFamily="49" charset="-127"/>
                        </a:rPr>
                        <a:t>전기과</a:t>
                      </a:r>
                      <a:r>
                        <a:rPr lang="en-US" altLang="ko-KR" sz="1600" dirty="0">
                          <a:effectLst/>
                          <a:latin typeface="+mn-lt"/>
                          <a:ea typeface="D2Coding" panose="020B0609020101020101" pitchFamily="49" charset="-127"/>
                        </a:rPr>
                        <a:t>/</a:t>
                      </a:r>
                      <a:r>
                        <a:rPr lang="ko-KR" altLang="en-US" sz="1600" dirty="0">
                          <a:effectLst/>
                          <a:latin typeface="+mn-lt"/>
                          <a:ea typeface="D2Coding" panose="020B0609020101020101" pitchFamily="49" charset="-127"/>
                        </a:rPr>
                        <a:t>자동화과</a:t>
                      </a:r>
                    </a:p>
                  </a:txBody>
                  <a:tcPr marL="32151" marR="32151" marT="32151" marB="3215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600" dirty="0">
                          <a:effectLst/>
                          <a:latin typeface="+mn-lt"/>
                          <a:ea typeface="D2Coding" panose="020B0609020101020101" pitchFamily="49" charset="-127"/>
                        </a:rPr>
                        <a:t>6</a:t>
                      </a:r>
                      <a:endParaRPr lang="ko-KR" altLang="en-US" sz="1600" dirty="0">
                        <a:effectLst/>
                        <a:latin typeface="+mn-lt"/>
                        <a:ea typeface="D2Coding" panose="020B0609020101020101" pitchFamily="49" charset="-127"/>
                      </a:endParaRPr>
                    </a:p>
                  </a:txBody>
                  <a:tcPr marL="32151" marR="32151" marT="32151" marB="3215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600" dirty="0">
                          <a:effectLst/>
                          <a:latin typeface="+mn-lt"/>
                          <a:ea typeface="D2Coding" panose="020B0609020101020101" pitchFamily="49" charset="-127"/>
                        </a:rPr>
                        <a:t>설비 운영</a:t>
                      </a:r>
                      <a:r>
                        <a:rPr lang="en-US" altLang="ko-KR" sz="1600" dirty="0">
                          <a:effectLst/>
                          <a:latin typeface="+mn-lt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600" dirty="0">
                          <a:effectLst/>
                          <a:latin typeface="+mn-lt"/>
                          <a:ea typeface="D2Coding" panose="020B0609020101020101" pitchFamily="49" charset="-127"/>
                        </a:rPr>
                        <a:t>예지보전</a:t>
                      </a:r>
                      <a:r>
                        <a:rPr lang="en-US" altLang="ko-KR" sz="1600" dirty="0">
                          <a:effectLst/>
                          <a:latin typeface="+mn-lt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600" dirty="0" err="1">
                          <a:effectLst/>
                          <a:latin typeface="+mn-lt"/>
                          <a:ea typeface="D2Coding" panose="020B0609020101020101" pitchFamily="49" charset="-127"/>
                        </a:rPr>
                        <a:t>스마트팩토리</a:t>
                      </a:r>
                      <a:r>
                        <a:rPr lang="ko-KR" altLang="en-US" sz="1600" dirty="0">
                          <a:effectLst/>
                          <a:latin typeface="+mn-lt"/>
                          <a:ea typeface="D2Coding" panose="020B0609020101020101" pitchFamily="49" charset="-127"/>
                        </a:rPr>
                        <a:t> 대응 역량이 중요해짐</a:t>
                      </a:r>
                    </a:p>
                  </a:txBody>
                  <a:tcPr marL="32151" marR="32151" marT="32151" marB="3215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4876895"/>
                  </a:ext>
                </a:extLst>
              </a:tr>
              <a:tr h="53129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600" dirty="0">
                          <a:effectLst/>
                          <a:latin typeface="+mn-lt"/>
                          <a:ea typeface="D2Coding" panose="020B0609020101020101" pitchFamily="49" charset="-127"/>
                        </a:rPr>
                        <a:t>미용과</a:t>
                      </a:r>
                    </a:p>
                  </a:txBody>
                  <a:tcPr marL="32151" marR="32151" marT="32151" marB="3215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600" dirty="0">
                          <a:effectLst/>
                          <a:latin typeface="+mn-lt"/>
                          <a:ea typeface="D2Coding" panose="020B0609020101020101" pitchFamily="49" charset="-127"/>
                        </a:rPr>
                        <a:t>7</a:t>
                      </a:r>
                      <a:endParaRPr lang="ko-KR" altLang="en-US" sz="1600" dirty="0">
                        <a:effectLst/>
                        <a:latin typeface="+mn-lt"/>
                        <a:ea typeface="D2Coding" panose="020B0609020101020101" pitchFamily="49" charset="-127"/>
                      </a:endParaRPr>
                    </a:p>
                  </a:txBody>
                  <a:tcPr marL="32151" marR="32151" marT="32151" marB="3215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600" dirty="0">
                          <a:effectLst/>
                          <a:latin typeface="+mn-lt"/>
                          <a:ea typeface="D2Coding" panose="020B0609020101020101" pitchFamily="49" charset="-127"/>
                        </a:rPr>
                        <a:t>예약</a:t>
                      </a:r>
                      <a:r>
                        <a:rPr lang="en-US" altLang="ko-KR" sz="1600" dirty="0">
                          <a:effectLst/>
                          <a:latin typeface="+mn-lt"/>
                          <a:ea typeface="D2Coding" panose="020B0609020101020101" pitchFamily="49" charset="-127"/>
                        </a:rPr>
                        <a:t>·</a:t>
                      </a:r>
                      <a:r>
                        <a:rPr lang="ko-KR" altLang="en-US" sz="1600" dirty="0">
                          <a:effectLst/>
                          <a:latin typeface="+mn-lt"/>
                          <a:ea typeface="D2Coding" panose="020B0609020101020101" pitchFamily="49" charset="-127"/>
                        </a:rPr>
                        <a:t>상담</a:t>
                      </a:r>
                      <a:r>
                        <a:rPr lang="en-US" altLang="ko-KR" sz="1600" dirty="0">
                          <a:effectLst/>
                          <a:latin typeface="+mn-lt"/>
                          <a:ea typeface="D2Coding" panose="020B0609020101020101" pitchFamily="49" charset="-127"/>
                        </a:rPr>
                        <a:t>·</a:t>
                      </a:r>
                      <a:r>
                        <a:rPr lang="ko-KR" altLang="en-US" sz="1600" dirty="0">
                          <a:effectLst/>
                          <a:latin typeface="+mn-lt"/>
                          <a:ea typeface="D2Coding" panose="020B0609020101020101" pitchFamily="49" charset="-127"/>
                        </a:rPr>
                        <a:t>홍보는 </a:t>
                      </a:r>
                      <a:r>
                        <a:rPr lang="en-US" altLang="ko-KR" sz="1600" dirty="0">
                          <a:effectLst/>
                          <a:latin typeface="+mn-lt"/>
                          <a:ea typeface="D2Coding" panose="020B0609020101020101" pitchFamily="49" charset="-127"/>
                        </a:rPr>
                        <a:t>AI</a:t>
                      </a:r>
                      <a:r>
                        <a:rPr lang="ko-KR" altLang="en-US" sz="1600" dirty="0">
                          <a:effectLst/>
                          <a:latin typeface="+mn-lt"/>
                          <a:ea typeface="D2Coding" panose="020B0609020101020101" pitchFamily="49" charset="-127"/>
                        </a:rPr>
                        <a:t>가 돕고</a:t>
                      </a:r>
                      <a:r>
                        <a:rPr lang="en-US" altLang="ko-KR" sz="1600" dirty="0">
                          <a:effectLst/>
                          <a:latin typeface="+mn-lt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600" dirty="0">
                          <a:effectLst/>
                          <a:latin typeface="+mn-lt"/>
                          <a:ea typeface="D2Coding" panose="020B0609020101020101" pitchFamily="49" charset="-127"/>
                        </a:rPr>
                        <a:t>고객 응대와 감각은 사람 역할이 남음</a:t>
                      </a:r>
                    </a:p>
                  </a:txBody>
                  <a:tcPr marL="32151" marR="32151" marT="32151" marB="3215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064368"/>
                  </a:ext>
                </a:extLst>
              </a:tr>
              <a:tr h="53129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600" dirty="0">
                          <a:effectLst/>
                          <a:latin typeface="+mn-lt"/>
                          <a:ea typeface="D2Coding" panose="020B0609020101020101" pitchFamily="49" charset="-127"/>
                        </a:rPr>
                        <a:t>보건간호과</a:t>
                      </a:r>
                    </a:p>
                  </a:txBody>
                  <a:tcPr marL="32151" marR="32151" marT="32151" marB="3215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600" dirty="0">
                          <a:effectLst/>
                          <a:latin typeface="+mn-lt"/>
                          <a:ea typeface="D2Coding" panose="020B0609020101020101" pitchFamily="49" charset="-127"/>
                        </a:rPr>
                        <a:t>8</a:t>
                      </a:r>
                      <a:endParaRPr lang="ko-KR" altLang="en-US" sz="1600" dirty="0">
                        <a:effectLst/>
                        <a:latin typeface="+mn-lt"/>
                        <a:ea typeface="D2Coding" panose="020B0609020101020101" pitchFamily="49" charset="-127"/>
                      </a:endParaRPr>
                    </a:p>
                  </a:txBody>
                  <a:tcPr marL="32151" marR="32151" marT="32151" marB="3215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600" dirty="0">
                          <a:effectLst/>
                          <a:latin typeface="+mn-lt"/>
                          <a:ea typeface="D2Coding" panose="020B0609020101020101" pitchFamily="49" charset="-127"/>
                        </a:rPr>
                        <a:t>기록</a:t>
                      </a:r>
                      <a:r>
                        <a:rPr lang="en-US" altLang="ko-KR" sz="1600" dirty="0">
                          <a:effectLst/>
                          <a:latin typeface="+mn-lt"/>
                          <a:ea typeface="D2Coding" panose="020B0609020101020101" pitchFamily="49" charset="-127"/>
                        </a:rPr>
                        <a:t>·</a:t>
                      </a:r>
                      <a:r>
                        <a:rPr lang="ko-KR" altLang="en-US" sz="1600" dirty="0">
                          <a:effectLst/>
                          <a:latin typeface="+mn-lt"/>
                          <a:ea typeface="D2Coding" panose="020B0609020101020101" pitchFamily="49" charset="-127"/>
                        </a:rPr>
                        <a:t>안내 업무는 자동화되지만</a:t>
                      </a:r>
                      <a:r>
                        <a:rPr lang="en-US" altLang="ko-KR" sz="1600" dirty="0">
                          <a:effectLst/>
                          <a:latin typeface="+mn-lt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600" dirty="0">
                          <a:effectLst/>
                          <a:latin typeface="+mn-lt"/>
                          <a:ea typeface="D2Coding" panose="020B0609020101020101" pitchFamily="49" charset="-127"/>
                        </a:rPr>
                        <a:t>돌봄</a:t>
                      </a:r>
                      <a:r>
                        <a:rPr lang="en-US" altLang="ko-KR" sz="1600" dirty="0">
                          <a:effectLst/>
                          <a:latin typeface="+mn-lt"/>
                          <a:ea typeface="D2Coding" panose="020B0609020101020101" pitchFamily="49" charset="-127"/>
                        </a:rPr>
                        <a:t>·</a:t>
                      </a:r>
                      <a:r>
                        <a:rPr lang="ko-KR" altLang="en-US" sz="1600" dirty="0">
                          <a:effectLst/>
                          <a:latin typeface="+mn-lt"/>
                          <a:ea typeface="D2Coding" panose="020B0609020101020101" pitchFamily="49" charset="-127"/>
                        </a:rPr>
                        <a:t>상담</a:t>
                      </a:r>
                      <a:r>
                        <a:rPr lang="en-US" altLang="ko-KR" sz="1600" dirty="0">
                          <a:effectLst/>
                          <a:latin typeface="+mn-lt"/>
                          <a:ea typeface="D2Coding" panose="020B0609020101020101" pitchFamily="49" charset="-127"/>
                        </a:rPr>
                        <a:t>·</a:t>
                      </a:r>
                      <a:r>
                        <a:rPr lang="ko-KR" altLang="en-US" sz="1600" dirty="0">
                          <a:effectLst/>
                          <a:latin typeface="+mn-lt"/>
                          <a:ea typeface="D2Coding" panose="020B0609020101020101" pitchFamily="49" charset="-127"/>
                        </a:rPr>
                        <a:t>현장 대응은 여전히 중요함</a:t>
                      </a:r>
                    </a:p>
                  </a:txBody>
                  <a:tcPr marL="32151" marR="32151" marT="32151" marB="3215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098089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48C64EE-9639-D5AE-13BB-3AF3A4B32055}"/>
              </a:ext>
            </a:extLst>
          </p:cNvPr>
          <p:cNvSpPr txBox="1"/>
          <p:nvPr/>
        </p:nvSpPr>
        <p:spPr>
          <a:xfrm>
            <a:off x="683529" y="679572"/>
            <a:ext cx="9917796" cy="465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0" i="0" dirty="0">
                <a:effectLst/>
                <a:ea typeface="D2Coding" panose="020B0609020101020101" pitchFamily="49" charset="-127"/>
              </a:rPr>
              <a:t>AI </a:t>
            </a:r>
            <a:r>
              <a:rPr lang="ko-KR" altLang="en-US" b="0" i="0" dirty="0">
                <a:effectLst/>
                <a:ea typeface="D2Coding" panose="020B0609020101020101" pitchFamily="49" charset="-127"/>
              </a:rPr>
              <a:t>확산으로 영향이 높은 학과 순으로 변화의 내용을 정리 </a:t>
            </a:r>
            <a:endParaRPr lang="ko-KR" altLang="en-US" dirty="0">
              <a:ea typeface="D2Coding" panose="020B0609020101020101" pitchFamily="49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59BE57-91B6-459A-9FD1-A5C2CA099D2A}"/>
              </a:ext>
            </a:extLst>
          </p:cNvPr>
          <p:cNvSpPr txBox="1"/>
          <p:nvPr/>
        </p:nvSpPr>
        <p:spPr>
          <a:xfrm>
            <a:off x="590550" y="6358559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ea typeface="D2Coding" panose="020B0609020101020101" pitchFamily="49" charset="-127"/>
              </a:rPr>
              <a:t>출처 </a:t>
            </a:r>
            <a:r>
              <a:rPr lang="en-US" altLang="ko-KR" sz="1400" dirty="0">
                <a:ea typeface="D2Coding" panose="020B0609020101020101" pitchFamily="49" charset="-127"/>
              </a:rPr>
              <a:t>:</a:t>
            </a:r>
            <a:r>
              <a:rPr lang="ko-KR" altLang="en-US" sz="1400" dirty="0"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ea typeface="D2Coding" panose="020B0609020101020101" pitchFamily="49" charset="-127"/>
              </a:rPr>
              <a:t>LLMs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7330445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7A5D6-84AD-BBCF-1B9D-F30A7CD3D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EEB8781D-6B5F-EFE7-ECDF-1A48359108C7}"/>
              </a:ext>
            </a:extLst>
          </p:cNvPr>
          <p:cNvSpPr/>
          <p:nvPr/>
        </p:nvSpPr>
        <p:spPr>
          <a:xfrm>
            <a:off x="1104900" y="4870546"/>
            <a:ext cx="6629399" cy="6096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B8D7F72-D8B5-DF48-CCED-E99449E68D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030" y="586381"/>
            <a:ext cx="8825658" cy="609600"/>
          </a:xfrm>
        </p:spPr>
        <p:txBody>
          <a:bodyPr/>
          <a:lstStyle/>
          <a:p>
            <a:r>
              <a:rPr lang="en-US" altLang="ko-KR" sz="4400" dirty="0"/>
              <a:t>Contents</a:t>
            </a:r>
            <a:endParaRPr lang="ko-KR" altLang="en-US" sz="4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8837144-B2EB-1361-7E86-BD4C02FA0C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4055" y="1452837"/>
            <a:ext cx="7627095" cy="365016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AI </a:t>
            </a:r>
            <a:r>
              <a:rPr lang="ko-KR" altLang="en-US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기술 </a:t>
            </a:r>
            <a:r>
              <a:rPr lang="en-US" altLang="ko-KR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Trends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AI Literacy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Understanding Machine/Deep Learning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ko-KR" altLang="en-US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생성형 </a:t>
            </a:r>
            <a:r>
              <a:rPr lang="en-US" altLang="ko-KR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AI(Generative</a:t>
            </a:r>
            <a:r>
              <a:rPr lang="ko-KR" altLang="en-US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AI)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ko-KR" altLang="en-US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직업의</a:t>
            </a:r>
            <a:r>
              <a:rPr lang="en-US" altLang="ko-KR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변화</a:t>
            </a:r>
            <a:endParaRPr lang="en-US" altLang="ko-KR" sz="2400" cap="none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ko-KR" altLang="en-US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교육의 변화</a:t>
            </a:r>
            <a:endParaRPr lang="en-US" altLang="ko-KR" sz="2400" cap="none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ko-KR" altLang="en-US" sz="2400" cap="none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551128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EFB76-A769-EBD0-CDC3-D96A24A61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8E4CE0A7-92F0-A13E-EAB1-4A70126D5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41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79D5AA-51D8-E627-0838-1A646DDE25AC}"/>
              </a:ext>
            </a:extLst>
          </p:cNvPr>
          <p:cNvSpPr txBox="1"/>
          <p:nvPr/>
        </p:nvSpPr>
        <p:spPr>
          <a:xfrm>
            <a:off x="1521729" y="2251197"/>
            <a:ext cx="8346172" cy="1494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3200" b="0" i="0" dirty="0">
                <a:effectLst/>
                <a:ea typeface="D2Coding" panose="020B0609020101020101" pitchFamily="49" charset="-127"/>
              </a:rPr>
              <a:t>교사인 나는 학생들에게 무엇을 어떻게 가르쳐야 하지</a:t>
            </a:r>
            <a:r>
              <a:rPr lang="en-US" altLang="ko-KR" sz="3200" b="0" i="0" dirty="0">
                <a:effectLst/>
                <a:ea typeface="D2Coding" panose="020B0609020101020101" pitchFamily="49" charset="-127"/>
              </a:rPr>
              <a:t>?</a:t>
            </a:r>
            <a:endParaRPr lang="ko-KR" altLang="en-US" sz="3200" dirty="0">
              <a:ea typeface="D2Coding" panose="020B0609020101020101" pitchFamily="49" charset="-127"/>
            </a:endParaRPr>
          </a:p>
        </p:txBody>
      </p:sp>
      <p:pic>
        <p:nvPicPr>
          <p:cNvPr id="4098" name="Picture 2" descr="바위 위에 앉아있는 남자의 동상">
            <a:extLst>
              <a:ext uri="{FF2B5EF4-FFF2-40B4-BE49-F238E27FC236}">
                <a16:creationId xmlns:a16="http://schemas.microsoft.com/office/drawing/2014/main" id="{F9C4A744-F907-686C-7C15-E10E1832CB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3700" y="2533650"/>
            <a:ext cx="2518093" cy="3771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377476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A04A5-BCF3-8347-3622-2641BE161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154A4577-AF6B-332A-F645-68C86CE7F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42</a:t>
            </a:fld>
            <a:endParaRPr 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C8D8B4C-B4E9-CC4D-4B95-DB14FD08EF2D}"/>
              </a:ext>
            </a:extLst>
          </p:cNvPr>
          <p:cNvSpPr/>
          <p:nvPr/>
        </p:nvSpPr>
        <p:spPr>
          <a:xfrm>
            <a:off x="971550" y="1399464"/>
            <a:ext cx="3324225" cy="2476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800" dirty="0">
                <a:ea typeface="D2Coding" panose="020B0609020101020101" pitchFamily="49" charset="-127"/>
              </a:rPr>
              <a:t>Problem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altLang="ko-KR" sz="2800" dirty="0">
                <a:ea typeface="D2Coding" panose="020B0609020101020101" pitchFamily="49" charset="-127"/>
              </a:rPr>
              <a:t>Issue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altLang="ko-KR" sz="2800" dirty="0">
                <a:ea typeface="D2Coding" panose="020B0609020101020101" pitchFamily="49" charset="-127"/>
              </a:rPr>
              <a:t>Requirement</a:t>
            </a:r>
            <a:endParaRPr lang="ko-KR" altLang="en-US" sz="2800" dirty="0">
              <a:ea typeface="D2Coding" panose="020B0609020101020101" pitchFamily="49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1B0CDE-22FA-198B-43A5-1B5E872296DE}"/>
              </a:ext>
            </a:extLst>
          </p:cNvPr>
          <p:cNvSpPr txBox="1"/>
          <p:nvPr/>
        </p:nvSpPr>
        <p:spPr>
          <a:xfrm>
            <a:off x="6838950" y="2465535"/>
            <a:ext cx="36004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i="0" dirty="0">
                <a:effectLst/>
                <a:ea typeface="D2Coding" panose="020B0609020101020101" pitchFamily="49" charset="-127"/>
              </a:rPr>
              <a:t>해결하는 역량</a:t>
            </a:r>
            <a:endParaRPr lang="ko-KR" altLang="en-US" sz="2800" dirty="0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B6D3B800-91B0-519E-617A-820186D0C974}"/>
              </a:ext>
            </a:extLst>
          </p:cNvPr>
          <p:cNvCxnSpPr/>
          <p:nvPr/>
        </p:nvCxnSpPr>
        <p:spPr>
          <a:xfrm>
            <a:off x="5286375" y="2696367"/>
            <a:ext cx="809625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7E9C5CD-546F-53B1-0E0B-7C97C5E6C37E}"/>
              </a:ext>
            </a:extLst>
          </p:cNvPr>
          <p:cNvSpPr txBox="1"/>
          <p:nvPr/>
        </p:nvSpPr>
        <p:spPr>
          <a:xfrm>
            <a:off x="7177741" y="3283829"/>
            <a:ext cx="4309409" cy="14274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>
                <a:ea typeface="D2Coding" panose="020B0609020101020101" pitchFamily="49" charset="-127"/>
              </a:rPr>
              <a:t>문제를 정의하는 능력</a:t>
            </a:r>
            <a:endParaRPr lang="en-US" altLang="ko-KR" sz="2000" dirty="0"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ea typeface="D2Coding" panose="020B0609020101020101" pitchFamily="49" charset="-127"/>
              </a:rPr>
              <a:t>AI</a:t>
            </a:r>
            <a:r>
              <a:rPr lang="ko-KR" altLang="en-US" sz="2000" dirty="0">
                <a:ea typeface="D2Coding" panose="020B0609020101020101" pitchFamily="49" charset="-127"/>
              </a:rPr>
              <a:t>를 활용하는 능력</a:t>
            </a:r>
            <a:endParaRPr lang="en-US" altLang="ko-KR" sz="2000" dirty="0"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>
                <a:ea typeface="D2Coding" panose="020B0609020101020101" pitchFamily="49" charset="-127"/>
              </a:rPr>
              <a:t>결과를 검토</a:t>
            </a:r>
            <a:r>
              <a:rPr lang="en-US" altLang="ko-KR" sz="2000" dirty="0">
                <a:ea typeface="D2Coding" panose="020B0609020101020101" pitchFamily="49" charset="-127"/>
              </a:rPr>
              <a:t>·</a:t>
            </a:r>
            <a:r>
              <a:rPr lang="ko-KR" altLang="en-US" sz="2000" dirty="0">
                <a:ea typeface="D2Coding" panose="020B0609020101020101" pitchFamily="49" charset="-127"/>
              </a:rPr>
              <a:t>수정하는 능력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110682936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26D16-15B3-F23D-039A-DAA292736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7681C0E7-9CF8-DA6B-797E-B2089E733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43</a:t>
            </a:fld>
            <a:endParaRPr 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F2A4D87-B403-3C66-C8B8-579325383B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3729" y="816928"/>
            <a:ext cx="7046971" cy="5435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02224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5213F-0970-37DE-62E2-ABBCC9939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BD174E62-742B-79B5-0C35-A4B169C4C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44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8559AA-28E0-92E4-F316-01189E8E8A4A}"/>
              </a:ext>
            </a:extLst>
          </p:cNvPr>
          <p:cNvSpPr txBox="1"/>
          <p:nvPr/>
        </p:nvSpPr>
        <p:spPr>
          <a:xfrm>
            <a:off x="569228" y="812922"/>
            <a:ext cx="10621511" cy="1432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400" dirty="0">
                <a:ea typeface="D2Coding" panose="020B0609020101020101" pitchFamily="49" charset="-127"/>
              </a:rPr>
              <a:t> 기초 이론 교육 </a:t>
            </a:r>
            <a:endParaRPr lang="en-US" altLang="ko-KR" dirty="0"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ea typeface="D2Coding" panose="020B0609020101020101" pitchFamily="49" charset="-127"/>
              </a:rPr>
              <a:t>선형대수</a:t>
            </a:r>
            <a:r>
              <a:rPr lang="en-US" altLang="ko-KR" dirty="0">
                <a:ea typeface="D2Coding" panose="020B0609020101020101" pitchFamily="49" charset="-127"/>
              </a:rPr>
              <a:t>, </a:t>
            </a:r>
            <a:r>
              <a:rPr lang="ko-KR" altLang="en-US" dirty="0">
                <a:ea typeface="D2Coding" panose="020B0609020101020101" pitchFamily="49" charset="-127"/>
              </a:rPr>
              <a:t>통계</a:t>
            </a:r>
            <a:r>
              <a:rPr lang="en-US" altLang="ko-KR" dirty="0">
                <a:ea typeface="D2Coding" panose="020B0609020101020101" pitchFamily="49" charset="-127"/>
              </a:rPr>
              <a:t>, </a:t>
            </a:r>
            <a:r>
              <a:rPr lang="ko-KR" altLang="en-US" dirty="0">
                <a:ea typeface="D2Coding" panose="020B0609020101020101" pitchFamily="49" charset="-127"/>
              </a:rPr>
              <a:t>자료구조론</a:t>
            </a:r>
            <a:r>
              <a:rPr lang="en-US" altLang="ko-KR" dirty="0">
                <a:ea typeface="D2Coding" panose="020B0609020101020101" pitchFamily="49" charset="-127"/>
              </a:rPr>
              <a:t>,</a:t>
            </a:r>
            <a:r>
              <a:rPr lang="ko-KR" altLang="en-US" dirty="0">
                <a:ea typeface="D2Coding" panose="020B0609020101020101" pitchFamily="49" charset="-127"/>
              </a:rPr>
              <a:t> 데이터베이스 구조 등 기초 교육을 강화하여 생각할 </a:t>
            </a:r>
            <a:r>
              <a:rPr lang="ko-KR" altLang="en-US" dirty="0" err="1">
                <a:ea typeface="D2Coding" panose="020B0609020101020101" pitchFamily="49" charset="-127"/>
              </a:rPr>
              <a:t>수있는</a:t>
            </a:r>
            <a:r>
              <a:rPr lang="ko-KR" altLang="en-US" dirty="0">
                <a:ea typeface="D2Coding" panose="020B0609020101020101" pitchFamily="49" charset="-127"/>
              </a:rPr>
              <a:t> 역량을 키워야 함</a:t>
            </a:r>
            <a:r>
              <a:rPr lang="en-US" altLang="ko-KR" dirty="0">
                <a:ea typeface="D2Coding" panose="020B0609020101020101" pitchFamily="49" charset="-127"/>
              </a:rPr>
              <a:t> </a:t>
            </a:r>
            <a:endParaRPr lang="ko-KR" altLang="en-US" dirty="0">
              <a:ea typeface="D2Coding" panose="020B0609020101020101" pitchFamily="49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AFC958-BABD-B9A9-930A-B601D8F75BE5}"/>
              </a:ext>
            </a:extLst>
          </p:cNvPr>
          <p:cNvSpPr txBox="1"/>
          <p:nvPr/>
        </p:nvSpPr>
        <p:spPr>
          <a:xfrm>
            <a:off x="569227" y="3040601"/>
            <a:ext cx="10621511" cy="2671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400" dirty="0">
                <a:ea typeface="D2Coding" panose="020B0609020101020101" pitchFamily="49" charset="-127"/>
              </a:rPr>
              <a:t> </a:t>
            </a:r>
            <a:r>
              <a:rPr lang="ko-KR" altLang="en-US" sz="2400" dirty="0" err="1">
                <a:ea typeface="D2Coding" panose="020B0609020101020101" pitchFamily="49" charset="-127"/>
              </a:rPr>
              <a:t>탑다운</a:t>
            </a:r>
            <a:r>
              <a:rPr lang="en-US" altLang="ko-KR" sz="2400" dirty="0">
                <a:ea typeface="D2Coding" panose="020B0609020101020101" pitchFamily="49" charset="-127"/>
              </a:rPr>
              <a:t>(Top-Down)</a:t>
            </a:r>
            <a:r>
              <a:rPr lang="ko-KR" altLang="en-US" sz="2400" dirty="0">
                <a:ea typeface="D2Coding" panose="020B0609020101020101" pitchFamily="49" charset="-127"/>
              </a:rPr>
              <a:t>방식으로의 전환</a:t>
            </a:r>
            <a:endParaRPr lang="en-US" altLang="ko-KR" dirty="0"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ea typeface="D2Coding" panose="020B0609020101020101" pitchFamily="49" charset="-127"/>
              </a:rPr>
              <a:t>기존 방식 </a:t>
            </a:r>
            <a:r>
              <a:rPr lang="en-US" altLang="ko-KR" dirty="0">
                <a:ea typeface="D2Coding" panose="020B0609020101020101" pitchFamily="49" charset="-127"/>
              </a:rPr>
              <a:t>(Bottom-Up): </a:t>
            </a:r>
            <a:r>
              <a:rPr lang="ko-KR" altLang="en-US" dirty="0">
                <a:ea typeface="D2Coding" panose="020B0609020101020101" pitchFamily="49" charset="-127"/>
              </a:rPr>
              <a:t>기초 문법이나 이론부터 차근차근 배워서 문제를 푸는 방식</a:t>
            </a:r>
            <a:endParaRPr lang="en-US" altLang="ko-KR" dirty="0"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dirty="0"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ea typeface="D2Coding" panose="020B0609020101020101" pitchFamily="49" charset="-127"/>
              </a:rPr>
              <a:t>새로운 방식 </a:t>
            </a:r>
            <a:r>
              <a:rPr lang="en-US" altLang="ko-KR" dirty="0">
                <a:ea typeface="D2Coding" panose="020B0609020101020101" pitchFamily="49" charset="-127"/>
              </a:rPr>
              <a:t>(Top-Down): </a:t>
            </a:r>
            <a:r>
              <a:rPr lang="ko-KR" altLang="en-US" dirty="0">
                <a:ea typeface="D2Coding" panose="020B0609020101020101" pitchFamily="49" charset="-127"/>
              </a:rPr>
              <a:t>이제는 ‘해결해야 할 문제</a:t>
            </a:r>
            <a:r>
              <a:rPr lang="en-US" altLang="ko-KR" dirty="0">
                <a:ea typeface="D2Coding" panose="020B0609020101020101" pitchFamily="49" charset="-127"/>
              </a:rPr>
              <a:t>(</a:t>
            </a:r>
            <a:r>
              <a:rPr lang="ko-KR" altLang="en-US" dirty="0">
                <a:ea typeface="D2Coding" panose="020B0609020101020101" pitchFamily="49" charset="-127"/>
              </a:rPr>
              <a:t>전체 그림</a:t>
            </a:r>
            <a:r>
              <a:rPr lang="en-US" altLang="ko-KR" dirty="0">
                <a:ea typeface="D2Coding" panose="020B0609020101020101" pitchFamily="49" charset="-127"/>
              </a:rPr>
              <a:t>)’</a:t>
            </a:r>
            <a:r>
              <a:rPr lang="ko-KR" altLang="en-US" dirty="0">
                <a:ea typeface="D2Coding" panose="020B0609020101020101" pitchFamily="49" charset="-127"/>
              </a:rPr>
              <a:t>를 먼저 정의하고</a:t>
            </a:r>
            <a:r>
              <a:rPr lang="en-US" altLang="ko-KR" dirty="0">
                <a:ea typeface="D2Coding" panose="020B0609020101020101" pitchFamily="49" charset="-127"/>
              </a:rPr>
              <a:t>, </a:t>
            </a:r>
            <a:r>
              <a:rPr lang="ko-KR" altLang="en-US" dirty="0">
                <a:ea typeface="D2Coding" panose="020B0609020101020101" pitchFamily="49" charset="-127"/>
              </a:rPr>
              <a:t>이를 해결하기 위해 거꾸로 세부적인 내용을 파고드는 방식이 필요</a:t>
            </a:r>
            <a:endParaRPr lang="en-US" altLang="ko-KR" dirty="0">
              <a:ea typeface="D2Coding" panose="020B0609020101020101" pitchFamily="49" charset="-127"/>
            </a:endParaRPr>
          </a:p>
          <a:p>
            <a:pPr lvl="1">
              <a:lnSpc>
                <a:spcPct val="150000"/>
              </a:lnSpc>
            </a:pPr>
            <a:endParaRPr lang="en-US" altLang="ko-KR" dirty="0"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4204750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0144B-11B1-5727-DE61-A49F2B51A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40F5225-70BC-C91D-B5E2-7FCF801AC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45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B21698-6850-899C-67AF-369F9BA02093}"/>
              </a:ext>
            </a:extLst>
          </p:cNvPr>
          <p:cNvSpPr txBox="1"/>
          <p:nvPr/>
        </p:nvSpPr>
        <p:spPr>
          <a:xfrm>
            <a:off x="569228" y="812922"/>
            <a:ext cx="11241772" cy="4341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800" dirty="0">
                <a:ea typeface="D2Coding" panose="020B0609020101020101" pitchFamily="49" charset="-127"/>
              </a:rPr>
              <a:t> LLM(</a:t>
            </a:r>
            <a:r>
              <a:rPr lang="ko-KR" altLang="en-US" sz="2800" dirty="0">
                <a:ea typeface="D2Coding" panose="020B0609020101020101" pitchFamily="49" charset="-127"/>
              </a:rPr>
              <a:t>인공지능</a:t>
            </a:r>
            <a:r>
              <a:rPr lang="en-US" altLang="ko-KR" sz="2800" dirty="0">
                <a:ea typeface="D2Coding" panose="020B0609020101020101" pitchFamily="49" charset="-127"/>
              </a:rPr>
              <a:t>)</a:t>
            </a:r>
            <a:r>
              <a:rPr lang="ko-KR" altLang="en-US" sz="2800" dirty="0">
                <a:ea typeface="D2Coding" panose="020B0609020101020101" pitchFamily="49" charset="-127"/>
              </a:rPr>
              <a:t>의 역할 변화</a:t>
            </a:r>
            <a:endParaRPr lang="en-US" altLang="ko-KR" sz="2800" dirty="0"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2000" dirty="0"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ea typeface="D2Coding" panose="020B0609020101020101" pitchFamily="49" charset="-127"/>
              </a:rPr>
              <a:t>‘</a:t>
            </a:r>
            <a:r>
              <a:rPr lang="ko-KR" altLang="en-US" sz="2000" dirty="0" err="1">
                <a:ea typeface="D2Coding" panose="020B0609020101020101" pitchFamily="49" charset="-127"/>
              </a:rPr>
              <a:t>해답지’가</a:t>
            </a:r>
            <a:r>
              <a:rPr lang="ko-KR" altLang="en-US" sz="2000" dirty="0">
                <a:ea typeface="D2Coding" panose="020B0609020101020101" pitchFamily="49" charset="-127"/>
              </a:rPr>
              <a:t> 아닌 ‘드릴</a:t>
            </a:r>
            <a:r>
              <a:rPr lang="en-US" altLang="ko-KR" sz="2000" dirty="0">
                <a:ea typeface="D2Coding" panose="020B0609020101020101" pitchFamily="49" charset="-127"/>
              </a:rPr>
              <a:t>(Drill)’- </a:t>
            </a:r>
            <a:r>
              <a:rPr lang="ko-KR" altLang="en-US" sz="2000" dirty="0">
                <a:ea typeface="D2Coding" panose="020B0609020101020101" pitchFamily="49" charset="-127"/>
              </a:rPr>
              <a:t>과거처럼 교수나 강사에게 의존할 필요가 없어졌음</a:t>
            </a:r>
            <a:endParaRPr lang="en-US" altLang="ko-KR" sz="2000" dirty="0"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2000" dirty="0">
              <a:ea typeface="D2Coding" panose="020B0609020101020101" pitchFamily="49" charset="-127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ea typeface="D2Coding" panose="020B0609020101020101" pitchFamily="49" charset="-127"/>
              </a:rPr>
              <a:t>LLM</a:t>
            </a:r>
            <a:r>
              <a:rPr lang="ko-KR" altLang="en-US" sz="2000" dirty="0">
                <a:ea typeface="D2Coding" panose="020B0609020101020101" pitchFamily="49" charset="-127"/>
              </a:rPr>
              <a:t>에게 단순히 답을 달라고 요청하는 것에 그치지 않고</a:t>
            </a:r>
            <a:r>
              <a:rPr lang="en-US" altLang="ko-KR" sz="2000" dirty="0">
                <a:ea typeface="D2Coding" panose="020B0609020101020101" pitchFamily="49" charset="-127"/>
              </a:rPr>
              <a:t>, 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2000" dirty="0">
              <a:ea typeface="D2Coding" panose="020B0609020101020101" pitchFamily="49" charset="-127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>
                <a:ea typeface="D2Coding" panose="020B0609020101020101" pitchFamily="49" charset="-127"/>
              </a:rPr>
              <a:t>질문을 끊임없이 세분화</a:t>
            </a:r>
            <a:r>
              <a:rPr lang="en-US" altLang="ko-KR" sz="2000" dirty="0">
                <a:ea typeface="D2Coding" panose="020B0609020101020101" pitchFamily="49" charset="-127"/>
              </a:rPr>
              <a:t>(Drill down)</a:t>
            </a:r>
            <a:r>
              <a:rPr lang="ko-KR" altLang="en-US" sz="2000" dirty="0">
                <a:ea typeface="D2Coding" panose="020B0609020101020101" pitchFamily="49" charset="-127"/>
              </a:rPr>
              <a:t>하며</a:t>
            </a:r>
            <a:r>
              <a:rPr lang="en-US" altLang="ko-KR" sz="2000" dirty="0">
                <a:ea typeface="D2Coding" panose="020B0609020101020101" pitchFamily="49" charset="-127"/>
              </a:rPr>
              <a:t>,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2000" dirty="0">
              <a:ea typeface="D2Coding" panose="020B0609020101020101" pitchFamily="49" charset="-127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>
                <a:ea typeface="D2Coding" panose="020B0609020101020101" pitchFamily="49" charset="-127"/>
              </a:rPr>
              <a:t>질문하는 과정을 통해 전체 프로세스를 스스로 이해해 나가는 것</a:t>
            </a:r>
          </a:p>
        </p:txBody>
      </p:sp>
    </p:spTree>
    <p:extLst>
      <p:ext uri="{BB962C8B-B14F-4D97-AF65-F5344CB8AC3E}">
        <p14:creationId xmlns:p14="http://schemas.microsoft.com/office/powerpoint/2010/main" val="5675692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BBC28-E343-3EC9-71CA-AB663FCF5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90A8C696-895D-C6E6-C9DA-9817BB984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+mn-lt"/>
                <a:cs typeface="Times New Roman" panose="02020603050405020304" pitchFamily="18" charset="0"/>
              </a:rPr>
              <a:t>Problem</a:t>
            </a:r>
            <a:endParaRPr lang="ko-KR" altLang="en-US" b="1" cap="none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3E0D118D-6E80-4688-6D49-D2D08A8D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46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내용 개체 틀 2">
                <a:extLst>
                  <a:ext uri="{FF2B5EF4-FFF2-40B4-BE49-F238E27FC236}">
                    <a16:creationId xmlns:a16="http://schemas.microsoft.com/office/drawing/2014/main" id="{5B11978B-6E15-7CB6-94B3-05A4B5D0B4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14608" y="1261578"/>
                <a:ext cx="10962783" cy="2386497"/>
              </a:xfrm>
            </p:spPr>
            <p:txBody>
              <a:bodyPr>
                <a:norm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ko-KR" altLang="en-US" dirty="0">
                    <a:latin typeface="+mn-lt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지름이 </a:t>
                </a:r>
                <a:r>
                  <a:rPr lang="en-US" altLang="ko-KR" dirty="0">
                    <a:latin typeface="+mn-lt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1</a:t>
                </a:r>
                <a:r>
                  <a:rPr lang="ko-KR" altLang="en-US" dirty="0">
                    <a:latin typeface="+mn-lt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인 원이 존재하며 그 둘레를 </a:t>
                </a:r>
                <a14:m>
                  <m:oMath xmlns:m="http://schemas.openxmlformats.org/officeDocument/2006/math">
                    <m:r>
                      <a:rPr lang="en-US" altLang="ko-KR" i="1" dirty="0">
                        <a:latin typeface="+mn-lt"/>
                      </a:rPr>
                      <m:t>𝜋</m:t>
                    </m:r>
                  </m:oMath>
                </a14:m>
                <a:r>
                  <a:rPr lang="en-US" altLang="ko-KR" dirty="0">
                    <a:latin typeface="+mn-lt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:r>
                  <a:rPr lang="ko-KR" altLang="en-US" dirty="0">
                    <a:latin typeface="+mn-lt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라고</a:t>
                </a:r>
                <a:r>
                  <a:rPr lang="en-US" altLang="ko-KR" dirty="0">
                    <a:latin typeface="+mn-lt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:r>
                  <a:rPr lang="ko-KR" altLang="en-US" dirty="0">
                    <a:latin typeface="+mn-lt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한다</a:t>
                </a:r>
                <a:endParaRPr lang="en-US" altLang="ko-KR" dirty="0">
                  <a:latin typeface="+mn-lt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ko-KR" altLang="en-US" dirty="0">
                    <a:latin typeface="+mn-lt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피타고라스 정리를 이용한 두 점사이의 거리</a:t>
                </a:r>
                <a:r>
                  <a:rPr lang="en-US" altLang="ko-KR" dirty="0">
                    <a:latin typeface="+mn-lt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(L2)</a:t>
                </a:r>
                <a:r>
                  <a:rPr lang="ko-KR" altLang="en-US" dirty="0">
                    <a:latin typeface="+mn-lt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이외 어떠한 수학공식</a:t>
                </a:r>
                <a:r>
                  <a:rPr lang="en-US" altLang="ko-KR" dirty="0">
                    <a:latin typeface="+mn-lt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 </a:t>
                </a:r>
                <a:r>
                  <a:rPr lang="ko-KR" altLang="en-US" dirty="0">
                    <a:latin typeface="+mn-lt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함수는 사용하지 않고</a:t>
                </a:r>
                <a:endParaRPr lang="en-US" altLang="ko-KR" dirty="0">
                  <a:latin typeface="+mn-lt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14:m>
                  <m:oMath xmlns:m="http://schemas.openxmlformats.org/officeDocument/2006/math">
                    <m:r>
                      <a:rPr lang="en-US" altLang="ko-KR" i="1" dirty="0">
                        <a:latin typeface="+mn-lt"/>
                      </a:rPr>
                      <m:t>𝜋</m:t>
                    </m:r>
                  </m:oMath>
                </a14:m>
                <a:r>
                  <a:rPr lang="en-US" altLang="ko-KR" dirty="0">
                    <a:latin typeface="+mn-lt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</a:t>
                </a:r>
                <a:r>
                  <a:rPr lang="ko-KR" altLang="en-US" dirty="0">
                    <a:latin typeface="+mn-lt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원주율</a:t>
                </a:r>
                <a:r>
                  <a:rPr lang="en-US" altLang="ko-KR" dirty="0">
                    <a:latin typeface="+mn-lt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dirty="0">
                    <a:latin typeface="+mn-lt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를 구하는 코드를 제시하고 토론하라</a:t>
                </a:r>
                <a:endParaRPr lang="en-US" altLang="ko-KR" dirty="0">
                  <a:latin typeface="+mn-lt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</p:txBody>
          </p:sp>
        </mc:Choice>
        <mc:Fallback>
          <p:sp>
            <p:nvSpPr>
              <p:cNvPr id="7" name="내용 개체 틀 2">
                <a:extLst>
                  <a:ext uri="{FF2B5EF4-FFF2-40B4-BE49-F238E27FC236}">
                    <a16:creationId xmlns:a16="http://schemas.microsoft.com/office/drawing/2014/main" id="{5B11978B-6E15-7CB6-94B3-05A4B5D0B4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4608" y="1261578"/>
                <a:ext cx="10962783" cy="2386497"/>
              </a:xfrm>
              <a:blipFill>
                <a:blip r:embed="rId2"/>
                <a:stretch>
                  <a:fillRect l="-2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그룹 18">
            <a:extLst>
              <a:ext uri="{FF2B5EF4-FFF2-40B4-BE49-F238E27FC236}">
                <a16:creationId xmlns:a16="http://schemas.microsoft.com/office/drawing/2014/main" id="{09579038-E13D-D991-40D1-55EA84023D52}"/>
              </a:ext>
            </a:extLst>
          </p:cNvPr>
          <p:cNvGrpSpPr/>
          <p:nvPr/>
        </p:nvGrpSpPr>
        <p:grpSpPr>
          <a:xfrm>
            <a:off x="6362700" y="4076700"/>
            <a:ext cx="1266825" cy="1266825"/>
            <a:chOff x="7572375" y="3219450"/>
            <a:chExt cx="1266825" cy="1266825"/>
          </a:xfrm>
        </p:grpSpPr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AB6EF399-39DC-FDA3-9D9A-860347DEA39F}"/>
                </a:ext>
              </a:extLst>
            </p:cNvPr>
            <p:cNvSpPr/>
            <p:nvPr/>
          </p:nvSpPr>
          <p:spPr>
            <a:xfrm>
              <a:off x="7572375" y="3219450"/>
              <a:ext cx="1266825" cy="1266825"/>
            </a:xfrm>
            <a:prstGeom prst="ellipse">
              <a:avLst/>
            </a:prstGeom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C76968DB-6CB1-FCCB-4542-56E86B63398F}"/>
                </a:ext>
              </a:extLst>
            </p:cNvPr>
            <p:cNvCxnSpPr>
              <a:stCxn id="20" idx="0"/>
              <a:endCxn id="20" idx="4"/>
            </p:cNvCxnSpPr>
            <p:nvPr/>
          </p:nvCxnSpPr>
          <p:spPr>
            <a:xfrm>
              <a:off x="8205788" y="3219450"/>
              <a:ext cx="0" cy="1266825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752005EC-171E-A258-B6A3-337E6C4D4009}"/>
              </a:ext>
            </a:extLst>
          </p:cNvPr>
          <p:cNvCxnSpPr>
            <a:cxnSpLocks/>
            <a:stCxn id="20" idx="4"/>
          </p:cNvCxnSpPr>
          <p:nvPr/>
        </p:nvCxnSpPr>
        <p:spPr>
          <a:xfrm flipH="1">
            <a:off x="2800350" y="5343525"/>
            <a:ext cx="4195763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0B46FFD-A1C4-3EF1-AA5F-BA30250E559F}"/>
              </a:ext>
            </a:extLst>
          </p:cNvPr>
          <p:cNvSpPr txBox="1"/>
          <p:nvPr/>
        </p:nvSpPr>
        <p:spPr>
          <a:xfrm>
            <a:off x="3486150" y="5486400"/>
            <a:ext cx="3438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3.142857…… </a:t>
            </a:r>
            <a:r>
              <a:rPr lang="ko-KR" altLang="en-US" dirty="0" err="1"/>
              <a:t>무한소수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8D498B4-E8BE-C00F-62B5-AD3BC19E47AF}"/>
              </a:ext>
            </a:extLst>
          </p:cNvPr>
          <p:cNvSpPr txBox="1"/>
          <p:nvPr/>
        </p:nvSpPr>
        <p:spPr>
          <a:xfrm>
            <a:off x="7781925" y="4525446"/>
            <a:ext cx="11525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지름 </a:t>
            </a:r>
            <a:r>
              <a:rPr lang="en-US" altLang="ko-KR" dirty="0"/>
              <a:t>= 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1186530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FC214-9933-926A-13AA-0354966F2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F7082A12-E8F3-58A3-ACF8-CED699B7F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+mn-lt"/>
                <a:cs typeface="Times New Roman" panose="02020603050405020304" pitchFamily="18" charset="0"/>
              </a:rPr>
              <a:t>Solving</a:t>
            </a:r>
            <a:endParaRPr lang="ko-KR" altLang="en-US" b="1" cap="none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E6B4DB0A-17C7-A23E-2C07-5A3B447A2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47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7242DE-AAA7-83AF-EDD0-651EF4E51900}"/>
              </a:ext>
            </a:extLst>
          </p:cNvPr>
          <p:cNvSpPr txBox="1"/>
          <p:nvPr/>
        </p:nvSpPr>
        <p:spPr>
          <a:xfrm>
            <a:off x="990599" y="1344971"/>
            <a:ext cx="6619875" cy="4486485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epsilon = 0.000001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r = 0.5</a:t>
            </a:r>
          </a:p>
          <a:p>
            <a:pPr>
              <a:lnSpc>
                <a:spcPct val="150000"/>
              </a:lnSpc>
            </a:pP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total_distance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0.0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x = r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while x &gt; 0.0: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x_next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max(x - epsilon, 0.0)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y1 = (r**2 - x**2) ** 0.5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y2 = (r**2 -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x_next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**2) ** 0.5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#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피타고라스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두 점 사이 거리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total_distance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+= ((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x_next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- x)**2 + (y2 - y1)**2) ** 0.5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x =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x_next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print(f"</a:t>
            </a:r>
            <a:r>
              <a:rPr lang="el-G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π ≈ {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total_distance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* 4 / (2 * r):.10f}")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36C5AAAD-1C32-4FE1-C2CC-B9A0966AE0F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677150" y="1344971"/>
            <a:ext cx="4273607" cy="3970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18121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7FDEB-CDDB-D0A9-2A5B-3FFD965F7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D436641B-9AE8-519F-D7B0-96174191A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48</a:t>
            </a:fld>
            <a:endParaRPr 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94030CA-C024-2A23-DD02-E8ED5196A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1723" y="2030475"/>
            <a:ext cx="6305501" cy="34845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12D4ED3-C7F5-B87F-9AA4-5D73571580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257" y="2030475"/>
            <a:ext cx="5351493" cy="419675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2024A35-FAB5-9493-A5DE-13A88C9BD303}"/>
              </a:ext>
            </a:extLst>
          </p:cNvPr>
          <p:cNvSpPr txBox="1"/>
          <p:nvPr/>
        </p:nvSpPr>
        <p:spPr>
          <a:xfrm>
            <a:off x="258780" y="1501566"/>
            <a:ext cx="30082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Project</a:t>
            </a:r>
            <a:r>
              <a:rPr lang="ko-KR" altLang="en-US" sz="18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8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Requirement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3F3B2A-853C-F45E-E8C3-E8ED3B2ABB4E}"/>
              </a:ext>
            </a:extLst>
          </p:cNvPr>
          <p:cNvSpPr txBox="1"/>
          <p:nvPr/>
        </p:nvSpPr>
        <p:spPr>
          <a:xfrm>
            <a:off x="5781723" y="1501566"/>
            <a:ext cx="30082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Service Application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9ADA5CC5-279D-64A4-5147-45F390EE3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Portfiolio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FE3B3374-0C4F-409F-8BF3-E9F74C2991EC}"/>
              </a:ext>
            </a:extLst>
          </p:cNvPr>
          <p:cNvCxnSpPr/>
          <p:nvPr/>
        </p:nvCxnSpPr>
        <p:spPr>
          <a:xfrm>
            <a:off x="3686175" y="1676400"/>
            <a:ext cx="13430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224007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B4E89-EF77-7510-7897-50C008AF3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929049AF-BF23-FF40-760F-AC7A2EE85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49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48F925-BA02-81C1-9AD3-DA6D6A6181E3}"/>
              </a:ext>
            </a:extLst>
          </p:cNvPr>
          <p:cNvSpPr txBox="1"/>
          <p:nvPr/>
        </p:nvSpPr>
        <p:spPr>
          <a:xfrm>
            <a:off x="781050" y="890660"/>
            <a:ext cx="1062990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2800" i="0" dirty="0">
                <a:effectLst/>
                <a:ea typeface="D2Coding" panose="020B0609020101020101" pitchFamily="49" charset="-127"/>
              </a:rPr>
              <a:t>학교 교육의 변화</a:t>
            </a:r>
            <a:endParaRPr lang="en-US" altLang="ko-KR" sz="2000" i="0" dirty="0">
              <a:effectLst/>
              <a:ea typeface="D2Coding" panose="020B0609020101020101" pitchFamily="49" charset="-127"/>
            </a:endParaRPr>
          </a:p>
          <a:p>
            <a:pPr marL="285750" indent="-285750" algn="l">
              <a:buFont typeface="Wingdings" panose="05000000000000000000" pitchFamily="2" charset="2"/>
              <a:buChar char="v"/>
            </a:pPr>
            <a:endParaRPr lang="en-US" altLang="ko-KR" sz="2000" i="0" dirty="0">
              <a:effectLst/>
              <a:ea typeface="D2Coding" panose="020B0609020101020101" pitchFamily="49" charset="-127"/>
            </a:endParaRPr>
          </a:p>
          <a:p>
            <a:pPr lvl="1"/>
            <a:r>
              <a:rPr lang="ko-KR" altLang="en-US" sz="2000" i="0" dirty="0">
                <a:effectLst/>
                <a:ea typeface="D2Coding" panose="020B0609020101020101" pitchFamily="49" charset="-127"/>
              </a:rPr>
              <a:t> </a:t>
            </a:r>
            <a:endParaRPr lang="en-US" altLang="ko-KR" sz="2000" i="0" dirty="0">
              <a:effectLst/>
              <a:ea typeface="D2Coding" panose="020B0609020101020101" pitchFamily="49" charset="-127"/>
            </a:endParaRP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ko-KR" altLang="en-US" sz="2000" i="0" dirty="0">
                <a:effectLst/>
                <a:ea typeface="D2Coding" panose="020B0609020101020101" pitchFamily="49" charset="-127"/>
              </a:rPr>
              <a:t> 단순 실습형 수업보다 프로젝트형 수업이 증가</a:t>
            </a:r>
            <a:endParaRPr lang="en-US" altLang="ko-KR" sz="2000" i="0" dirty="0">
              <a:effectLst/>
              <a:ea typeface="D2Coding" panose="020B0609020101020101" pitchFamily="49" charset="-127"/>
            </a:endParaRPr>
          </a:p>
          <a:p>
            <a:pPr marL="742950" lvl="1" indent="-285750">
              <a:buFont typeface="Wingdings" panose="05000000000000000000" pitchFamily="2" charset="2"/>
              <a:buChar char="v"/>
            </a:pPr>
            <a:endParaRPr lang="en-US" altLang="ko-KR" sz="2000" i="0" dirty="0">
              <a:effectLst/>
              <a:ea typeface="D2Coding" panose="020B0609020101020101" pitchFamily="49" charset="-127"/>
            </a:endParaRP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ko-KR" altLang="en-US" sz="2000" i="0" dirty="0">
                <a:effectLst/>
                <a:ea typeface="D2Coding" panose="020B0609020101020101" pitchFamily="49" charset="-127"/>
              </a:rPr>
              <a:t> 자격증 </a:t>
            </a:r>
            <a:r>
              <a:rPr lang="ko-KR" altLang="en-US" sz="2000" dirty="0" err="1">
                <a:ea typeface="D2Coding" panose="020B0609020101020101" pitchFamily="49" charset="-127"/>
              </a:rPr>
              <a:t>확득뿐만아니라</a:t>
            </a:r>
            <a:r>
              <a:rPr lang="ko-KR" altLang="en-US" sz="2000" i="0" dirty="0">
                <a:effectLst/>
                <a:ea typeface="D2Coding" panose="020B0609020101020101" pitchFamily="49" charset="-127"/>
              </a:rPr>
              <a:t> 포트폴리오 중심으로 변환</a:t>
            </a:r>
            <a:endParaRPr lang="en-US" altLang="ko-KR" sz="2000" i="0" dirty="0">
              <a:effectLst/>
              <a:ea typeface="D2Coding" panose="020B0609020101020101" pitchFamily="49" charset="-127"/>
            </a:endParaRPr>
          </a:p>
          <a:p>
            <a:pPr marL="742950" lvl="1" indent="-285750">
              <a:buFont typeface="Wingdings" panose="05000000000000000000" pitchFamily="2" charset="2"/>
              <a:buChar char="v"/>
            </a:pPr>
            <a:endParaRPr lang="en-US" altLang="ko-KR" sz="2000" i="0" dirty="0">
              <a:effectLst/>
              <a:ea typeface="D2Coding" panose="020B0609020101020101" pitchFamily="49" charset="-127"/>
            </a:endParaRP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altLang="ko-KR" sz="2000" i="0" dirty="0">
                <a:effectLst/>
                <a:ea typeface="D2Coding" panose="020B0609020101020101" pitchFamily="49" charset="-127"/>
              </a:rPr>
              <a:t> AI</a:t>
            </a:r>
            <a:r>
              <a:rPr lang="ko-KR" altLang="en-US" sz="2000" i="0" dirty="0">
                <a:effectLst/>
                <a:ea typeface="D2Coding" panose="020B0609020101020101" pitchFamily="49" charset="-127"/>
              </a:rPr>
              <a:t>를 배우는 과목이 아니라</a:t>
            </a:r>
            <a:r>
              <a:rPr lang="en-US" altLang="ko-KR" sz="2000" i="0" dirty="0">
                <a:effectLst/>
                <a:ea typeface="D2Coding" panose="020B0609020101020101" pitchFamily="49" charset="-127"/>
              </a:rPr>
              <a:t>, </a:t>
            </a:r>
            <a:r>
              <a:rPr lang="ko-KR" altLang="en-US" sz="2000" i="0" dirty="0">
                <a:effectLst/>
                <a:ea typeface="D2Coding" panose="020B0609020101020101" pitchFamily="49" charset="-127"/>
              </a:rPr>
              <a:t>전공 도구로 쓰는 방식이 중요</a:t>
            </a:r>
            <a:endParaRPr lang="en-US" altLang="ko-KR" sz="2000" i="0" dirty="0">
              <a:effectLst/>
              <a:ea typeface="D2Coding" panose="020B0609020101020101" pitchFamily="49" charset="-127"/>
            </a:endParaRPr>
          </a:p>
          <a:p>
            <a:pPr marL="742950" lvl="1" indent="-285750">
              <a:buFont typeface="Wingdings" panose="05000000000000000000" pitchFamily="2" charset="2"/>
              <a:buChar char="v"/>
            </a:pPr>
            <a:endParaRPr lang="en-US" altLang="ko-KR" sz="2000" i="0" dirty="0">
              <a:effectLst/>
              <a:ea typeface="D2Coding" panose="020B0609020101020101" pitchFamily="49" charset="-127"/>
            </a:endParaRP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ko-KR" altLang="en-US" sz="2000" i="0" dirty="0">
                <a:effectLst/>
                <a:ea typeface="D2Coding" panose="020B0609020101020101" pitchFamily="49" charset="-127"/>
              </a:rPr>
              <a:t> 학생들은 졸업 전에 실제 산업 문제를 다뤄보는 경험이 더 중요</a:t>
            </a:r>
            <a:endParaRPr lang="ko-KR" altLang="en-US" sz="2000" dirty="0">
              <a:ea typeface="D2Coding" panose="020B0609020101020101" pitchFamily="49" charset="-127"/>
            </a:endParaRPr>
          </a:p>
        </p:txBody>
      </p:sp>
      <p:sp>
        <p:nvSpPr>
          <p:cNvPr id="6" name="화살표: 줄무늬가 있는 오른쪽 5">
            <a:extLst>
              <a:ext uri="{FF2B5EF4-FFF2-40B4-BE49-F238E27FC236}">
                <a16:creationId xmlns:a16="http://schemas.microsoft.com/office/drawing/2014/main" id="{0EB16B75-718F-9431-616D-6F7B9BF7801C}"/>
              </a:ext>
            </a:extLst>
          </p:cNvPr>
          <p:cNvSpPr/>
          <p:nvPr/>
        </p:nvSpPr>
        <p:spPr>
          <a:xfrm>
            <a:off x="1762125" y="4696790"/>
            <a:ext cx="8210550" cy="1562100"/>
          </a:xfrm>
          <a:prstGeom prst="stripedRightArrow">
            <a:avLst>
              <a:gd name="adj1" fmla="val 63415"/>
              <a:gd name="adj2" fmla="val 50000"/>
            </a:avLst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ea typeface="D2Coding" panose="020B0609020101020101" pitchFamily="49" charset="-127"/>
              </a:rPr>
              <a:t>기술을 배우는 방식에서 </a:t>
            </a:r>
            <a:endParaRPr lang="en-US" altLang="ko-KR" sz="2000" b="1" dirty="0">
              <a:ea typeface="D2Coding" panose="020B0609020101020101" pitchFamily="49" charset="-127"/>
            </a:endParaRPr>
          </a:p>
          <a:p>
            <a:pPr algn="ctr"/>
            <a:r>
              <a:rPr lang="ko-KR" altLang="en-US" sz="2000" b="1" dirty="0">
                <a:ea typeface="D2Coding" panose="020B0609020101020101" pitchFamily="49" charset="-127"/>
              </a:rPr>
              <a:t>기술과 </a:t>
            </a:r>
            <a:r>
              <a:rPr lang="en-US" altLang="ko-KR" sz="2000" b="1" dirty="0">
                <a:ea typeface="D2Coding" panose="020B0609020101020101" pitchFamily="49" charset="-127"/>
              </a:rPr>
              <a:t>AI</a:t>
            </a:r>
            <a:r>
              <a:rPr lang="ko-KR" altLang="en-US" sz="2000" b="1" dirty="0">
                <a:ea typeface="D2Coding" panose="020B0609020101020101" pitchFamily="49" charset="-127"/>
              </a:rPr>
              <a:t>를 함께 써서 문제를 해결</a:t>
            </a:r>
          </a:p>
        </p:txBody>
      </p:sp>
    </p:spTree>
    <p:extLst>
      <p:ext uri="{BB962C8B-B14F-4D97-AF65-F5344CB8AC3E}">
        <p14:creationId xmlns:p14="http://schemas.microsoft.com/office/powerpoint/2010/main" val="68463755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692B3-6F02-46C2-49C0-11A41DF9D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보라색 배경에 반짝이는 물음표">
            <a:extLst>
              <a:ext uri="{FF2B5EF4-FFF2-40B4-BE49-F238E27FC236}">
                <a16:creationId xmlns:a16="http://schemas.microsoft.com/office/drawing/2014/main" id="{487366F4-0611-BF9B-FAFB-7298B56498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3900" y="1343025"/>
            <a:ext cx="3124200" cy="3905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16654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이온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6764</TotalTime>
  <Words>1889</Words>
  <Application>Microsoft Office PowerPoint</Application>
  <PresentationFormat>와이드스크린</PresentationFormat>
  <Paragraphs>334</Paragraphs>
  <Slides>50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50</vt:i4>
      </vt:variant>
    </vt:vector>
  </HeadingPairs>
  <TitlesOfParts>
    <vt:vector size="63" baseType="lpstr">
      <vt:lpstr>D2Coding</vt:lpstr>
      <vt:lpstr>Helvetica Neue</vt:lpstr>
      <vt:lpstr>맑은 고딕</vt:lpstr>
      <vt:lpstr>맑은 고딕 Semilight</vt:lpstr>
      <vt:lpstr>한컴 고딕</vt:lpstr>
      <vt:lpstr>한컴 말랑말랑 Bold</vt:lpstr>
      <vt:lpstr>Arial</vt:lpstr>
      <vt:lpstr>Century Gothic</vt:lpstr>
      <vt:lpstr>Tahoma</vt:lpstr>
      <vt:lpstr>Times New Roman</vt:lpstr>
      <vt:lpstr>Wingdings</vt:lpstr>
      <vt:lpstr>Wingdings 3</vt:lpstr>
      <vt:lpstr>이온</vt:lpstr>
      <vt:lpstr>AI 역량강화</vt:lpstr>
      <vt:lpstr>Contents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Contents</vt:lpstr>
      <vt:lpstr>PowerPoint 프레젠테이션</vt:lpstr>
      <vt:lpstr>AI Literacy</vt:lpstr>
      <vt:lpstr>Contents</vt:lpstr>
      <vt:lpstr>PowerPoint 프레젠테이션</vt:lpstr>
      <vt:lpstr>PowerPoint 프레젠테이션</vt:lpstr>
      <vt:lpstr>PowerPoint 프레젠테이션</vt:lpstr>
      <vt:lpstr>How to classify ?</vt:lpstr>
      <vt:lpstr>Supervised Learning(지도학습) </vt:lpstr>
      <vt:lpstr>Unsupervised Learning(비지도학습)</vt:lpstr>
      <vt:lpstr>Deep Learning </vt:lpstr>
      <vt:lpstr>PowerPoint 프레젠테이션</vt:lpstr>
      <vt:lpstr>Image Segmentation </vt:lpstr>
      <vt:lpstr>Image Segmentation </vt:lpstr>
      <vt:lpstr>PowerPoint 프레젠테이션</vt:lpstr>
      <vt:lpstr>PowerPoint 프레젠테이션</vt:lpstr>
      <vt:lpstr>Generate Face Image  </vt:lpstr>
      <vt:lpstr>Contents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Contents</vt:lpstr>
      <vt:lpstr>PowerPoint 프레젠테이션</vt:lpstr>
      <vt:lpstr>PowerPoint 프레젠테이션</vt:lpstr>
      <vt:lpstr>PowerPoint 프레젠테이션</vt:lpstr>
      <vt:lpstr>Contents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Problem</vt:lpstr>
      <vt:lpstr>Solving</vt:lpstr>
      <vt:lpstr>Portfiolio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Sanggoo Cho</dc:creator>
  <cp:lastModifiedBy>Sanggoo Cho</cp:lastModifiedBy>
  <cp:revision>97</cp:revision>
  <dcterms:created xsi:type="dcterms:W3CDTF">2026-04-11T22:24:40Z</dcterms:created>
  <dcterms:modified xsi:type="dcterms:W3CDTF">2026-06-24T00:49:48Z</dcterms:modified>
</cp:coreProperties>
</file>