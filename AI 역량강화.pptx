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7"/>
  </p:notesMasterIdLst>
  <p:sldIdLst>
    <p:sldId id="256" r:id="rId2"/>
    <p:sldId id="435" r:id="rId3"/>
    <p:sldId id="406" r:id="rId4"/>
    <p:sldId id="437" r:id="rId5"/>
    <p:sldId id="448" r:id="rId6"/>
    <p:sldId id="449" r:id="rId7"/>
    <p:sldId id="439" r:id="rId8"/>
    <p:sldId id="443" r:id="rId9"/>
    <p:sldId id="404" r:id="rId10"/>
    <p:sldId id="405" r:id="rId11"/>
    <p:sldId id="444" r:id="rId12"/>
    <p:sldId id="380" r:id="rId13"/>
    <p:sldId id="381" r:id="rId14"/>
    <p:sldId id="399" r:id="rId15"/>
    <p:sldId id="388" r:id="rId16"/>
    <p:sldId id="389" r:id="rId17"/>
    <p:sldId id="441" r:id="rId18"/>
    <p:sldId id="385" r:id="rId19"/>
    <p:sldId id="440" r:id="rId20"/>
    <p:sldId id="396" r:id="rId21"/>
    <p:sldId id="434" r:id="rId22"/>
    <p:sldId id="445" r:id="rId23"/>
    <p:sldId id="401" r:id="rId24"/>
    <p:sldId id="433" r:id="rId25"/>
    <p:sldId id="382" r:id="rId26"/>
    <p:sldId id="450" r:id="rId27"/>
    <p:sldId id="451" r:id="rId28"/>
    <p:sldId id="432" r:id="rId29"/>
    <p:sldId id="407" r:id="rId30"/>
    <p:sldId id="379" r:id="rId31"/>
    <p:sldId id="397" r:id="rId32"/>
    <p:sldId id="452" r:id="rId33"/>
    <p:sldId id="446" r:id="rId34"/>
    <p:sldId id="421" r:id="rId35"/>
    <p:sldId id="410" r:id="rId36"/>
    <p:sldId id="422" r:id="rId37"/>
    <p:sldId id="447" r:id="rId38"/>
    <p:sldId id="411" r:id="rId39"/>
    <p:sldId id="362" r:id="rId40"/>
    <p:sldId id="307" r:id="rId41"/>
    <p:sldId id="425" r:id="rId42"/>
    <p:sldId id="424" r:id="rId43"/>
    <p:sldId id="423" r:id="rId44"/>
    <p:sldId id="413" r:id="rId45"/>
    <p:sldId id="414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goe.go.kr/goe/na/ntt/selectNttInfo.do?nttSn=2349695&amp;mi=10102&amp;searchAt1=&amp;searchValue1=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jpeg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9VJt085HXY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0.jpeg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hyperlink" Target="https://cs231n.stanford.edu/" TargetMode="Externa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nford-cs131.github.io/winter2025/index.html" TargetMode="Externa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480.png"/><Relationship Id="rId7" Type="http://schemas.openxmlformats.org/officeDocument/2006/relationships/image" Target="../media/image55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10.jpeg"/><Relationship Id="rId4" Type="http://schemas.openxmlformats.org/officeDocument/2006/relationships/image" Target="../media/image49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</a:t>
            </a:r>
            <a:r>
              <a:rPr lang="ko-KR" altLang="en-US" sz="6000" dirty="0">
                <a:solidFill>
                  <a:schemeClr val="tx1"/>
                </a:solidFill>
              </a:rPr>
              <a:t>역량강화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2026.6.24(</a:t>
            </a:r>
            <a:r>
              <a:rPr lang="ko-KR" altLang="en-US" sz="2400" cap="none" dirty="0"/>
              <a:t>수</a:t>
            </a:r>
            <a:r>
              <a:rPr lang="en-US" altLang="ko-KR" sz="2400" cap="none" dirty="0"/>
              <a:t>) </a:t>
            </a:r>
            <a:r>
              <a:rPr lang="ko-KR" altLang="en-US" sz="2400" cap="none" dirty="0"/>
              <a:t>오후 </a:t>
            </a:r>
            <a:r>
              <a:rPr lang="en-US" altLang="ko-KR" sz="2400" cap="none" dirty="0"/>
              <a:t>4</a:t>
            </a:r>
            <a:r>
              <a:rPr lang="ko-KR" altLang="en-US" sz="2400" cap="none" dirty="0"/>
              <a:t>시</a:t>
            </a:r>
            <a:endParaRPr lang="en-US" altLang="ko-KR" sz="2400" cap="none" dirty="0"/>
          </a:p>
          <a:p>
            <a:r>
              <a:rPr lang="ko-KR" altLang="en-US" sz="1800" cap="none" dirty="0"/>
              <a:t>조 상구 교수</a:t>
            </a:r>
            <a:endParaRPr lang="en-US" altLang="ko-KR" sz="1800" cap="none" dirty="0"/>
          </a:p>
          <a:p>
            <a:r>
              <a:rPr lang="ko-KR" altLang="en-US" sz="1800" cap="none" dirty="0"/>
              <a:t>소프트웨어융합과 </a:t>
            </a:r>
            <a:r>
              <a:rPr lang="en-US" altLang="ko-KR" sz="1800" cap="none" dirty="0"/>
              <a:t>AI</a:t>
            </a:r>
            <a:r>
              <a:rPr lang="ko-KR" altLang="en-US" sz="1800" cap="none" dirty="0"/>
              <a:t> 빅데이터 전공 </a:t>
            </a:r>
            <a:endParaRPr lang="en-US" altLang="ko-KR" sz="1800" cap="none" dirty="0"/>
          </a:p>
          <a:p>
            <a:r>
              <a:rPr lang="ko-KR" altLang="en-US" sz="1800" cap="none" dirty="0"/>
              <a:t>경복대학교</a:t>
            </a:r>
            <a:endParaRPr lang="ko-KR" altLang="en-US" sz="2800" cap="none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69EBC4-3B1D-C205-2129-F86BBF26F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시대의 교육 혁신: 리터러시부터 교사의 미래까지</a:t>
            </a: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CCC66CC-0EFF-38FE-0C63-613F04359C1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83530" y="2843152"/>
            <a:ext cx="912942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sz="2800" cap="none" dirty="0">
                <a:solidFill>
                  <a:schemeClr val="tx1"/>
                </a:solidFill>
              </a:rPr>
              <a:t>AI Literacy</a:t>
            </a:r>
            <a:r>
              <a:rPr lang="ko-KR" altLang="en-US" sz="2800" cap="none" dirty="0">
                <a:solidFill>
                  <a:schemeClr val="tx1"/>
                </a:solidFill>
              </a:rPr>
              <a:t> </a:t>
            </a:r>
            <a:r>
              <a:rPr lang="ko-KR" altLang="ko-KR" sz="2800" cap="none" dirty="0">
                <a:solidFill>
                  <a:schemeClr val="tx1"/>
                </a:solidFill>
              </a:rPr>
              <a:t>부터 교사의 미래까지</a:t>
            </a:r>
            <a:r>
              <a:rPr lang="en-US" altLang="ko-KR" sz="2800" cap="none" dirty="0">
                <a:solidFill>
                  <a:schemeClr val="tx1"/>
                </a:solidFill>
              </a:rPr>
              <a:t>(</a:t>
            </a:r>
            <a:r>
              <a:rPr lang="ko-KR" altLang="en-US" sz="2800" cap="none" dirty="0">
                <a:solidFill>
                  <a:schemeClr val="tx1"/>
                </a:solidFill>
              </a:rPr>
              <a:t>남양주고등학교 교사</a:t>
            </a:r>
            <a:r>
              <a:rPr lang="en-US" altLang="ko-KR" sz="2800" cap="none" dirty="0">
                <a:solidFill>
                  <a:schemeClr val="tx1"/>
                </a:solidFill>
              </a:rPr>
              <a:t>)</a:t>
            </a:r>
            <a:endParaRPr lang="ko-KR" altLang="ko-KR" sz="2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52727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1FB41-06FC-9181-5078-05724ECB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F73EBF3-1A71-2838-3A1D-D2845E779EB4}"/>
              </a:ext>
            </a:extLst>
          </p:cNvPr>
          <p:cNvSpPr txBox="1"/>
          <p:nvPr/>
        </p:nvSpPr>
        <p:spPr>
          <a:xfrm>
            <a:off x="381000" y="491418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경기 직업계고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수업이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경력되는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인공지능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(AI)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실무 교육’ 전면 도입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42E9156-6ABF-DCC9-5455-9785699B1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86" y="1173301"/>
            <a:ext cx="10655498" cy="5170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049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7A19A-5EE4-8235-A155-3BCF1889B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ACB920-5461-300B-996D-39D621B9E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652879"/>
            <a:ext cx="6320844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단계적 교육과정 로드맵 적용</a:t>
            </a:r>
            <a:endParaRPr kumimoji="0" lang="en-US" altLang="ko-K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63C4187-B225-55A4-AB88-5EB04DCC50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751966"/>
              </p:ext>
            </p:extLst>
          </p:nvPr>
        </p:nvGraphicFramePr>
        <p:xfrm>
          <a:off x="527631" y="1374139"/>
          <a:ext cx="10636250" cy="495998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11350">
                  <a:extLst>
                    <a:ext uri="{9D8B030D-6E8A-4147-A177-3AD203B41FA5}">
                      <a16:colId xmlns:a16="http://schemas.microsoft.com/office/drawing/2014/main" val="1455536812"/>
                    </a:ext>
                  </a:extLst>
                </a:gridCol>
                <a:gridCol w="8724900">
                  <a:extLst>
                    <a:ext uri="{9D8B030D-6E8A-4147-A177-3AD203B41FA5}">
                      <a16:colId xmlns:a16="http://schemas.microsoft.com/office/drawing/2014/main" val="95339640"/>
                    </a:ext>
                  </a:extLst>
                </a:gridCol>
              </a:tblGrid>
              <a:tr h="3736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실습내용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618959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스마트 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건설자재 관리 웹서비스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자재 입출고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재고 관리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공정 관리 시스템 구축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공사현장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안전수칙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공정관리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자재산출 질의응답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건설현장 안전감시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(CCTV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안전모 착용 및 위험구역 출입 감지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  </a:t>
                      </a:r>
                      <a:endParaRPr lang="en-US" altLang="ko-KR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2747618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건축인테리어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인테리어 포트폴리오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작품 관리 및 전시용 웹사이트 제작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인테리어 상담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요구사항 기반 스타일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색상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가구 추천</a:t>
                      </a:r>
                      <a:endParaRPr lang="en-US" altLang="ko-KR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생성형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리모델링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사진 기반 리모델링 이미지 생성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495835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스마트전기전자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IoT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환경 모니터링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온도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습도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조도 데이터 수집 및 시각화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설비관리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설비 매뉴얼 검색 및 고장 진단 지원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설비 고장 예측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활용한 이상 탐지 및 예지보전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38720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스마트소프트웨어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학교생활 관리 웹서비스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시간표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출결 관리 서비스 개발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학교생활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학사정보 및 진로상담 </a:t>
                      </a:r>
                      <a:r>
                        <a:rPr lang="ko-KR" altLang="en-US" sz="1600" dirty="0" err="1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챗봇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구현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지역기업 업무자동화 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서비스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기업 민원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재고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고객관리 자동화 솔루션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108708"/>
                  </a:ext>
                </a:extLst>
              </a:tr>
              <a:tr h="917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뷰티미용과</a:t>
                      </a:r>
                      <a:endParaRPr kumimoji="0" lang="ko-KR" altLang="ko-K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600" dirty="0" err="1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뷰티샵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예약관리 시스템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예약 및 시술 이력 관리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뷰티 컨설턴트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피부타입 진단 및 화장품 추천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퍼스널 뷰티 추천 플랫폼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얼굴형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피부 분석 기반 헤어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메이크업 추천</a:t>
                      </a:r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90292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65D20D-EBC4-260E-E9B1-7A9813B2F8E1}"/>
              </a:ext>
            </a:extLst>
          </p:cNvPr>
          <p:cNvSpPr txBox="1"/>
          <p:nvPr/>
        </p:nvSpPr>
        <p:spPr>
          <a:xfrm>
            <a:off x="438150" y="6413427"/>
            <a:ext cx="1990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16626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8289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2105025"/>
            <a:ext cx="2806002" cy="1626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/>
        </p:nvGraphicFramePr>
        <p:xfrm>
          <a:off x="627062" y="1759744"/>
          <a:ext cx="10631488" cy="20116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73463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7058025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중심으로 전환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데이터 융합 교육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산업현장 맞춤형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역량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전공 지식과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584115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교육부문</a:t>
            </a:r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D5A9-C56E-63E5-B2BD-786EFB613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507766-4152-3DA9-7BBC-ADB92DD33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0" y="591324"/>
            <a:ext cx="830603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3200" dirty="0">
                <a:latin typeface="D2Coding" panose="020B0609020101020101" pitchFamily="49" charset="-127"/>
                <a:ea typeface="D2Coding" panose="020B0609020101020101" pitchFamily="49" charset="-127"/>
              </a:rPr>
              <a:t>경복대학교 </a:t>
            </a:r>
            <a:r>
              <a:rPr lang="en-US" altLang="ko-KR" sz="32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32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en-US" altLang="ko-KR" sz="32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Capstone Design</a:t>
            </a:r>
            <a:endParaRPr kumimoji="0" lang="en-US" altLang="ko-KR" sz="3200" i="0" u="none" strike="noStrike" cap="none" normalizeH="0" baseline="0" dirty="0">
              <a:ln>
                <a:noFill/>
              </a:ln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734ED-2621-5DED-140A-B165B868E48D}"/>
              </a:ext>
            </a:extLst>
          </p:cNvPr>
          <p:cNvSpPr txBox="1"/>
          <p:nvPr/>
        </p:nvSpPr>
        <p:spPr>
          <a:xfrm>
            <a:off x="1724025" y="2057400"/>
            <a:ext cx="7109639" cy="28057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한국어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음성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제스쳐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인식 제어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드론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자율주행 자동차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스마트 홈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얼굴인식 기반 출입 제어 시스템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IoT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낙상감지 시스템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Tutor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746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E8CDB-753A-7189-D9D1-6E6FC06D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2DFBF13-B55F-51EB-1704-C41285F4719E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829102-28E2-9C1F-3C97-AEFC2D4D9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CFB7FD-314E-FF53-30FA-2A6271E8A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8029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/>
              <a:t>는</a:t>
            </a:r>
            <a:r>
              <a:rPr lang="en-US" altLang="ko-KR" sz="2800" dirty="0"/>
              <a:t> </a:t>
            </a:r>
            <a:r>
              <a:rPr lang="ko-KR" altLang="en-US" sz="2800" dirty="0"/>
              <a:t>개인</a:t>
            </a:r>
            <a:r>
              <a:rPr lang="en-US" altLang="ko-KR" sz="2800" dirty="0"/>
              <a:t> </a:t>
            </a:r>
            <a:r>
              <a:rPr lang="ko-KR" altLang="en-US" sz="2800" dirty="0"/>
              <a:t>역량</a:t>
            </a:r>
            <a:r>
              <a:rPr lang="en-US" altLang="ko-KR" sz="2800" dirty="0"/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en-US" altLang="ko-KR" sz="2400" dirty="0"/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en-US" altLang="ko-KR" sz="2400" dirty="0"/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를 도구로 사용할 수 있는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79BB-8EB3-6290-B208-FC016EBA2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EC09E9C-9EFC-DD1C-1F96-3077A902CFAE}"/>
              </a:ext>
            </a:extLst>
          </p:cNvPr>
          <p:cNvSpPr/>
          <p:nvPr/>
        </p:nvSpPr>
        <p:spPr>
          <a:xfrm>
            <a:off x="1104900" y="28512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D1CB5B0-1731-7FDD-D7DD-90D77F1FCF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9D224B-95D8-D2D4-B6B4-F53AA52C04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862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9" y="679572"/>
            <a:ext cx="9781212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(Regularities,  Patterns)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(Regularities,  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5516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+mj-ea"/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Rules</a:t>
            </a:r>
            <a:endParaRPr lang="ko-KR" altLang="en-US" sz="2000" dirty="0">
              <a:latin typeface="+mj-ea"/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Data</a:t>
            </a:r>
            <a:endParaRPr lang="ko-KR" altLang="en-US" sz="2000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Answer</a:t>
            </a:r>
            <a:endParaRPr lang="ko-KR" altLang="en-US" sz="2000" dirty="0">
              <a:latin typeface="+mj-ea"/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5212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50901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47518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6210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Rules</a:t>
            </a:r>
            <a:endParaRPr lang="ko-KR" altLang="en-US" sz="2000" dirty="0"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2593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Answer</a:t>
            </a:r>
            <a:endParaRPr lang="ko-KR" altLang="en-US" sz="2000" dirty="0"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8768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Rules</a:t>
            </a:r>
            <a:endParaRPr lang="ko-KR" altLang="en-US" sz="20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4" grpId="0"/>
      <p:bldP spid="25" grpId="0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623" y="1461700"/>
            <a:ext cx="6169702" cy="4975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7DCCF53D-4218-0676-F2D7-8EE3EC269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653" y="2274888"/>
            <a:ext cx="6590347" cy="246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716E59A-2168-065A-1BF4-6C98A7F8E3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177290"/>
            <a:ext cx="6878657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41830"/>
            <a:ext cx="5613400" cy="4490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88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296333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395" y="1350237"/>
            <a:ext cx="2392925" cy="234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9" y="1348551"/>
            <a:ext cx="2702488" cy="2342495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24111" y="1642533"/>
            <a:ext cx="1058031" cy="9490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2889217" y="1346865"/>
            <a:ext cx="2382568" cy="29566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2889217" y="2591553"/>
            <a:ext cx="2392925" cy="109949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052949" y="3771056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by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66" y="12872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563" y="156053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4324" y="1744912"/>
            <a:ext cx="8861348" cy="4434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7E6080-2E7A-6B80-8E81-9576C0DCF3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004" y="2060314"/>
            <a:ext cx="10051055" cy="4159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FB35D5-F39B-0420-DDBF-3D0BBA54DF6A}"/>
              </a:ext>
            </a:extLst>
          </p:cNvPr>
          <p:cNvSpPr txBox="1"/>
          <p:nvPr/>
        </p:nvSpPr>
        <p:spPr>
          <a:xfrm>
            <a:off x="461669" y="638629"/>
            <a:ext cx="98908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:a16="http://schemas.microsoft.com/office/drawing/2014/main" id="{8C2C84FD-C1D9-0ACC-0134-397E44CB1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21441" y="2663838"/>
            <a:ext cx="5838697" cy="3284267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6" name="Picture 4" descr="Machine Learning Cats and Dogs Breeds Classifier | Towards Data Science">
            <a:extLst>
              <a:ext uri="{FF2B5EF4-FFF2-40B4-BE49-F238E27FC236}">
                <a16:creationId xmlns:a16="http://schemas.microsoft.com/office/drawing/2014/main" id="{BFE55E00-3B5D-72B5-E9DA-C9EAD9C40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66" y="2308837"/>
            <a:ext cx="4857750" cy="338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F671F7-053C-9681-1DF8-32B80E495B39}"/>
              </a:ext>
            </a:extLst>
          </p:cNvPr>
          <p:cNvSpPr txBox="1"/>
          <p:nvPr/>
        </p:nvSpPr>
        <p:spPr>
          <a:xfrm>
            <a:off x="461669" y="140631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spcAft>
                <a:spcPts val="750"/>
              </a:spcAft>
              <a:buNone/>
            </a:pPr>
            <a:r>
              <a:rPr lang="en-US" altLang="ko-KR" sz="2800" b="0" i="0" u="none" strike="noStrike" dirty="0">
                <a:effectLst/>
                <a:latin typeface="inheri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1045815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1428750" y="60102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3F8CE-3A3E-B05C-F0B0-05BA8F0A0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80F9DD-DC8F-A0C9-4B36-EA5D03EB1FB6}"/>
              </a:ext>
            </a:extLst>
          </p:cNvPr>
          <p:cNvSpPr/>
          <p:nvPr/>
        </p:nvSpPr>
        <p:spPr>
          <a:xfrm>
            <a:off x="1104900" y="34989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C543059-A1DF-61CE-2B8C-F5B33A7A2B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A01E2D-9099-EC3C-3683-D2094C91E9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0814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이전 단어들을 기반으로 다음 단어를 확률적으로 예측하여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이전 픽셀들을 기반으로 다음 </a:t>
            </a:r>
            <a:r>
              <a:rPr lang="ko-KR" altLang="en-US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픽셀를</a:t>
            </a:r>
            <a:r>
              <a:rPr lang="ko-KR" altLang="en-US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확률적으로 예측하여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56AF1-F8C9-8291-F0B2-96E71B84C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7250011-D450-6D2E-FA8A-A2C13497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8194" name="Picture 2" descr="글 내용">
            <a:extLst>
              <a:ext uri="{FF2B5EF4-FFF2-40B4-BE49-F238E27FC236}">
                <a16:creationId xmlns:a16="http://schemas.microsoft.com/office/drawing/2014/main" id="{0F3AB0BC-D160-0A6E-E2DD-556A5D759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52400"/>
            <a:ext cx="6935470" cy="655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076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63" y="219074"/>
            <a:ext cx="9205912" cy="6492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9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4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168" y="472685"/>
            <a:ext cx="10629571" cy="1181462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컴퓨터의 학습은 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Pattern Recognition(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패턴 인식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1043685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688177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77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374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3749204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204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8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15745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5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8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D4A5A6DF-637F-9EB9-0208-7DA17FB41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5470" y="2703842"/>
            <a:ext cx="3509264" cy="260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9460999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0999" y="5453688"/>
                <a:ext cx="262128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8698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1023598"/>
            <a:ext cx="9727744" cy="48108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9C88C-7C47-2D10-75EE-66FDB9AE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A93AD42-AECF-5143-57C1-6441628F8A52}"/>
              </a:ext>
            </a:extLst>
          </p:cNvPr>
          <p:cNvSpPr/>
          <p:nvPr/>
        </p:nvSpPr>
        <p:spPr>
          <a:xfrm>
            <a:off x="1104900" y="42133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81720D-CC00-D198-E6A6-46898C8A4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648243B-71A2-F1CD-46B5-7E8BDAE377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55126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8D171-A75B-1896-3A05-AD961E168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4C5A8F-53E3-1448-6255-D083B930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1D21-59E5-2096-DB0E-0448E7F788F1}"/>
              </a:ext>
            </a:extLst>
          </p:cNvPr>
          <p:cNvSpPr txBox="1"/>
          <p:nvPr/>
        </p:nvSpPr>
        <p:spPr>
          <a:xfrm>
            <a:off x="600802" y="1393200"/>
            <a:ext cx="10990395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는 일자리를 없애기도 하고 업무 내용과 직업 구조를 바꾸고 새로운 직업도 만들 가능성이 증가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반복적이고 규칙적인 업무는 자동화될 가능성이 높아짐 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직업 안에서도 일부 과업은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가 맡고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인간은 판단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소통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책임이 필요한 일에 더 집중하는 방식으로 변경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다루는 능력이 중요한 역량이 되면서 재교육과 숙련 고도화가 더 중요해질 전망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3415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13697-43DB-9F4F-38B4-DBFF0586A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C470CCA-3A31-E4DC-E8FA-9BB3541C2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7944D9-0762-7B01-45A8-54D01357E74B}"/>
              </a:ext>
            </a:extLst>
          </p:cNvPr>
          <p:cNvSpPr txBox="1"/>
          <p:nvPr/>
        </p:nvSpPr>
        <p:spPr>
          <a:xfrm>
            <a:off x="683529" y="679572"/>
            <a:ext cx="9669011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기반의 지식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육체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노동이 중심이고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사람의 손길이 많이 필요한 분야로 정형화된 업무 패턴이 반복되어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학습하기에 적합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AI</a:t>
            </a:r>
            <a:r>
              <a:rPr lang="ko-KR" altLang="en-US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역할이 커질 것으로 예상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B7F9C79-AA65-D203-C85B-C3FFFE9EB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425" y="1766888"/>
            <a:ext cx="8401050" cy="4715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8CC8A-03F7-B968-1CB5-4317AAAD65A6}"/>
              </a:ext>
            </a:extLst>
          </p:cNvPr>
          <p:cNvSpPr txBox="1"/>
          <p:nvPr/>
        </p:nvSpPr>
        <p:spPr>
          <a:xfrm>
            <a:off x="1400175" y="6482677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https://www.nanalyze.com/2017/05/artificial-intelligence-service-core-ai/</a:t>
            </a:r>
          </a:p>
        </p:txBody>
      </p:sp>
    </p:spTree>
    <p:extLst>
      <p:ext uri="{BB962C8B-B14F-4D97-AF65-F5344CB8AC3E}">
        <p14:creationId xmlns:p14="http://schemas.microsoft.com/office/powerpoint/2010/main" val="12794176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C30D0-C999-BD54-636A-85A0C63C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0D8D1AA-910B-F359-7D57-B8AF49885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0CE38CD-DCDF-D222-2214-8A5D1283AA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922864"/>
              </p:ext>
            </p:extLst>
          </p:nvPr>
        </p:nvGraphicFramePr>
        <p:xfrm>
          <a:off x="712803" y="1504808"/>
          <a:ext cx="10450497" cy="4781691"/>
        </p:xfrm>
        <a:graphic>
          <a:graphicData uri="http://schemas.openxmlformats.org/drawingml/2006/table">
            <a:tbl>
              <a:tblPr/>
              <a:tblGrid>
                <a:gridCol w="2592809">
                  <a:extLst>
                    <a:ext uri="{9D8B030D-6E8A-4147-A177-3AD203B41FA5}">
                      <a16:colId xmlns:a16="http://schemas.microsoft.com/office/drawing/2014/main" val="1493199083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497752382"/>
                    </a:ext>
                  </a:extLst>
                </a:gridCol>
                <a:gridCol w="7419538">
                  <a:extLst>
                    <a:ext uri="{9D8B030D-6E8A-4147-A177-3AD203B41FA5}">
                      <a16:colId xmlns:a16="http://schemas.microsoft.com/office/drawing/2014/main" val="696736181"/>
                    </a:ext>
                  </a:extLst>
                </a:gridCol>
              </a:tblGrid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ko-KR" altLang="en-US" sz="16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바뀌는 방향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23262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정보과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컴퓨터과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코딩만이 아니라 데이터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AI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현장 학습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자동화 도구 사용이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243731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회계과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세무과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 전표 입력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기초 정산은 줄고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예외 처리 비중이 커짐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5436120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디자인과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 시안 제작은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보조하고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창의적 기획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수정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브랜딩 역량이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51618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사무행정과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문서 작성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정리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일정 관리 같은 반복 업무가 크게 자동화됨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544447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조리과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외식과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레시피 개발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위생관리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재고 관리에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활용이 늘어남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300657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기계과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전기과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자동화과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설비 운영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예지보전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스마트팩토리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대응 역량이 중요해짐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876895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미용과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예약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홍보는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돕고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 응대와 감각은 사람 역할이 남음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064368"/>
                  </a:ext>
                </a:extLst>
              </a:tr>
              <a:tr h="53129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보건간호과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기록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안내 업무는 자동화되지만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돌봄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현장 대응은 여전히 중요함</a:t>
                      </a:r>
                    </a:p>
                  </a:txBody>
                  <a:tcPr marL="32151" marR="32151" marT="32151" marB="32151" anchor="ctr">
                    <a:lnL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808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0445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A5D6-84AD-BBCF-1B9D-F30A7CD3D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EB8781D-6B5F-EFE7-ECDF-1A48359108C7}"/>
              </a:ext>
            </a:extLst>
          </p:cNvPr>
          <p:cNvSpPr/>
          <p:nvPr/>
        </p:nvSpPr>
        <p:spPr>
          <a:xfrm>
            <a:off x="1104900" y="48705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B8D7F72-D8B5-DF48-CCED-E99449E68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837144-B2EB-1361-7E86-BD4C02FA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Literacy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Understanding Machine/Deep Learning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직업의</a:t>
            </a:r>
            <a:r>
              <a:rPr lang="en-US" altLang="ko-KR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교육의 변화</a:t>
            </a:r>
            <a:endParaRPr lang="en-US" altLang="ko-KR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2400" cap="none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1128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EFB76-A769-EBD0-CDC3-D96A24A61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E4CE0A7-92F0-A13E-EAB1-4A70126D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79D5AA-51D8-E627-0838-1A646DDE25AC}"/>
              </a:ext>
            </a:extLst>
          </p:cNvPr>
          <p:cNvSpPr txBox="1"/>
          <p:nvPr/>
        </p:nvSpPr>
        <p:spPr>
          <a:xfrm>
            <a:off x="1521729" y="2251197"/>
            <a:ext cx="8346172" cy="149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교사인 나는 학생들에게 무엇을 어떻게 가르쳐야 하지</a:t>
            </a:r>
            <a:r>
              <a:rPr lang="en-US" altLang="ko-KR" sz="3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3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 descr="바위 위에 앉아있는 남자의 동상">
            <a:extLst>
              <a:ext uri="{FF2B5EF4-FFF2-40B4-BE49-F238E27FC236}">
                <a16:creationId xmlns:a16="http://schemas.microsoft.com/office/drawing/2014/main" id="{F9C4A744-F907-686C-7C15-E10E1832C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3700" y="2533650"/>
            <a:ext cx="2518093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7747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BC28-E343-3EC9-71CA-AB663FCF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A8C696-895D-C6E6-C9DA-9817BB98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0D118D-6E80-4688-6D49-D2D08A8D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지름이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원이 존재하며 그 둘레를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한다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정리를 이용한 두 점사이의 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(L2)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이외 어떠한 수학공식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함수는 사용하지 않고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원주율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제시하고 토론하라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B11978B-6E15-7CB6-94B3-05A4B5D0B4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09579038-E13D-D991-40D1-55EA84023D52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B6EF399-39DC-FDA3-9D9A-860347DEA39F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76968DB-6CB1-FCCB-4542-56E86B63398F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752005EC-171E-A258-B6A3-337E6C4D4009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0B46FFD-A1C4-3EF1-AA5F-BA30250E559F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D498B4-E8BE-C00F-62B5-AD3BC19E47AF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8653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990599" y="1344971"/>
            <a:ext cx="6619875" cy="448648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 =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r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y1 = (r**2 - x**2)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(r**2 -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피타고라스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 거리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 ** 0.5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π ≈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4 / (2 * r):.10f}")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77150" y="1344971"/>
            <a:ext cx="4273607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7FDEB-CDDB-D0A9-2A5B-3FFD965F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436641B-9AE8-519F-D7B0-96174191A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94030CA-C024-2A23-DD02-E8ED5196A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723" y="2030475"/>
            <a:ext cx="6305501" cy="34845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12D4ED3-C7F5-B87F-9AA4-5D7357158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57" y="2030475"/>
            <a:ext cx="5351493" cy="41967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024A35-FAB5-9493-A5DE-13A88C9BD303}"/>
              </a:ext>
            </a:extLst>
          </p:cNvPr>
          <p:cNvSpPr txBox="1"/>
          <p:nvPr/>
        </p:nvSpPr>
        <p:spPr>
          <a:xfrm>
            <a:off x="258780" y="1501566"/>
            <a:ext cx="3008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</a:t>
            </a:r>
            <a:r>
              <a:rPr lang="ko-KR" altLang="en-US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Requirement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3F3B2A-853C-F45E-E8C3-E8ED3B2ABB4E}"/>
              </a:ext>
            </a:extLst>
          </p:cNvPr>
          <p:cNvSpPr txBox="1"/>
          <p:nvPr/>
        </p:nvSpPr>
        <p:spPr>
          <a:xfrm>
            <a:off x="5781723" y="1501566"/>
            <a:ext cx="3008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Service Application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9ADA5CC5-279D-64A4-5147-45F390EE3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Portfiolio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E3B3374-0C4F-409F-8BF3-E9F74C2991EC}"/>
              </a:ext>
            </a:extLst>
          </p:cNvPr>
          <p:cNvCxnSpPr/>
          <p:nvPr/>
        </p:nvCxnSpPr>
        <p:spPr>
          <a:xfrm>
            <a:off x="3686175" y="1676400"/>
            <a:ext cx="13430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22400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B4E89-EF77-7510-7897-50C008AF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9049AF-BF23-FF40-760F-AC7A2EE85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8F925-BA02-81C1-9AD3-DA6D6A6181E3}"/>
              </a:ext>
            </a:extLst>
          </p:cNvPr>
          <p:cNvSpPr txBox="1"/>
          <p:nvPr/>
        </p:nvSpPr>
        <p:spPr>
          <a:xfrm>
            <a:off x="781050" y="890660"/>
            <a:ext cx="106299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28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학교 교육의 변화</a:t>
            </a: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l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실습형 수업보다 프로젝트형 수업이 증가</a:t>
            </a: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자격증 준비만 하는 방식에서 포트폴리오 중심으로 변환</a:t>
            </a: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AI</a:t>
            </a:r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배우는 과목이 아니라</a:t>
            </a:r>
            <a:r>
              <a:rPr lang="en-US" altLang="ko-KR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전공 도구로 쓰는 방식이 중요</a:t>
            </a: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20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학생들은 졸업 전에 실제 산업 문제를 다뤄보는 경험이 더 중요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화살표: 줄무늬가 있는 오른쪽 5">
            <a:extLst>
              <a:ext uri="{FF2B5EF4-FFF2-40B4-BE49-F238E27FC236}">
                <a16:creationId xmlns:a16="http://schemas.microsoft.com/office/drawing/2014/main" id="{0EB16B75-718F-9431-616D-6F7B9BF7801C}"/>
              </a:ext>
            </a:extLst>
          </p:cNvPr>
          <p:cNvSpPr/>
          <p:nvPr/>
        </p:nvSpPr>
        <p:spPr>
          <a:xfrm>
            <a:off x="1762125" y="4696790"/>
            <a:ext cx="8210550" cy="1562100"/>
          </a:xfrm>
          <a:prstGeom prst="stripedRightArrow">
            <a:avLst>
              <a:gd name="adj1" fmla="val 63415"/>
              <a:gd name="adj2" fmla="val 50000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기술을 배우는 방식에서 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기술과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써서 문제를 해결</a:t>
            </a:r>
          </a:p>
        </p:txBody>
      </p:sp>
    </p:spTree>
    <p:extLst>
      <p:ext uri="{BB962C8B-B14F-4D97-AF65-F5344CB8AC3E}">
        <p14:creationId xmlns:p14="http://schemas.microsoft.com/office/powerpoint/2010/main" val="684637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A04A5-BCF3-8347-3622-2641BE16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4A4577-AF6B-332A-F645-68C86CE7F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8D8B4C-B4E9-CC4D-4B95-DB14FD08EF2D}"/>
              </a:ext>
            </a:extLst>
          </p:cNvPr>
          <p:cNvSpPr/>
          <p:nvPr/>
        </p:nvSpPr>
        <p:spPr>
          <a:xfrm>
            <a:off x="971550" y="1399464"/>
            <a:ext cx="3324225" cy="2476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Issue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Requirement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0CDE-22FA-198B-43A5-1B5E872296DE}"/>
              </a:ext>
            </a:extLst>
          </p:cNvPr>
          <p:cNvSpPr txBox="1"/>
          <p:nvPr/>
        </p:nvSpPr>
        <p:spPr>
          <a:xfrm>
            <a:off x="6838950" y="2465535"/>
            <a:ext cx="36004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해결하는 역량</a:t>
            </a:r>
            <a:endParaRPr lang="ko-KR" altLang="en-US" sz="280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6D3B800-91B0-519E-617A-820186D0C974}"/>
              </a:ext>
            </a:extLst>
          </p:cNvPr>
          <p:cNvCxnSpPr/>
          <p:nvPr/>
        </p:nvCxnSpPr>
        <p:spPr>
          <a:xfrm>
            <a:off x="5286375" y="2696367"/>
            <a:ext cx="80962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E9C5CD-546F-53B1-0E0B-7C97C5E6C37E}"/>
              </a:ext>
            </a:extLst>
          </p:cNvPr>
          <p:cNvSpPr txBox="1"/>
          <p:nvPr/>
        </p:nvSpPr>
        <p:spPr>
          <a:xfrm>
            <a:off x="7177741" y="3283829"/>
            <a:ext cx="4309409" cy="142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정의하는 능력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활용하는 능력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결과를 검토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수정하는 능력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068293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5213F-0970-37DE-62E2-ABBCC9939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174E62-742B-79B5-0C35-A4B169C4C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559AA-28E0-92E4-F316-01189E8E8A4A}"/>
              </a:ext>
            </a:extLst>
          </p:cNvPr>
          <p:cNvSpPr txBox="1"/>
          <p:nvPr/>
        </p:nvSpPr>
        <p:spPr>
          <a:xfrm>
            <a:off x="569228" y="812922"/>
            <a:ext cx="10621511" cy="1850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기초 이론 교육 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선형대수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통계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자료구조론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데이터베이스 구조 등 기초 교육을 강화하여 생각할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수있는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역량을 키워야 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AFC958-BABD-B9A9-930A-B601D8F75BE5}"/>
              </a:ext>
            </a:extLst>
          </p:cNvPr>
          <p:cNvSpPr txBox="1"/>
          <p:nvPr/>
        </p:nvSpPr>
        <p:spPr>
          <a:xfrm>
            <a:off x="569227" y="3040601"/>
            <a:ext cx="10621511" cy="268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탑다운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(Top-Down)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방식으로의 전환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방식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(Bottom-Up):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기초 문법이나 이론부터 차근차근 배워서 문제를 푸는 방식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방식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(Top-Down):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이제는 ‘해결해야 할 문제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그림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정의하고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이를 해결하기 위해 거꾸로 세부적인 내용을 파고드는 방식이 필요</a:t>
            </a:r>
          </a:p>
        </p:txBody>
      </p:sp>
    </p:spTree>
    <p:extLst>
      <p:ext uri="{BB962C8B-B14F-4D97-AF65-F5344CB8AC3E}">
        <p14:creationId xmlns:p14="http://schemas.microsoft.com/office/powerpoint/2010/main" val="34420475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0144B-11B1-5727-DE61-A49F2B51A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0F5225-70BC-C91D-B5E2-7FCF801AC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B21698-6850-899C-67AF-369F9BA02093}"/>
              </a:ext>
            </a:extLst>
          </p:cNvPr>
          <p:cNvSpPr txBox="1"/>
          <p:nvPr/>
        </p:nvSpPr>
        <p:spPr>
          <a:xfrm>
            <a:off x="569228" y="812922"/>
            <a:ext cx="11241772" cy="392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의 역할 변화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해답지’가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아닌 ‘드릴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(Drill)’-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과거처럼 교수나 강사에게 의존할 필요가 없어졌음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단순히 답을 달라고 요청하는 것에 그치지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끊임없이 세분화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(Drill down)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질문하는 과정을 통해 전체 프로세스를 스스로 이해해 나가는 것</a:t>
            </a:r>
          </a:p>
        </p:txBody>
      </p:sp>
    </p:spTree>
    <p:extLst>
      <p:ext uri="{BB962C8B-B14F-4D97-AF65-F5344CB8AC3E}">
        <p14:creationId xmlns:p14="http://schemas.microsoft.com/office/powerpoint/2010/main" val="567569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6147</TotalTime>
  <Words>1697</Words>
  <Application>Microsoft Office PowerPoint</Application>
  <PresentationFormat>와이드스크린</PresentationFormat>
  <Paragraphs>298</Paragraphs>
  <Slides>45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60" baseType="lpstr">
      <vt:lpstr>D2Coding</vt:lpstr>
      <vt:lpstr>Helvetica Neue</vt:lpstr>
      <vt:lpstr>inherit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역량강화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How to classify ?</vt:lpstr>
      <vt:lpstr>Supervised Learning </vt:lpstr>
      <vt:lpstr>Unsupervised Learning 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Problem</vt:lpstr>
      <vt:lpstr>Solving</vt:lpstr>
      <vt:lpstr>Portfiolio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90</cp:revision>
  <dcterms:created xsi:type="dcterms:W3CDTF">2026-04-11T22:24:40Z</dcterms:created>
  <dcterms:modified xsi:type="dcterms:W3CDTF">2026-06-23T12:23:44Z</dcterms:modified>
</cp:coreProperties>
</file>